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49" autoAdjust="0"/>
    <p:restoredTop sz="94610"/>
  </p:normalViewPr>
  <p:slideViewPr>
    <p:cSldViewPr snapToGrid="0" snapToObjects="1">
      <p:cViewPr>
        <p:scale>
          <a:sx n="43" d="100"/>
          <a:sy n="43" d="100"/>
        </p:scale>
        <p:origin x="248" y="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JOEL DAVID" userId="bf1e82e72abb76b3" providerId="LiveId" clId="{EA8997C4-E894-4F92-B41A-501CB90259CD}"/>
    <pc:docChg chg="undo custSel modSld">
      <pc:chgData name="AKASH JOEL DAVID" userId="bf1e82e72abb76b3" providerId="LiveId" clId="{EA8997C4-E894-4F92-B41A-501CB90259CD}" dt="2026-04-21T00:07:51.640" v="14" actId="1076"/>
      <pc:docMkLst>
        <pc:docMk/>
      </pc:docMkLst>
      <pc:sldChg chg="modSp mod">
        <pc:chgData name="AKASH JOEL DAVID" userId="bf1e82e72abb76b3" providerId="LiveId" clId="{EA8997C4-E894-4F92-B41A-501CB90259CD}" dt="2026-04-21T00:07:51.640" v="14" actId="1076"/>
        <pc:sldMkLst>
          <pc:docMk/>
          <pc:sldMk cId="0" sldId="266"/>
        </pc:sldMkLst>
        <pc:spChg chg="mod">
          <ac:chgData name="AKASH JOEL DAVID" userId="bf1e82e72abb76b3" providerId="LiveId" clId="{EA8997C4-E894-4F92-B41A-501CB90259CD}" dt="2026-04-21T00:07:40.291" v="12" actId="1076"/>
          <ac:spMkLst>
            <pc:docMk/>
            <pc:sldMk cId="0" sldId="266"/>
            <ac:spMk id="59" creationId="{00000000-0000-0000-0000-000000000000}"/>
          </ac:spMkLst>
        </pc:spChg>
        <pc:spChg chg="mod">
          <ac:chgData name="AKASH JOEL DAVID" userId="bf1e82e72abb76b3" providerId="LiveId" clId="{EA8997C4-E894-4F92-B41A-501CB90259CD}" dt="2026-04-21T00:07:51.640" v="14" actId="1076"/>
          <ac:spMkLst>
            <pc:docMk/>
            <pc:sldMk cId="0" sldId="266"/>
            <ac:spMk id="61" creationId="{00000000-0000-0000-0000-000000000000}"/>
          </ac:spMkLst>
        </pc:spChg>
        <pc:picChg chg="mod">
          <ac:chgData name="AKASH JOEL DAVID" userId="bf1e82e72abb76b3" providerId="LiveId" clId="{EA8997C4-E894-4F92-B41A-501CB90259CD}" dt="2026-04-21T00:07:46.695" v="13" actId="1076"/>
          <ac:picMkLst>
            <pc:docMk/>
            <pc:sldMk cId="0" sldId="266"/>
            <ac:picMk id="6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1852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C8102E"/>
          </a:solidFill>
          <a:ln w="12700">
            <a:solidFill>
              <a:srgbClr val="C8102E"/>
            </a:solidFill>
            <a:prstDash val="solid"/>
          </a:ln>
        </p:spPr>
        <p:txBody>
          <a:bodyPr/>
          <a:lstStyle/>
          <a:p>
            <a:endParaRPr lang="en-AU"/>
          </a:p>
        </p:txBody>
      </p:sp>
      <p:sp>
        <p:nvSpPr>
          <p:cNvPr id="3" name="Shape 1"/>
          <p:cNvSpPr/>
          <p:nvPr/>
        </p:nvSpPr>
        <p:spPr>
          <a:xfrm>
            <a:off x="0" y="0"/>
            <a:ext cx="384048" cy="5143500"/>
          </a:xfrm>
          <a:prstGeom prst="rect">
            <a:avLst/>
          </a:prstGeom>
          <a:solidFill>
            <a:srgbClr val="8B0B1E"/>
          </a:solidFill>
          <a:ln w="12700">
            <a:solidFill>
              <a:srgbClr val="8B0B1E"/>
            </a:solidFill>
            <a:prstDash val="solid"/>
          </a:ln>
        </p:spPr>
        <p:txBody>
          <a:bodyPr/>
          <a:lstStyle/>
          <a:p>
            <a:endParaRPr lang="en-AU"/>
          </a:p>
        </p:txBody>
      </p:sp>
      <p:sp>
        <p:nvSpPr>
          <p:cNvPr id="4" name="Shape 2"/>
          <p:cNvSpPr/>
          <p:nvPr/>
        </p:nvSpPr>
        <p:spPr>
          <a:xfrm>
            <a:off x="50292" y="91440"/>
            <a:ext cx="118872" cy="164592"/>
          </a:xfrm>
          <a:prstGeom prst="rect">
            <a:avLst/>
          </a:prstGeom>
          <a:solidFill>
            <a:srgbClr val="C8102E"/>
          </a:solidFill>
          <a:ln w="12700">
            <a:solidFill>
              <a:srgbClr val="C8102E"/>
            </a:solidFill>
            <a:prstDash val="solid"/>
          </a:ln>
        </p:spPr>
        <p:txBody>
          <a:bodyPr/>
          <a:lstStyle/>
          <a:p>
            <a:endParaRPr lang="en-AU"/>
          </a:p>
        </p:txBody>
      </p:sp>
      <p:sp>
        <p:nvSpPr>
          <p:cNvPr id="5" name="Shape 3"/>
          <p:cNvSpPr/>
          <p:nvPr/>
        </p:nvSpPr>
        <p:spPr>
          <a:xfrm>
            <a:off x="214884" y="91440"/>
            <a:ext cx="118872" cy="164592"/>
          </a:xfrm>
          <a:prstGeom prst="rect">
            <a:avLst/>
          </a:prstGeom>
          <a:solidFill>
            <a:srgbClr val="C8102E"/>
          </a:solidFill>
          <a:ln w="12700">
            <a:solidFill>
              <a:srgbClr val="C8102E"/>
            </a:solidFill>
            <a:prstDash val="solid"/>
          </a:ln>
        </p:spPr>
        <p:txBody>
          <a:bodyPr/>
          <a:lstStyle/>
          <a:p>
            <a:endParaRPr lang="en-AU"/>
          </a:p>
        </p:txBody>
      </p:sp>
      <p:sp>
        <p:nvSpPr>
          <p:cNvPr id="6" name="Shape 4"/>
          <p:cNvSpPr/>
          <p:nvPr/>
        </p:nvSpPr>
        <p:spPr>
          <a:xfrm>
            <a:off x="50292" y="365760"/>
            <a:ext cx="118872" cy="164592"/>
          </a:xfrm>
          <a:prstGeom prst="rect">
            <a:avLst/>
          </a:prstGeom>
          <a:solidFill>
            <a:srgbClr val="C8102E"/>
          </a:solidFill>
          <a:ln w="12700">
            <a:solidFill>
              <a:srgbClr val="C8102E"/>
            </a:solidFill>
            <a:prstDash val="solid"/>
          </a:ln>
        </p:spPr>
        <p:txBody>
          <a:bodyPr/>
          <a:lstStyle/>
          <a:p>
            <a:endParaRPr lang="en-AU"/>
          </a:p>
        </p:txBody>
      </p:sp>
      <p:sp>
        <p:nvSpPr>
          <p:cNvPr id="7" name="Shape 5"/>
          <p:cNvSpPr/>
          <p:nvPr/>
        </p:nvSpPr>
        <p:spPr>
          <a:xfrm>
            <a:off x="214884" y="365760"/>
            <a:ext cx="118872" cy="164592"/>
          </a:xfrm>
          <a:prstGeom prst="rect">
            <a:avLst/>
          </a:prstGeom>
          <a:solidFill>
            <a:srgbClr val="C8102E"/>
          </a:solidFill>
          <a:ln w="12700">
            <a:solidFill>
              <a:srgbClr val="C8102E"/>
            </a:solidFill>
            <a:prstDash val="solid"/>
          </a:ln>
        </p:spPr>
        <p:txBody>
          <a:bodyPr/>
          <a:lstStyle/>
          <a:p>
            <a:endParaRPr lang="en-AU"/>
          </a:p>
        </p:txBody>
      </p:sp>
      <p:sp>
        <p:nvSpPr>
          <p:cNvPr id="8" name="Shape 6"/>
          <p:cNvSpPr/>
          <p:nvPr/>
        </p:nvSpPr>
        <p:spPr>
          <a:xfrm>
            <a:off x="50292" y="640080"/>
            <a:ext cx="118872" cy="164592"/>
          </a:xfrm>
          <a:prstGeom prst="rect">
            <a:avLst/>
          </a:prstGeom>
          <a:solidFill>
            <a:srgbClr val="C8102E"/>
          </a:solidFill>
          <a:ln w="12700">
            <a:solidFill>
              <a:srgbClr val="C8102E"/>
            </a:solidFill>
            <a:prstDash val="solid"/>
          </a:ln>
        </p:spPr>
        <p:txBody>
          <a:bodyPr/>
          <a:lstStyle/>
          <a:p>
            <a:endParaRPr lang="en-AU"/>
          </a:p>
        </p:txBody>
      </p:sp>
      <p:sp>
        <p:nvSpPr>
          <p:cNvPr id="9" name="Shape 7"/>
          <p:cNvSpPr/>
          <p:nvPr/>
        </p:nvSpPr>
        <p:spPr>
          <a:xfrm>
            <a:off x="214884" y="640080"/>
            <a:ext cx="118872" cy="164592"/>
          </a:xfrm>
          <a:prstGeom prst="rect">
            <a:avLst/>
          </a:prstGeom>
          <a:solidFill>
            <a:srgbClr val="C8102E"/>
          </a:solidFill>
          <a:ln w="12700">
            <a:solidFill>
              <a:srgbClr val="C8102E"/>
            </a:solidFill>
            <a:prstDash val="solid"/>
          </a:ln>
        </p:spPr>
        <p:txBody>
          <a:bodyPr/>
          <a:lstStyle/>
          <a:p>
            <a:endParaRPr lang="en-AU"/>
          </a:p>
        </p:txBody>
      </p:sp>
      <p:sp>
        <p:nvSpPr>
          <p:cNvPr id="10" name="Shape 8"/>
          <p:cNvSpPr/>
          <p:nvPr/>
        </p:nvSpPr>
        <p:spPr>
          <a:xfrm>
            <a:off x="50292" y="914400"/>
            <a:ext cx="118872" cy="164592"/>
          </a:xfrm>
          <a:prstGeom prst="rect">
            <a:avLst/>
          </a:prstGeom>
          <a:solidFill>
            <a:srgbClr val="C8102E"/>
          </a:solidFill>
          <a:ln w="12700">
            <a:solidFill>
              <a:srgbClr val="C8102E"/>
            </a:solidFill>
            <a:prstDash val="solid"/>
          </a:ln>
        </p:spPr>
        <p:txBody>
          <a:bodyPr/>
          <a:lstStyle/>
          <a:p>
            <a:endParaRPr lang="en-AU"/>
          </a:p>
        </p:txBody>
      </p:sp>
      <p:sp>
        <p:nvSpPr>
          <p:cNvPr id="11" name="Shape 9"/>
          <p:cNvSpPr/>
          <p:nvPr/>
        </p:nvSpPr>
        <p:spPr>
          <a:xfrm>
            <a:off x="214884" y="914400"/>
            <a:ext cx="118872" cy="164592"/>
          </a:xfrm>
          <a:prstGeom prst="rect">
            <a:avLst/>
          </a:prstGeom>
          <a:solidFill>
            <a:srgbClr val="C8102E"/>
          </a:solidFill>
          <a:ln w="12700">
            <a:solidFill>
              <a:srgbClr val="C8102E"/>
            </a:solidFill>
            <a:prstDash val="solid"/>
          </a:ln>
        </p:spPr>
        <p:txBody>
          <a:bodyPr/>
          <a:lstStyle/>
          <a:p>
            <a:endParaRPr lang="en-AU"/>
          </a:p>
        </p:txBody>
      </p:sp>
      <p:sp>
        <p:nvSpPr>
          <p:cNvPr id="12" name="Shape 10"/>
          <p:cNvSpPr/>
          <p:nvPr/>
        </p:nvSpPr>
        <p:spPr>
          <a:xfrm>
            <a:off x="50292" y="1188720"/>
            <a:ext cx="118872" cy="164592"/>
          </a:xfrm>
          <a:prstGeom prst="rect">
            <a:avLst/>
          </a:prstGeom>
          <a:solidFill>
            <a:srgbClr val="C8102E"/>
          </a:solidFill>
          <a:ln w="12700">
            <a:solidFill>
              <a:srgbClr val="C8102E"/>
            </a:solidFill>
            <a:prstDash val="solid"/>
          </a:ln>
        </p:spPr>
        <p:txBody>
          <a:bodyPr/>
          <a:lstStyle/>
          <a:p>
            <a:endParaRPr lang="en-AU"/>
          </a:p>
        </p:txBody>
      </p:sp>
      <p:sp>
        <p:nvSpPr>
          <p:cNvPr id="13" name="Shape 11"/>
          <p:cNvSpPr/>
          <p:nvPr/>
        </p:nvSpPr>
        <p:spPr>
          <a:xfrm>
            <a:off x="214884" y="1188720"/>
            <a:ext cx="118872" cy="164592"/>
          </a:xfrm>
          <a:prstGeom prst="rect">
            <a:avLst/>
          </a:prstGeom>
          <a:solidFill>
            <a:srgbClr val="C8102E"/>
          </a:solidFill>
          <a:ln w="12700">
            <a:solidFill>
              <a:srgbClr val="C8102E"/>
            </a:solidFill>
            <a:prstDash val="solid"/>
          </a:ln>
        </p:spPr>
        <p:txBody>
          <a:bodyPr/>
          <a:lstStyle/>
          <a:p>
            <a:endParaRPr lang="en-AU"/>
          </a:p>
        </p:txBody>
      </p:sp>
      <p:sp>
        <p:nvSpPr>
          <p:cNvPr id="14" name="Shape 12"/>
          <p:cNvSpPr/>
          <p:nvPr/>
        </p:nvSpPr>
        <p:spPr>
          <a:xfrm>
            <a:off x="50292" y="1463040"/>
            <a:ext cx="118872" cy="164592"/>
          </a:xfrm>
          <a:prstGeom prst="rect">
            <a:avLst/>
          </a:prstGeom>
          <a:solidFill>
            <a:srgbClr val="C8102E"/>
          </a:solidFill>
          <a:ln w="12700">
            <a:solidFill>
              <a:srgbClr val="C8102E"/>
            </a:solidFill>
            <a:prstDash val="solid"/>
          </a:ln>
        </p:spPr>
        <p:txBody>
          <a:bodyPr/>
          <a:lstStyle/>
          <a:p>
            <a:endParaRPr lang="en-AU"/>
          </a:p>
        </p:txBody>
      </p:sp>
      <p:sp>
        <p:nvSpPr>
          <p:cNvPr id="15" name="Shape 13"/>
          <p:cNvSpPr/>
          <p:nvPr/>
        </p:nvSpPr>
        <p:spPr>
          <a:xfrm>
            <a:off x="214884" y="1463040"/>
            <a:ext cx="118872" cy="164592"/>
          </a:xfrm>
          <a:prstGeom prst="rect">
            <a:avLst/>
          </a:prstGeom>
          <a:solidFill>
            <a:srgbClr val="C8102E"/>
          </a:solidFill>
          <a:ln w="12700">
            <a:solidFill>
              <a:srgbClr val="C8102E"/>
            </a:solidFill>
            <a:prstDash val="solid"/>
          </a:ln>
        </p:spPr>
        <p:txBody>
          <a:bodyPr/>
          <a:lstStyle/>
          <a:p>
            <a:endParaRPr lang="en-AU"/>
          </a:p>
        </p:txBody>
      </p:sp>
      <p:sp>
        <p:nvSpPr>
          <p:cNvPr id="16" name="Shape 14"/>
          <p:cNvSpPr/>
          <p:nvPr/>
        </p:nvSpPr>
        <p:spPr>
          <a:xfrm>
            <a:off x="50292" y="1737360"/>
            <a:ext cx="118872" cy="164592"/>
          </a:xfrm>
          <a:prstGeom prst="rect">
            <a:avLst/>
          </a:prstGeom>
          <a:solidFill>
            <a:srgbClr val="C8102E"/>
          </a:solidFill>
          <a:ln w="12700">
            <a:solidFill>
              <a:srgbClr val="C8102E"/>
            </a:solidFill>
            <a:prstDash val="solid"/>
          </a:ln>
        </p:spPr>
        <p:txBody>
          <a:bodyPr/>
          <a:lstStyle/>
          <a:p>
            <a:endParaRPr lang="en-AU"/>
          </a:p>
        </p:txBody>
      </p:sp>
      <p:sp>
        <p:nvSpPr>
          <p:cNvPr id="17" name="Shape 15"/>
          <p:cNvSpPr/>
          <p:nvPr/>
        </p:nvSpPr>
        <p:spPr>
          <a:xfrm>
            <a:off x="214884" y="1737360"/>
            <a:ext cx="118872" cy="164592"/>
          </a:xfrm>
          <a:prstGeom prst="rect">
            <a:avLst/>
          </a:prstGeom>
          <a:solidFill>
            <a:srgbClr val="C8102E"/>
          </a:solidFill>
          <a:ln w="12700">
            <a:solidFill>
              <a:srgbClr val="C8102E"/>
            </a:solidFill>
            <a:prstDash val="solid"/>
          </a:ln>
        </p:spPr>
        <p:txBody>
          <a:bodyPr/>
          <a:lstStyle/>
          <a:p>
            <a:endParaRPr lang="en-AU"/>
          </a:p>
        </p:txBody>
      </p:sp>
      <p:sp>
        <p:nvSpPr>
          <p:cNvPr id="18" name="Shape 16"/>
          <p:cNvSpPr/>
          <p:nvPr/>
        </p:nvSpPr>
        <p:spPr>
          <a:xfrm>
            <a:off x="50292" y="2011680"/>
            <a:ext cx="118872" cy="164592"/>
          </a:xfrm>
          <a:prstGeom prst="rect">
            <a:avLst/>
          </a:prstGeom>
          <a:solidFill>
            <a:srgbClr val="C8102E"/>
          </a:solidFill>
          <a:ln w="12700">
            <a:solidFill>
              <a:srgbClr val="C8102E"/>
            </a:solidFill>
            <a:prstDash val="solid"/>
          </a:ln>
        </p:spPr>
        <p:txBody>
          <a:bodyPr/>
          <a:lstStyle/>
          <a:p>
            <a:endParaRPr lang="en-AU"/>
          </a:p>
        </p:txBody>
      </p:sp>
      <p:sp>
        <p:nvSpPr>
          <p:cNvPr id="19" name="Shape 17"/>
          <p:cNvSpPr/>
          <p:nvPr/>
        </p:nvSpPr>
        <p:spPr>
          <a:xfrm>
            <a:off x="214884" y="2011680"/>
            <a:ext cx="118872" cy="164592"/>
          </a:xfrm>
          <a:prstGeom prst="rect">
            <a:avLst/>
          </a:prstGeom>
          <a:solidFill>
            <a:srgbClr val="C8102E"/>
          </a:solidFill>
          <a:ln w="12700">
            <a:solidFill>
              <a:srgbClr val="C8102E"/>
            </a:solidFill>
            <a:prstDash val="solid"/>
          </a:ln>
        </p:spPr>
        <p:txBody>
          <a:bodyPr/>
          <a:lstStyle/>
          <a:p>
            <a:endParaRPr lang="en-AU"/>
          </a:p>
        </p:txBody>
      </p:sp>
      <p:sp>
        <p:nvSpPr>
          <p:cNvPr id="20" name="Shape 18"/>
          <p:cNvSpPr/>
          <p:nvPr/>
        </p:nvSpPr>
        <p:spPr>
          <a:xfrm>
            <a:off x="50292" y="2286000"/>
            <a:ext cx="118872" cy="164592"/>
          </a:xfrm>
          <a:prstGeom prst="rect">
            <a:avLst/>
          </a:prstGeom>
          <a:solidFill>
            <a:srgbClr val="C8102E"/>
          </a:solidFill>
          <a:ln w="12700">
            <a:solidFill>
              <a:srgbClr val="C8102E"/>
            </a:solidFill>
            <a:prstDash val="solid"/>
          </a:ln>
        </p:spPr>
        <p:txBody>
          <a:bodyPr/>
          <a:lstStyle/>
          <a:p>
            <a:endParaRPr lang="en-AU"/>
          </a:p>
        </p:txBody>
      </p:sp>
      <p:sp>
        <p:nvSpPr>
          <p:cNvPr id="21" name="Shape 19"/>
          <p:cNvSpPr/>
          <p:nvPr/>
        </p:nvSpPr>
        <p:spPr>
          <a:xfrm>
            <a:off x="214884" y="2286000"/>
            <a:ext cx="118872" cy="164592"/>
          </a:xfrm>
          <a:prstGeom prst="rect">
            <a:avLst/>
          </a:prstGeom>
          <a:solidFill>
            <a:srgbClr val="C8102E"/>
          </a:solidFill>
          <a:ln w="12700">
            <a:solidFill>
              <a:srgbClr val="C8102E"/>
            </a:solidFill>
            <a:prstDash val="solid"/>
          </a:ln>
        </p:spPr>
        <p:txBody>
          <a:bodyPr/>
          <a:lstStyle/>
          <a:p>
            <a:endParaRPr lang="en-AU"/>
          </a:p>
        </p:txBody>
      </p:sp>
      <p:sp>
        <p:nvSpPr>
          <p:cNvPr id="22" name="Shape 20"/>
          <p:cNvSpPr/>
          <p:nvPr/>
        </p:nvSpPr>
        <p:spPr>
          <a:xfrm>
            <a:off x="50292" y="2560320"/>
            <a:ext cx="118872" cy="164592"/>
          </a:xfrm>
          <a:prstGeom prst="rect">
            <a:avLst/>
          </a:prstGeom>
          <a:solidFill>
            <a:srgbClr val="C8102E"/>
          </a:solidFill>
          <a:ln w="12700">
            <a:solidFill>
              <a:srgbClr val="C8102E"/>
            </a:solidFill>
            <a:prstDash val="solid"/>
          </a:ln>
        </p:spPr>
        <p:txBody>
          <a:bodyPr/>
          <a:lstStyle/>
          <a:p>
            <a:endParaRPr lang="en-AU"/>
          </a:p>
        </p:txBody>
      </p:sp>
      <p:sp>
        <p:nvSpPr>
          <p:cNvPr id="23" name="Shape 21"/>
          <p:cNvSpPr/>
          <p:nvPr/>
        </p:nvSpPr>
        <p:spPr>
          <a:xfrm>
            <a:off x="214884" y="2560320"/>
            <a:ext cx="118872" cy="164592"/>
          </a:xfrm>
          <a:prstGeom prst="rect">
            <a:avLst/>
          </a:prstGeom>
          <a:solidFill>
            <a:srgbClr val="C8102E"/>
          </a:solidFill>
          <a:ln w="12700">
            <a:solidFill>
              <a:srgbClr val="C8102E"/>
            </a:solidFill>
            <a:prstDash val="solid"/>
          </a:ln>
        </p:spPr>
        <p:txBody>
          <a:bodyPr/>
          <a:lstStyle/>
          <a:p>
            <a:endParaRPr lang="en-AU"/>
          </a:p>
        </p:txBody>
      </p:sp>
      <p:sp>
        <p:nvSpPr>
          <p:cNvPr id="24" name="Shape 22"/>
          <p:cNvSpPr/>
          <p:nvPr/>
        </p:nvSpPr>
        <p:spPr>
          <a:xfrm>
            <a:off x="50292" y="2834640"/>
            <a:ext cx="118872" cy="164592"/>
          </a:xfrm>
          <a:prstGeom prst="rect">
            <a:avLst/>
          </a:prstGeom>
          <a:solidFill>
            <a:srgbClr val="C8102E"/>
          </a:solidFill>
          <a:ln w="12700">
            <a:solidFill>
              <a:srgbClr val="C8102E"/>
            </a:solidFill>
            <a:prstDash val="solid"/>
          </a:ln>
        </p:spPr>
        <p:txBody>
          <a:bodyPr/>
          <a:lstStyle/>
          <a:p>
            <a:endParaRPr lang="en-AU"/>
          </a:p>
        </p:txBody>
      </p:sp>
      <p:sp>
        <p:nvSpPr>
          <p:cNvPr id="25" name="Shape 23"/>
          <p:cNvSpPr/>
          <p:nvPr/>
        </p:nvSpPr>
        <p:spPr>
          <a:xfrm>
            <a:off x="214884" y="2834640"/>
            <a:ext cx="118872" cy="164592"/>
          </a:xfrm>
          <a:prstGeom prst="rect">
            <a:avLst/>
          </a:prstGeom>
          <a:solidFill>
            <a:srgbClr val="C8102E"/>
          </a:solidFill>
          <a:ln w="12700">
            <a:solidFill>
              <a:srgbClr val="C8102E"/>
            </a:solidFill>
            <a:prstDash val="solid"/>
          </a:ln>
        </p:spPr>
        <p:txBody>
          <a:bodyPr/>
          <a:lstStyle/>
          <a:p>
            <a:endParaRPr lang="en-AU"/>
          </a:p>
        </p:txBody>
      </p:sp>
      <p:sp>
        <p:nvSpPr>
          <p:cNvPr id="26" name="Shape 24"/>
          <p:cNvSpPr/>
          <p:nvPr/>
        </p:nvSpPr>
        <p:spPr>
          <a:xfrm>
            <a:off x="50292" y="3108960"/>
            <a:ext cx="118872" cy="164592"/>
          </a:xfrm>
          <a:prstGeom prst="rect">
            <a:avLst/>
          </a:prstGeom>
          <a:solidFill>
            <a:srgbClr val="C8102E"/>
          </a:solidFill>
          <a:ln w="12700">
            <a:solidFill>
              <a:srgbClr val="C8102E"/>
            </a:solidFill>
            <a:prstDash val="solid"/>
          </a:ln>
        </p:spPr>
        <p:txBody>
          <a:bodyPr/>
          <a:lstStyle/>
          <a:p>
            <a:endParaRPr lang="en-AU"/>
          </a:p>
        </p:txBody>
      </p:sp>
      <p:sp>
        <p:nvSpPr>
          <p:cNvPr id="27" name="Shape 25"/>
          <p:cNvSpPr/>
          <p:nvPr/>
        </p:nvSpPr>
        <p:spPr>
          <a:xfrm>
            <a:off x="214884" y="3108960"/>
            <a:ext cx="118872" cy="164592"/>
          </a:xfrm>
          <a:prstGeom prst="rect">
            <a:avLst/>
          </a:prstGeom>
          <a:solidFill>
            <a:srgbClr val="C8102E"/>
          </a:solidFill>
          <a:ln w="12700">
            <a:solidFill>
              <a:srgbClr val="C8102E"/>
            </a:solidFill>
            <a:prstDash val="solid"/>
          </a:ln>
        </p:spPr>
        <p:txBody>
          <a:bodyPr/>
          <a:lstStyle/>
          <a:p>
            <a:endParaRPr lang="en-AU"/>
          </a:p>
        </p:txBody>
      </p:sp>
      <p:sp>
        <p:nvSpPr>
          <p:cNvPr id="28" name="Shape 26"/>
          <p:cNvSpPr/>
          <p:nvPr/>
        </p:nvSpPr>
        <p:spPr>
          <a:xfrm>
            <a:off x="50292" y="3383280"/>
            <a:ext cx="118872" cy="164592"/>
          </a:xfrm>
          <a:prstGeom prst="rect">
            <a:avLst/>
          </a:prstGeom>
          <a:solidFill>
            <a:srgbClr val="C8102E"/>
          </a:solidFill>
          <a:ln w="12700">
            <a:solidFill>
              <a:srgbClr val="C8102E"/>
            </a:solidFill>
            <a:prstDash val="solid"/>
          </a:ln>
        </p:spPr>
        <p:txBody>
          <a:bodyPr/>
          <a:lstStyle/>
          <a:p>
            <a:endParaRPr lang="en-AU"/>
          </a:p>
        </p:txBody>
      </p:sp>
      <p:sp>
        <p:nvSpPr>
          <p:cNvPr id="29" name="Shape 27"/>
          <p:cNvSpPr/>
          <p:nvPr/>
        </p:nvSpPr>
        <p:spPr>
          <a:xfrm>
            <a:off x="214884" y="3383280"/>
            <a:ext cx="118872" cy="164592"/>
          </a:xfrm>
          <a:prstGeom prst="rect">
            <a:avLst/>
          </a:prstGeom>
          <a:solidFill>
            <a:srgbClr val="C8102E"/>
          </a:solidFill>
          <a:ln w="12700">
            <a:solidFill>
              <a:srgbClr val="C8102E"/>
            </a:solidFill>
            <a:prstDash val="solid"/>
          </a:ln>
        </p:spPr>
        <p:txBody>
          <a:bodyPr/>
          <a:lstStyle/>
          <a:p>
            <a:endParaRPr lang="en-AU"/>
          </a:p>
        </p:txBody>
      </p:sp>
      <p:sp>
        <p:nvSpPr>
          <p:cNvPr id="30" name="Shape 28"/>
          <p:cNvSpPr/>
          <p:nvPr/>
        </p:nvSpPr>
        <p:spPr>
          <a:xfrm>
            <a:off x="50292" y="3657600"/>
            <a:ext cx="118872" cy="164592"/>
          </a:xfrm>
          <a:prstGeom prst="rect">
            <a:avLst/>
          </a:prstGeom>
          <a:solidFill>
            <a:srgbClr val="C8102E"/>
          </a:solidFill>
          <a:ln w="12700">
            <a:solidFill>
              <a:srgbClr val="C8102E"/>
            </a:solidFill>
            <a:prstDash val="solid"/>
          </a:ln>
        </p:spPr>
        <p:txBody>
          <a:bodyPr/>
          <a:lstStyle/>
          <a:p>
            <a:endParaRPr lang="en-AU"/>
          </a:p>
        </p:txBody>
      </p:sp>
      <p:sp>
        <p:nvSpPr>
          <p:cNvPr id="31" name="Shape 29"/>
          <p:cNvSpPr/>
          <p:nvPr/>
        </p:nvSpPr>
        <p:spPr>
          <a:xfrm>
            <a:off x="214884" y="3657600"/>
            <a:ext cx="118872" cy="164592"/>
          </a:xfrm>
          <a:prstGeom prst="rect">
            <a:avLst/>
          </a:prstGeom>
          <a:solidFill>
            <a:srgbClr val="C8102E"/>
          </a:solidFill>
          <a:ln w="12700">
            <a:solidFill>
              <a:srgbClr val="C8102E"/>
            </a:solidFill>
            <a:prstDash val="solid"/>
          </a:ln>
        </p:spPr>
        <p:txBody>
          <a:bodyPr/>
          <a:lstStyle/>
          <a:p>
            <a:endParaRPr lang="en-AU"/>
          </a:p>
        </p:txBody>
      </p:sp>
      <p:sp>
        <p:nvSpPr>
          <p:cNvPr id="32" name="Shape 30"/>
          <p:cNvSpPr/>
          <p:nvPr/>
        </p:nvSpPr>
        <p:spPr>
          <a:xfrm>
            <a:off x="50292" y="3931920"/>
            <a:ext cx="118872" cy="164592"/>
          </a:xfrm>
          <a:prstGeom prst="rect">
            <a:avLst/>
          </a:prstGeom>
          <a:solidFill>
            <a:srgbClr val="C8102E"/>
          </a:solidFill>
          <a:ln w="12700">
            <a:solidFill>
              <a:srgbClr val="C8102E"/>
            </a:solidFill>
            <a:prstDash val="solid"/>
          </a:ln>
        </p:spPr>
        <p:txBody>
          <a:bodyPr/>
          <a:lstStyle/>
          <a:p>
            <a:endParaRPr lang="en-AU"/>
          </a:p>
        </p:txBody>
      </p:sp>
      <p:sp>
        <p:nvSpPr>
          <p:cNvPr id="33" name="Shape 31"/>
          <p:cNvSpPr/>
          <p:nvPr/>
        </p:nvSpPr>
        <p:spPr>
          <a:xfrm>
            <a:off x="214884" y="3931920"/>
            <a:ext cx="118872" cy="164592"/>
          </a:xfrm>
          <a:prstGeom prst="rect">
            <a:avLst/>
          </a:prstGeom>
          <a:solidFill>
            <a:srgbClr val="C8102E"/>
          </a:solidFill>
          <a:ln w="12700">
            <a:solidFill>
              <a:srgbClr val="C8102E"/>
            </a:solidFill>
            <a:prstDash val="solid"/>
          </a:ln>
        </p:spPr>
        <p:txBody>
          <a:bodyPr/>
          <a:lstStyle/>
          <a:p>
            <a:endParaRPr lang="en-AU"/>
          </a:p>
        </p:txBody>
      </p:sp>
      <p:sp>
        <p:nvSpPr>
          <p:cNvPr id="34" name="Shape 32"/>
          <p:cNvSpPr/>
          <p:nvPr/>
        </p:nvSpPr>
        <p:spPr>
          <a:xfrm>
            <a:off x="50292" y="4206240"/>
            <a:ext cx="118872" cy="164592"/>
          </a:xfrm>
          <a:prstGeom prst="rect">
            <a:avLst/>
          </a:prstGeom>
          <a:solidFill>
            <a:srgbClr val="C8102E"/>
          </a:solidFill>
          <a:ln w="12700">
            <a:solidFill>
              <a:srgbClr val="C8102E"/>
            </a:solidFill>
            <a:prstDash val="solid"/>
          </a:ln>
        </p:spPr>
        <p:txBody>
          <a:bodyPr/>
          <a:lstStyle/>
          <a:p>
            <a:endParaRPr lang="en-AU"/>
          </a:p>
        </p:txBody>
      </p:sp>
      <p:sp>
        <p:nvSpPr>
          <p:cNvPr id="35" name="Shape 33"/>
          <p:cNvSpPr/>
          <p:nvPr/>
        </p:nvSpPr>
        <p:spPr>
          <a:xfrm>
            <a:off x="214884" y="4206240"/>
            <a:ext cx="118872" cy="164592"/>
          </a:xfrm>
          <a:prstGeom prst="rect">
            <a:avLst/>
          </a:prstGeom>
          <a:solidFill>
            <a:srgbClr val="C8102E"/>
          </a:solidFill>
          <a:ln w="12700">
            <a:solidFill>
              <a:srgbClr val="C8102E"/>
            </a:solidFill>
            <a:prstDash val="solid"/>
          </a:ln>
        </p:spPr>
        <p:txBody>
          <a:bodyPr/>
          <a:lstStyle/>
          <a:p>
            <a:endParaRPr lang="en-AU"/>
          </a:p>
        </p:txBody>
      </p:sp>
      <p:sp>
        <p:nvSpPr>
          <p:cNvPr id="36" name="Shape 34"/>
          <p:cNvSpPr/>
          <p:nvPr/>
        </p:nvSpPr>
        <p:spPr>
          <a:xfrm>
            <a:off x="50292" y="4480560"/>
            <a:ext cx="118872" cy="164592"/>
          </a:xfrm>
          <a:prstGeom prst="rect">
            <a:avLst/>
          </a:prstGeom>
          <a:solidFill>
            <a:srgbClr val="C8102E"/>
          </a:solidFill>
          <a:ln w="12700">
            <a:solidFill>
              <a:srgbClr val="C8102E"/>
            </a:solidFill>
            <a:prstDash val="solid"/>
          </a:ln>
        </p:spPr>
        <p:txBody>
          <a:bodyPr/>
          <a:lstStyle/>
          <a:p>
            <a:endParaRPr lang="en-AU"/>
          </a:p>
        </p:txBody>
      </p:sp>
      <p:sp>
        <p:nvSpPr>
          <p:cNvPr id="37" name="Shape 35"/>
          <p:cNvSpPr/>
          <p:nvPr/>
        </p:nvSpPr>
        <p:spPr>
          <a:xfrm>
            <a:off x="214884" y="4480560"/>
            <a:ext cx="118872" cy="164592"/>
          </a:xfrm>
          <a:prstGeom prst="rect">
            <a:avLst/>
          </a:prstGeom>
          <a:solidFill>
            <a:srgbClr val="C8102E"/>
          </a:solidFill>
          <a:ln w="12700">
            <a:solidFill>
              <a:srgbClr val="C8102E"/>
            </a:solidFill>
            <a:prstDash val="solid"/>
          </a:ln>
        </p:spPr>
        <p:txBody>
          <a:bodyPr/>
          <a:lstStyle/>
          <a:p>
            <a:endParaRPr lang="en-AU"/>
          </a:p>
        </p:txBody>
      </p:sp>
      <p:sp>
        <p:nvSpPr>
          <p:cNvPr id="38" name="Shape 36"/>
          <p:cNvSpPr/>
          <p:nvPr/>
        </p:nvSpPr>
        <p:spPr>
          <a:xfrm>
            <a:off x="50292" y="4754880"/>
            <a:ext cx="118872" cy="164592"/>
          </a:xfrm>
          <a:prstGeom prst="rect">
            <a:avLst/>
          </a:prstGeom>
          <a:solidFill>
            <a:srgbClr val="C8102E"/>
          </a:solidFill>
          <a:ln w="12700">
            <a:solidFill>
              <a:srgbClr val="C8102E"/>
            </a:solidFill>
            <a:prstDash val="solid"/>
          </a:ln>
        </p:spPr>
        <p:txBody>
          <a:bodyPr/>
          <a:lstStyle/>
          <a:p>
            <a:endParaRPr lang="en-AU"/>
          </a:p>
        </p:txBody>
      </p:sp>
      <p:sp>
        <p:nvSpPr>
          <p:cNvPr id="39" name="Shape 37"/>
          <p:cNvSpPr/>
          <p:nvPr/>
        </p:nvSpPr>
        <p:spPr>
          <a:xfrm>
            <a:off x="214884" y="4754880"/>
            <a:ext cx="118872" cy="164592"/>
          </a:xfrm>
          <a:prstGeom prst="rect">
            <a:avLst/>
          </a:prstGeom>
          <a:solidFill>
            <a:srgbClr val="C8102E"/>
          </a:solidFill>
          <a:ln w="12700">
            <a:solidFill>
              <a:srgbClr val="C8102E"/>
            </a:solidFill>
            <a:prstDash val="solid"/>
          </a:ln>
        </p:spPr>
        <p:txBody>
          <a:bodyPr/>
          <a:lstStyle/>
          <a:p>
            <a:endParaRPr lang="en-AU"/>
          </a:p>
        </p:txBody>
      </p:sp>
      <p:sp>
        <p:nvSpPr>
          <p:cNvPr id="41" name="Text 38"/>
          <p:cNvSpPr/>
          <p:nvPr/>
        </p:nvSpPr>
        <p:spPr>
          <a:xfrm>
            <a:off x="457200" y="4526280"/>
            <a:ext cx="2743200" cy="320040"/>
          </a:xfrm>
          <a:prstGeom prst="rect">
            <a:avLst/>
          </a:prstGeom>
          <a:noFill/>
          <a:ln/>
        </p:spPr>
        <p:txBody>
          <a:bodyPr wrap="square" lIns="0" tIns="0" rIns="0" bIns="0" rtlCol="0" anchor="ctr"/>
          <a:lstStyle/>
          <a:p>
            <a:pPr marL="0" indent="0" algn="ctr">
              <a:buNone/>
            </a:pPr>
            <a:endParaRPr lang="en-US" sz="900" dirty="0"/>
          </a:p>
        </p:txBody>
      </p:sp>
      <p:sp>
        <p:nvSpPr>
          <p:cNvPr id="42" name="Shape 39"/>
          <p:cNvSpPr/>
          <p:nvPr/>
        </p:nvSpPr>
        <p:spPr>
          <a:xfrm>
            <a:off x="4114800" y="347472"/>
            <a:ext cx="2377440" cy="292608"/>
          </a:xfrm>
          <a:prstGeom prst="rect">
            <a:avLst/>
          </a:prstGeom>
          <a:solidFill>
            <a:srgbClr val="C8102E"/>
          </a:solidFill>
          <a:ln w="12700">
            <a:solidFill>
              <a:srgbClr val="C8102E"/>
            </a:solidFill>
            <a:prstDash val="solid"/>
          </a:ln>
        </p:spPr>
        <p:txBody>
          <a:bodyPr/>
          <a:lstStyle/>
          <a:p>
            <a:endParaRPr lang="en-AU"/>
          </a:p>
        </p:txBody>
      </p:sp>
      <p:sp>
        <p:nvSpPr>
          <p:cNvPr id="43" name="Text 40"/>
          <p:cNvSpPr/>
          <p:nvPr/>
        </p:nvSpPr>
        <p:spPr>
          <a:xfrm>
            <a:off x="4114800" y="347472"/>
            <a:ext cx="2377440" cy="29260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Calibri" pitchFamily="34" charset="0"/>
                <a:ea typeface="Calibri" pitchFamily="34" charset="-122"/>
                <a:cs typeface="Calibri" pitchFamily="34" charset="-120"/>
              </a:rPr>
              <a:t>COMMERCIAL STRATEGY REVIEW</a:t>
            </a:r>
            <a:endParaRPr lang="en-US" sz="850" dirty="0"/>
          </a:p>
        </p:txBody>
      </p:sp>
      <p:sp>
        <p:nvSpPr>
          <p:cNvPr id="44" name="Text 41"/>
          <p:cNvSpPr/>
          <p:nvPr/>
        </p:nvSpPr>
        <p:spPr>
          <a:xfrm>
            <a:off x="4114800" y="777240"/>
            <a:ext cx="4754880" cy="7772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From Idle Capacity</a:t>
            </a:r>
            <a:endParaRPr lang="en-US" sz="4200" dirty="0"/>
          </a:p>
        </p:txBody>
      </p:sp>
      <p:sp>
        <p:nvSpPr>
          <p:cNvPr id="45" name="Text 42"/>
          <p:cNvSpPr/>
          <p:nvPr/>
        </p:nvSpPr>
        <p:spPr>
          <a:xfrm>
            <a:off x="4114800" y="1536192"/>
            <a:ext cx="4754880" cy="7772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to Revenue Growth</a:t>
            </a:r>
            <a:endParaRPr lang="en-US" sz="4200" dirty="0"/>
          </a:p>
        </p:txBody>
      </p:sp>
      <p:sp>
        <p:nvSpPr>
          <p:cNvPr id="46" name="Text 43"/>
          <p:cNvSpPr/>
          <p:nvPr/>
        </p:nvSpPr>
        <p:spPr>
          <a:xfrm>
            <a:off x="4114800" y="2377440"/>
            <a:ext cx="4754880" cy="658368"/>
          </a:xfrm>
          <a:prstGeom prst="rect">
            <a:avLst/>
          </a:prstGeom>
          <a:noFill/>
          <a:ln/>
        </p:spPr>
        <p:txBody>
          <a:bodyPr wrap="square" lIns="0" tIns="0" rIns="0" bIns="0" rtlCol="0" anchor="t"/>
          <a:lstStyle/>
          <a:p>
            <a:pPr marL="0" indent="0">
              <a:buNone/>
            </a:pPr>
            <a:r>
              <a:rPr lang="en-US" sz="1400" dirty="0">
                <a:solidFill>
                  <a:srgbClr val="888888"/>
                </a:solidFill>
                <a:latin typeface="Calibri" pitchFamily="34" charset="0"/>
                <a:ea typeface="Calibri" pitchFamily="34" charset="-122"/>
                <a:cs typeface="Calibri" pitchFamily="34" charset="-120"/>
              </a:rPr>
              <a:t>A strategy to increase utilisation, revenue,</a:t>
            </a:r>
            <a:r>
              <a:rPr lang="en-US" sz="1400" dirty="0"/>
              <a:t> </a:t>
            </a:r>
            <a:r>
              <a:rPr lang="en-US" sz="1400" dirty="0">
                <a:solidFill>
                  <a:srgbClr val="888888"/>
                </a:solidFill>
                <a:latin typeface="Calibri" pitchFamily="34" charset="0"/>
                <a:ea typeface="Calibri" pitchFamily="34" charset="-122"/>
                <a:cs typeface="Calibri" pitchFamily="34" charset="-120"/>
              </a:rPr>
              <a:t>and repeat attendance</a:t>
            </a:r>
            <a:endParaRPr lang="en-US" sz="1400" dirty="0"/>
          </a:p>
        </p:txBody>
      </p:sp>
      <p:sp>
        <p:nvSpPr>
          <p:cNvPr id="47" name="Shape 44"/>
          <p:cNvSpPr/>
          <p:nvPr/>
        </p:nvSpPr>
        <p:spPr>
          <a:xfrm>
            <a:off x="4114800" y="3154680"/>
            <a:ext cx="4663440" cy="36576"/>
          </a:xfrm>
          <a:prstGeom prst="rect">
            <a:avLst/>
          </a:prstGeom>
          <a:solidFill>
            <a:srgbClr val="2A2A2A"/>
          </a:solidFill>
          <a:ln w="12700">
            <a:solidFill>
              <a:srgbClr val="2A2A2A"/>
            </a:solidFill>
            <a:prstDash val="solid"/>
          </a:ln>
        </p:spPr>
        <p:txBody>
          <a:bodyPr/>
          <a:lstStyle/>
          <a:p>
            <a:endParaRPr lang="en-AU"/>
          </a:p>
        </p:txBody>
      </p:sp>
      <p:sp>
        <p:nvSpPr>
          <p:cNvPr id="48" name="Text 45"/>
          <p:cNvSpPr/>
          <p:nvPr/>
        </p:nvSpPr>
        <p:spPr>
          <a:xfrm>
            <a:off x="4114800" y="3291840"/>
            <a:ext cx="2286000" cy="228600"/>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PREPARED BY</a:t>
            </a:r>
            <a:endParaRPr lang="en-US" sz="800" dirty="0"/>
          </a:p>
        </p:txBody>
      </p:sp>
      <p:sp>
        <p:nvSpPr>
          <p:cNvPr id="49" name="Text 46"/>
          <p:cNvSpPr/>
          <p:nvPr/>
        </p:nvSpPr>
        <p:spPr>
          <a:xfrm>
            <a:off x="4114800" y="3511296"/>
            <a:ext cx="2286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Akash Joel David</a:t>
            </a:r>
            <a:endParaRPr lang="en-US" sz="1200" dirty="0"/>
          </a:p>
        </p:txBody>
      </p:sp>
      <p:sp>
        <p:nvSpPr>
          <p:cNvPr id="50" name="Text 47"/>
          <p:cNvSpPr/>
          <p:nvPr/>
        </p:nvSpPr>
        <p:spPr>
          <a:xfrm>
            <a:off x="6492240" y="3291840"/>
            <a:ext cx="2286000" cy="228600"/>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DATE</a:t>
            </a:r>
            <a:endParaRPr lang="en-US" sz="800" dirty="0"/>
          </a:p>
        </p:txBody>
      </p:sp>
      <p:sp>
        <p:nvSpPr>
          <p:cNvPr id="51" name="Text 48"/>
          <p:cNvSpPr/>
          <p:nvPr/>
        </p:nvSpPr>
        <p:spPr>
          <a:xfrm>
            <a:off x="6492240" y="3511296"/>
            <a:ext cx="2286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June 2026</a:t>
            </a:r>
            <a:endParaRPr lang="en-US" sz="1200" dirty="0"/>
          </a:p>
        </p:txBody>
      </p:sp>
      <p:sp>
        <p:nvSpPr>
          <p:cNvPr id="52" name="Text 49"/>
          <p:cNvSpPr/>
          <p:nvPr/>
        </p:nvSpPr>
        <p:spPr>
          <a:xfrm>
            <a:off x="4114800" y="3858768"/>
            <a:ext cx="2286000" cy="228600"/>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LOCATION</a:t>
            </a:r>
            <a:endParaRPr lang="en-US" sz="800" dirty="0"/>
          </a:p>
        </p:txBody>
      </p:sp>
      <p:sp>
        <p:nvSpPr>
          <p:cNvPr id="53" name="Text 50"/>
          <p:cNvSpPr/>
          <p:nvPr/>
        </p:nvSpPr>
        <p:spPr>
          <a:xfrm>
            <a:off x="4114800" y="4078224"/>
            <a:ext cx="2286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Melbourne, VIC</a:t>
            </a:r>
            <a:endParaRPr lang="en-US" sz="1200" dirty="0"/>
          </a:p>
        </p:txBody>
      </p:sp>
      <p:sp>
        <p:nvSpPr>
          <p:cNvPr id="54" name="Text 51"/>
          <p:cNvSpPr/>
          <p:nvPr/>
        </p:nvSpPr>
        <p:spPr>
          <a:xfrm>
            <a:off x="6492240" y="3858768"/>
            <a:ext cx="2286000" cy="228600"/>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PREPARED FOR</a:t>
            </a:r>
            <a:endParaRPr lang="en-US" sz="800" dirty="0"/>
          </a:p>
        </p:txBody>
      </p:sp>
      <p:sp>
        <p:nvSpPr>
          <p:cNvPr id="55" name="Text 52"/>
          <p:cNvSpPr/>
          <p:nvPr/>
        </p:nvSpPr>
        <p:spPr>
          <a:xfrm>
            <a:off x="6492240" y="4078224"/>
            <a:ext cx="2286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Executive Leadership Team</a:t>
            </a:r>
            <a:endParaRPr lang="en-US" sz="1200" dirty="0"/>
          </a:p>
        </p:txBody>
      </p:sp>
      <p:pic>
        <p:nvPicPr>
          <p:cNvPr id="56" name="Image 0" descr="/home/claude/logo_hires.png">
            <a:extLst>
              <a:ext uri="{FF2B5EF4-FFF2-40B4-BE49-F238E27FC236}">
                <a16:creationId xmlns:a16="http://schemas.microsoft.com/office/drawing/2014/main" id="{11BD0873-3581-6A6B-A012-C0D5253BA50F}"/>
              </a:ext>
            </a:extLst>
          </p:cNvPr>
          <p:cNvPicPr>
            <a:picLocks noChangeAspect="1"/>
          </p:cNvPicPr>
          <p:nvPr/>
        </p:nvPicPr>
        <p:blipFill>
          <a:blip r:embed="rId3"/>
          <a:stretch>
            <a:fillRect/>
          </a:stretch>
        </p:blipFill>
        <p:spPr>
          <a:xfrm>
            <a:off x="169164" y="794725"/>
            <a:ext cx="3551277" cy="35512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THE STRATEGIC CASE AT A GLANCE</a:t>
            </a:r>
            <a:endParaRPr lang="en-US" sz="950" dirty="0"/>
          </a:p>
        </p:txBody>
      </p:sp>
      <p:sp>
        <p:nvSpPr>
          <p:cNvPr id="8" name="Shape 5"/>
          <p:cNvSpPr/>
          <p:nvPr/>
        </p:nvSpPr>
        <p:spPr>
          <a:xfrm>
            <a:off x="411480" y="1115568"/>
            <a:ext cx="8321040" cy="658368"/>
          </a:xfrm>
          <a:prstGeom prst="rect">
            <a:avLst/>
          </a:prstGeom>
          <a:solidFill>
            <a:srgbClr val="C8102E"/>
          </a:solidFill>
          <a:ln w="12700">
            <a:solidFill>
              <a:srgbClr val="C8102E"/>
            </a:solidFill>
            <a:prstDash val="solid"/>
          </a:ln>
        </p:spPr>
        <p:txBody>
          <a:bodyPr/>
          <a:lstStyle/>
          <a:p>
            <a:endParaRPr lang="en-AU"/>
          </a:p>
        </p:txBody>
      </p:sp>
      <p:sp>
        <p:nvSpPr>
          <p:cNvPr id="9" name="Text 6"/>
          <p:cNvSpPr/>
          <p:nvPr/>
        </p:nvSpPr>
        <p:spPr>
          <a:xfrm>
            <a:off x="594360" y="1115568"/>
            <a:ext cx="7955280" cy="658368"/>
          </a:xfrm>
          <a:prstGeom prst="rect">
            <a:avLst/>
          </a:prstGeom>
          <a:noFill/>
          <a:ln/>
        </p:spPr>
        <p:txBody>
          <a:bodyPr wrap="square" lIns="0" tIns="0" rIns="0" bIns="0" rtlCol="0" anchor="ctr"/>
          <a:lstStyle/>
          <a:p>
            <a:pPr marL="0" indent="0">
              <a:buNone/>
            </a:pPr>
            <a:r>
              <a:rPr lang="en-US" sz="1250" b="1" i="1" dirty="0">
                <a:solidFill>
                  <a:srgbClr val="FFFFFF"/>
                </a:solidFill>
                <a:latin typeface="Calibri" pitchFamily="34" charset="0"/>
                <a:ea typeface="Calibri" pitchFamily="34" charset="-122"/>
                <a:cs typeface="Calibri" pitchFamily="34" charset="-120"/>
              </a:rPr>
              <a:t>The core challenge is not weak demand. It is underutilised capacity, weak weekday habits, digital friction, and limited differentiation.</a:t>
            </a:r>
            <a:endParaRPr lang="en-US" sz="1250" dirty="0"/>
          </a:p>
        </p:txBody>
      </p:sp>
      <p:sp>
        <p:nvSpPr>
          <p:cNvPr id="10" name="Shape 7"/>
          <p:cNvSpPr/>
          <p:nvPr/>
        </p:nvSpPr>
        <p:spPr>
          <a:xfrm>
            <a:off x="411480" y="1920240"/>
            <a:ext cx="2682240" cy="2514600"/>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1" name="Shape 8"/>
          <p:cNvSpPr/>
          <p:nvPr/>
        </p:nvSpPr>
        <p:spPr>
          <a:xfrm>
            <a:off x="411480" y="1920240"/>
            <a:ext cx="2682240" cy="54864"/>
          </a:xfrm>
          <a:prstGeom prst="rect">
            <a:avLst/>
          </a:prstGeom>
          <a:solidFill>
            <a:srgbClr val="C8102E"/>
          </a:solidFill>
          <a:ln w="12700">
            <a:solidFill>
              <a:srgbClr val="C8102E"/>
            </a:solidFill>
            <a:prstDash val="solid"/>
          </a:ln>
        </p:spPr>
        <p:txBody>
          <a:bodyPr/>
          <a:lstStyle/>
          <a:p>
            <a:endParaRPr lang="en-AU"/>
          </a:p>
        </p:txBody>
      </p:sp>
      <p:sp>
        <p:nvSpPr>
          <p:cNvPr id="12" name="Text 9"/>
          <p:cNvSpPr/>
          <p:nvPr/>
        </p:nvSpPr>
        <p:spPr>
          <a:xfrm>
            <a:off x="576072" y="2048256"/>
            <a:ext cx="2453640" cy="347472"/>
          </a:xfrm>
          <a:prstGeom prst="rect">
            <a:avLst/>
          </a:prstGeom>
          <a:noFill/>
          <a:ln/>
        </p:spPr>
        <p:txBody>
          <a:bodyPr wrap="square" lIns="0" tIns="0" rIns="0" bIns="0" rtlCol="0" anchor="ctr"/>
          <a:lstStyle/>
          <a:p>
            <a:pPr marL="0" indent="0">
              <a:buNone/>
            </a:pPr>
            <a:r>
              <a:rPr lang="en-US" sz="1200" b="1" kern="0" spc="200" dirty="0">
                <a:solidFill>
                  <a:srgbClr val="C8102E"/>
                </a:solidFill>
                <a:latin typeface="Calibri" pitchFamily="34" charset="0"/>
                <a:ea typeface="Calibri" pitchFamily="34" charset="-122"/>
                <a:cs typeface="Calibri" pitchFamily="34" charset="-120"/>
              </a:rPr>
              <a:t>COMMERCIAL</a:t>
            </a:r>
            <a:endParaRPr lang="en-US" sz="1200" dirty="0"/>
          </a:p>
        </p:txBody>
      </p:sp>
      <p:sp>
        <p:nvSpPr>
          <p:cNvPr id="13" name="Text 10"/>
          <p:cNvSpPr/>
          <p:nvPr/>
        </p:nvSpPr>
        <p:spPr>
          <a:xfrm>
            <a:off x="576072" y="2468880"/>
            <a:ext cx="2407920" cy="1828800"/>
          </a:xfrm>
          <a:prstGeom prst="rect">
            <a:avLst/>
          </a:prstGeom>
          <a:noFill/>
          <a:ln/>
        </p:spPr>
        <p:txBody>
          <a:bodyPr wrap="square" lIns="0" tIns="0" rIns="0" bIns="0" rtlCol="0" anchor="t"/>
          <a:lstStyle/>
          <a:p>
            <a:pPr marL="0" indent="0">
              <a:buNone/>
            </a:pPr>
            <a:r>
              <a:rPr lang="en-US" sz="1100" dirty="0">
                <a:solidFill>
                  <a:srgbClr val="E8E8E8"/>
                </a:solidFill>
                <a:latin typeface="Calibri" pitchFamily="34" charset="0"/>
                <a:ea typeface="Calibri" pitchFamily="34" charset="-122"/>
                <a:cs typeface="Calibri" pitchFamily="34" charset="-120"/>
              </a:rPr>
              <a:t>Converts idle inventory into incremental revenue, smooths weekly demand, and increases yield without diluting peak session pricing.</a:t>
            </a:r>
            <a:endParaRPr lang="en-US" sz="1100" dirty="0"/>
          </a:p>
        </p:txBody>
      </p:sp>
      <p:sp>
        <p:nvSpPr>
          <p:cNvPr id="14" name="Shape 11"/>
          <p:cNvSpPr/>
          <p:nvPr/>
        </p:nvSpPr>
        <p:spPr>
          <a:xfrm>
            <a:off x="3230880" y="1920240"/>
            <a:ext cx="2682240" cy="2514600"/>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5" name="Shape 12"/>
          <p:cNvSpPr/>
          <p:nvPr/>
        </p:nvSpPr>
        <p:spPr>
          <a:xfrm>
            <a:off x="3230880" y="1920240"/>
            <a:ext cx="2682240" cy="54864"/>
          </a:xfrm>
          <a:prstGeom prst="rect">
            <a:avLst/>
          </a:prstGeom>
          <a:solidFill>
            <a:srgbClr val="2980B9"/>
          </a:solidFill>
          <a:ln w="12700">
            <a:solidFill>
              <a:srgbClr val="2980B9"/>
            </a:solidFill>
            <a:prstDash val="solid"/>
          </a:ln>
        </p:spPr>
        <p:txBody>
          <a:bodyPr/>
          <a:lstStyle/>
          <a:p>
            <a:endParaRPr lang="en-AU"/>
          </a:p>
        </p:txBody>
      </p:sp>
      <p:sp>
        <p:nvSpPr>
          <p:cNvPr id="16" name="Text 13"/>
          <p:cNvSpPr/>
          <p:nvPr/>
        </p:nvSpPr>
        <p:spPr>
          <a:xfrm>
            <a:off x="3395472" y="2048256"/>
            <a:ext cx="2453640" cy="347472"/>
          </a:xfrm>
          <a:prstGeom prst="rect">
            <a:avLst/>
          </a:prstGeom>
          <a:noFill/>
          <a:ln/>
        </p:spPr>
        <p:txBody>
          <a:bodyPr wrap="square" lIns="0" tIns="0" rIns="0" bIns="0" rtlCol="0" anchor="ctr"/>
          <a:lstStyle/>
          <a:p>
            <a:pPr marL="0" indent="0">
              <a:buNone/>
            </a:pPr>
            <a:r>
              <a:rPr lang="en-US" sz="1200" b="1" kern="0" spc="200" dirty="0">
                <a:solidFill>
                  <a:srgbClr val="2980B9"/>
                </a:solidFill>
                <a:latin typeface="Calibri" pitchFamily="34" charset="0"/>
                <a:ea typeface="Calibri" pitchFamily="34" charset="-122"/>
                <a:cs typeface="Calibri" pitchFamily="34" charset="-120"/>
              </a:rPr>
              <a:t>STRATEGIC</a:t>
            </a:r>
            <a:endParaRPr lang="en-US" sz="1200" dirty="0"/>
          </a:p>
        </p:txBody>
      </p:sp>
      <p:sp>
        <p:nvSpPr>
          <p:cNvPr id="17" name="Text 14"/>
          <p:cNvSpPr/>
          <p:nvPr/>
        </p:nvSpPr>
        <p:spPr>
          <a:xfrm>
            <a:off x="3395472" y="2468880"/>
            <a:ext cx="2407920" cy="1828800"/>
          </a:xfrm>
          <a:prstGeom prst="rect">
            <a:avLst/>
          </a:prstGeom>
          <a:noFill/>
          <a:ln/>
        </p:spPr>
        <p:txBody>
          <a:bodyPr wrap="square" lIns="0" tIns="0" rIns="0" bIns="0" rtlCol="0" anchor="t"/>
          <a:lstStyle/>
          <a:p>
            <a:pPr marL="0" indent="0">
              <a:buNone/>
            </a:pPr>
            <a:r>
              <a:rPr lang="en-US" sz="1100" dirty="0">
                <a:solidFill>
                  <a:srgbClr val="E8E8E8"/>
                </a:solidFill>
                <a:latin typeface="Calibri" pitchFamily="34" charset="0"/>
                <a:ea typeface="Calibri" pitchFamily="34" charset="-122"/>
                <a:cs typeface="Calibri" pitchFamily="34" charset="-120"/>
              </a:rPr>
              <a:t>Differentiates Reading through value-led access, improved digital experience, and local relevance in a market where competitors remain largely conventional.</a:t>
            </a:r>
            <a:endParaRPr lang="en-US" sz="1100" dirty="0"/>
          </a:p>
        </p:txBody>
      </p:sp>
      <p:sp>
        <p:nvSpPr>
          <p:cNvPr id="18" name="Shape 15"/>
          <p:cNvSpPr/>
          <p:nvPr/>
        </p:nvSpPr>
        <p:spPr>
          <a:xfrm>
            <a:off x="6050280" y="1920240"/>
            <a:ext cx="2682240" cy="2514600"/>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9" name="Shape 16"/>
          <p:cNvSpPr/>
          <p:nvPr/>
        </p:nvSpPr>
        <p:spPr>
          <a:xfrm>
            <a:off x="6050280" y="1920240"/>
            <a:ext cx="2682240" cy="54864"/>
          </a:xfrm>
          <a:prstGeom prst="rect">
            <a:avLst/>
          </a:prstGeom>
          <a:solidFill>
            <a:srgbClr val="27AE60"/>
          </a:solidFill>
          <a:ln w="12700">
            <a:solidFill>
              <a:srgbClr val="27AE60"/>
            </a:solidFill>
            <a:prstDash val="solid"/>
          </a:ln>
        </p:spPr>
        <p:txBody>
          <a:bodyPr/>
          <a:lstStyle/>
          <a:p>
            <a:endParaRPr lang="en-AU"/>
          </a:p>
        </p:txBody>
      </p:sp>
      <p:sp>
        <p:nvSpPr>
          <p:cNvPr id="20" name="Text 17"/>
          <p:cNvSpPr/>
          <p:nvPr/>
        </p:nvSpPr>
        <p:spPr>
          <a:xfrm>
            <a:off x="6214872" y="2048256"/>
            <a:ext cx="2453640" cy="347472"/>
          </a:xfrm>
          <a:prstGeom prst="rect">
            <a:avLst/>
          </a:prstGeom>
          <a:noFill/>
          <a:ln/>
        </p:spPr>
        <p:txBody>
          <a:bodyPr wrap="square" lIns="0" tIns="0" rIns="0" bIns="0" rtlCol="0" anchor="ctr"/>
          <a:lstStyle/>
          <a:p>
            <a:pPr marL="0" indent="0">
              <a:buNone/>
            </a:pPr>
            <a:r>
              <a:rPr lang="en-US" sz="1200" b="1" kern="0" spc="200" dirty="0">
                <a:solidFill>
                  <a:srgbClr val="27AE60"/>
                </a:solidFill>
                <a:latin typeface="Calibri" pitchFamily="34" charset="0"/>
                <a:ea typeface="Calibri" pitchFamily="34" charset="-122"/>
                <a:cs typeface="Calibri" pitchFamily="34" charset="-120"/>
              </a:rPr>
              <a:t>OPERATIONAL</a:t>
            </a:r>
            <a:endParaRPr lang="en-US" sz="1200" dirty="0"/>
          </a:p>
        </p:txBody>
      </p:sp>
      <p:sp>
        <p:nvSpPr>
          <p:cNvPr id="21" name="Text 18"/>
          <p:cNvSpPr/>
          <p:nvPr/>
        </p:nvSpPr>
        <p:spPr>
          <a:xfrm>
            <a:off x="6214872" y="2468880"/>
            <a:ext cx="2407920" cy="1828800"/>
          </a:xfrm>
          <a:prstGeom prst="rect">
            <a:avLst/>
          </a:prstGeom>
          <a:noFill/>
          <a:ln/>
        </p:spPr>
        <p:txBody>
          <a:bodyPr wrap="square" lIns="0" tIns="0" rIns="0" bIns="0" rtlCol="0" anchor="t"/>
          <a:lstStyle/>
          <a:p>
            <a:pPr marL="0" indent="0">
              <a:buNone/>
            </a:pPr>
            <a:r>
              <a:rPr lang="en-US" sz="1100" dirty="0">
                <a:solidFill>
                  <a:srgbClr val="E8E8E8"/>
                </a:solidFill>
                <a:latin typeface="Calibri" pitchFamily="34" charset="0"/>
                <a:ea typeface="Calibri" pitchFamily="34" charset="-122"/>
                <a:cs typeface="Calibri" pitchFamily="34" charset="-120"/>
              </a:rPr>
              <a:t>Stronger digital adoption improves data capture and enables targeted demand activation, turning every transaction into customer insight.</a:t>
            </a:r>
            <a:endParaRPr lang="en-US" sz="1100" dirty="0"/>
          </a:p>
        </p:txBody>
      </p:sp>
      <p:sp>
        <p:nvSpPr>
          <p:cNvPr id="22" name="Shape 19"/>
          <p:cNvSpPr/>
          <p:nvPr/>
        </p:nvSpPr>
        <p:spPr>
          <a:xfrm>
            <a:off x="411480" y="4535424"/>
            <a:ext cx="1965960" cy="475488"/>
          </a:xfrm>
          <a:prstGeom prst="rect">
            <a:avLst/>
          </a:prstGeom>
          <a:solidFill>
            <a:srgbClr val="111111"/>
          </a:solidFill>
          <a:ln w="9525">
            <a:solidFill>
              <a:srgbClr val="2A2A2A"/>
            </a:solidFill>
            <a:prstDash val="solid"/>
          </a:ln>
        </p:spPr>
        <p:txBody>
          <a:bodyPr/>
          <a:lstStyle/>
          <a:p>
            <a:endParaRPr lang="en-AU"/>
          </a:p>
        </p:txBody>
      </p:sp>
      <p:sp>
        <p:nvSpPr>
          <p:cNvPr id="23" name="Text 20"/>
          <p:cNvSpPr/>
          <p:nvPr/>
        </p:nvSpPr>
        <p:spPr>
          <a:xfrm>
            <a:off x="521208" y="4535424"/>
            <a:ext cx="502920" cy="475488"/>
          </a:xfrm>
          <a:prstGeom prst="rect">
            <a:avLst/>
          </a:prstGeom>
          <a:noFill/>
          <a:ln/>
        </p:spPr>
        <p:txBody>
          <a:bodyPr wrap="square" lIns="0" tIns="0" rIns="0" bIns="0" rtlCol="0" anchor="ctr"/>
          <a:lstStyle/>
          <a:p>
            <a:pPr marL="0" indent="0">
              <a:buNone/>
            </a:pPr>
            <a:r>
              <a:rPr lang="en-US" sz="2200" b="1" dirty="0">
                <a:solidFill>
                  <a:srgbClr val="C8102E"/>
                </a:solidFill>
                <a:latin typeface="Calibri" pitchFamily="34" charset="0"/>
                <a:ea typeface="Calibri" pitchFamily="34" charset="-122"/>
                <a:cs typeface="Calibri" pitchFamily="34" charset="-120"/>
              </a:rPr>
              <a:t>9</a:t>
            </a:r>
            <a:endParaRPr lang="en-US" sz="2200" dirty="0"/>
          </a:p>
        </p:txBody>
      </p:sp>
      <p:sp>
        <p:nvSpPr>
          <p:cNvPr id="24" name="Text 21"/>
          <p:cNvSpPr/>
          <p:nvPr/>
        </p:nvSpPr>
        <p:spPr>
          <a:xfrm>
            <a:off x="1051560" y="4535424"/>
            <a:ext cx="1261872" cy="47548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Initiatives</a:t>
            </a:r>
            <a:endParaRPr lang="en-US" sz="1100" dirty="0"/>
          </a:p>
        </p:txBody>
      </p:sp>
      <p:sp>
        <p:nvSpPr>
          <p:cNvPr id="25" name="Shape 22"/>
          <p:cNvSpPr/>
          <p:nvPr/>
        </p:nvSpPr>
        <p:spPr>
          <a:xfrm>
            <a:off x="2514600" y="4535424"/>
            <a:ext cx="1965960" cy="475488"/>
          </a:xfrm>
          <a:prstGeom prst="rect">
            <a:avLst/>
          </a:prstGeom>
          <a:solidFill>
            <a:srgbClr val="111111"/>
          </a:solidFill>
          <a:ln w="9525">
            <a:solidFill>
              <a:srgbClr val="2A2A2A"/>
            </a:solidFill>
            <a:prstDash val="solid"/>
          </a:ln>
        </p:spPr>
        <p:txBody>
          <a:bodyPr/>
          <a:lstStyle/>
          <a:p>
            <a:endParaRPr lang="en-AU"/>
          </a:p>
        </p:txBody>
      </p:sp>
      <p:sp>
        <p:nvSpPr>
          <p:cNvPr id="26" name="Text 23"/>
          <p:cNvSpPr/>
          <p:nvPr/>
        </p:nvSpPr>
        <p:spPr>
          <a:xfrm>
            <a:off x="2624328" y="4535424"/>
            <a:ext cx="502920" cy="475488"/>
          </a:xfrm>
          <a:prstGeom prst="rect">
            <a:avLst/>
          </a:prstGeom>
          <a:noFill/>
          <a:ln/>
        </p:spPr>
        <p:txBody>
          <a:bodyPr wrap="square" lIns="0" tIns="0" rIns="0" bIns="0" rtlCol="0" anchor="ctr"/>
          <a:lstStyle/>
          <a:p>
            <a:pPr marL="0" indent="0">
              <a:buNone/>
            </a:pPr>
            <a:r>
              <a:rPr lang="en-US" sz="2200" b="1" dirty="0">
                <a:solidFill>
                  <a:srgbClr val="C8102E"/>
                </a:solidFill>
                <a:latin typeface="Calibri" pitchFamily="34" charset="0"/>
                <a:ea typeface="Calibri" pitchFamily="34" charset="-122"/>
                <a:cs typeface="Calibri" pitchFamily="34" charset="-120"/>
              </a:rPr>
              <a:t>3</a:t>
            </a:r>
            <a:endParaRPr lang="en-US" sz="2200" dirty="0"/>
          </a:p>
        </p:txBody>
      </p:sp>
      <p:sp>
        <p:nvSpPr>
          <p:cNvPr id="27" name="Text 24"/>
          <p:cNvSpPr/>
          <p:nvPr/>
        </p:nvSpPr>
        <p:spPr>
          <a:xfrm>
            <a:off x="3154680" y="4535424"/>
            <a:ext cx="1261872" cy="47548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Strategic Clusters</a:t>
            </a:r>
            <a:endParaRPr lang="en-US" sz="1100" dirty="0"/>
          </a:p>
        </p:txBody>
      </p:sp>
      <p:sp>
        <p:nvSpPr>
          <p:cNvPr id="28" name="Shape 25"/>
          <p:cNvSpPr/>
          <p:nvPr/>
        </p:nvSpPr>
        <p:spPr>
          <a:xfrm>
            <a:off x="4617720" y="4535424"/>
            <a:ext cx="1965960" cy="475488"/>
          </a:xfrm>
          <a:prstGeom prst="rect">
            <a:avLst/>
          </a:prstGeom>
          <a:solidFill>
            <a:srgbClr val="111111"/>
          </a:solidFill>
          <a:ln w="9525">
            <a:solidFill>
              <a:srgbClr val="2A2A2A"/>
            </a:solidFill>
            <a:prstDash val="solid"/>
          </a:ln>
        </p:spPr>
        <p:txBody>
          <a:bodyPr/>
          <a:lstStyle/>
          <a:p>
            <a:endParaRPr lang="en-AU"/>
          </a:p>
        </p:txBody>
      </p:sp>
      <p:sp>
        <p:nvSpPr>
          <p:cNvPr id="29" name="Text 26"/>
          <p:cNvSpPr/>
          <p:nvPr/>
        </p:nvSpPr>
        <p:spPr>
          <a:xfrm>
            <a:off x="4727448" y="4535424"/>
            <a:ext cx="502920" cy="475488"/>
          </a:xfrm>
          <a:prstGeom prst="rect">
            <a:avLst/>
          </a:prstGeom>
          <a:noFill/>
          <a:ln/>
        </p:spPr>
        <p:txBody>
          <a:bodyPr wrap="square" lIns="0" tIns="0" rIns="0" bIns="0" rtlCol="0" anchor="ctr"/>
          <a:lstStyle/>
          <a:p>
            <a:pPr marL="0" indent="0">
              <a:buNone/>
            </a:pPr>
            <a:r>
              <a:rPr lang="en-US" sz="2200" b="1" dirty="0">
                <a:solidFill>
                  <a:srgbClr val="C8102E"/>
                </a:solidFill>
                <a:latin typeface="Calibri" pitchFamily="34" charset="0"/>
                <a:ea typeface="Calibri" pitchFamily="34" charset="-122"/>
                <a:cs typeface="Calibri" pitchFamily="34" charset="-120"/>
              </a:rPr>
              <a:t>36</a:t>
            </a:r>
            <a:endParaRPr lang="en-US" sz="2200" dirty="0"/>
          </a:p>
        </p:txBody>
      </p:sp>
      <p:sp>
        <p:nvSpPr>
          <p:cNvPr id="30" name="Text 27"/>
          <p:cNvSpPr/>
          <p:nvPr/>
        </p:nvSpPr>
        <p:spPr>
          <a:xfrm>
            <a:off x="5257800" y="4535424"/>
            <a:ext cx="1261872" cy="47548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Month Roadmap</a:t>
            </a:r>
            <a:endParaRPr lang="en-US" sz="1100" dirty="0"/>
          </a:p>
        </p:txBody>
      </p:sp>
      <p:sp>
        <p:nvSpPr>
          <p:cNvPr id="31" name="Shape 28"/>
          <p:cNvSpPr/>
          <p:nvPr/>
        </p:nvSpPr>
        <p:spPr>
          <a:xfrm>
            <a:off x="6720840" y="4535424"/>
            <a:ext cx="1965960" cy="475488"/>
          </a:xfrm>
          <a:prstGeom prst="rect">
            <a:avLst/>
          </a:prstGeom>
          <a:solidFill>
            <a:srgbClr val="111111"/>
          </a:solidFill>
          <a:ln w="9525">
            <a:solidFill>
              <a:srgbClr val="2A2A2A"/>
            </a:solidFill>
            <a:prstDash val="solid"/>
          </a:ln>
        </p:spPr>
        <p:txBody>
          <a:bodyPr/>
          <a:lstStyle/>
          <a:p>
            <a:endParaRPr lang="en-AU"/>
          </a:p>
        </p:txBody>
      </p:sp>
      <p:sp>
        <p:nvSpPr>
          <p:cNvPr id="32" name="Text 29"/>
          <p:cNvSpPr/>
          <p:nvPr/>
        </p:nvSpPr>
        <p:spPr>
          <a:xfrm>
            <a:off x="6830568" y="4535424"/>
            <a:ext cx="502920" cy="475488"/>
          </a:xfrm>
          <a:prstGeom prst="rect">
            <a:avLst/>
          </a:prstGeom>
          <a:noFill/>
          <a:ln/>
        </p:spPr>
        <p:txBody>
          <a:bodyPr wrap="square" lIns="0" tIns="0" rIns="0" bIns="0" rtlCol="0" anchor="ctr"/>
          <a:lstStyle/>
          <a:p>
            <a:pPr marL="0" indent="0">
              <a:buNone/>
            </a:pPr>
            <a:r>
              <a:rPr lang="en-US" sz="2200" b="1" dirty="0">
                <a:solidFill>
                  <a:srgbClr val="C8102E"/>
                </a:solidFill>
                <a:latin typeface="Calibri" pitchFamily="34" charset="0"/>
                <a:ea typeface="Calibri" pitchFamily="34" charset="-122"/>
                <a:cs typeface="Calibri" pitchFamily="34" charset="-120"/>
              </a:rPr>
              <a:t>4</a:t>
            </a:r>
            <a:endParaRPr lang="en-US" sz="2200" dirty="0"/>
          </a:p>
        </p:txBody>
      </p:sp>
      <p:sp>
        <p:nvSpPr>
          <p:cNvPr id="33" name="Text 30"/>
          <p:cNvSpPr/>
          <p:nvPr/>
        </p:nvSpPr>
        <p:spPr>
          <a:xfrm>
            <a:off x="7360920" y="4535424"/>
            <a:ext cx="1261872" cy="47548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Phases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Market Context &amp; Opportunity</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MELBOURNE CINEMA LANDSCAPE · THE WINDOW OF OPPORTUNITY</a:t>
            </a:r>
            <a:endParaRPr lang="en-US" sz="950" dirty="0"/>
          </a:p>
        </p:txBody>
      </p:sp>
      <p:sp>
        <p:nvSpPr>
          <p:cNvPr id="8" name="Shape 5"/>
          <p:cNvSpPr/>
          <p:nvPr/>
        </p:nvSpPr>
        <p:spPr>
          <a:xfrm>
            <a:off x="411480" y="1115568"/>
            <a:ext cx="2743200" cy="15727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9" name="Shape 6"/>
          <p:cNvSpPr/>
          <p:nvPr/>
        </p:nvSpPr>
        <p:spPr>
          <a:xfrm>
            <a:off x="411480" y="1115568"/>
            <a:ext cx="50292" cy="1572768"/>
          </a:xfrm>
          <a:prstGeom prst="rect">
            <a:avLst/>
          </a:prstGeom>
          <a:solidFill>
            <a:srgbClr val="C8102E"/>
          </a:solidFill>
          <a:ln w="12700">
            <a:solidFill>
              <a:srgbClr val="C8102E"/>
            </a:solidFill>
            <a:prstDash val="solid"/>
          </a:ln>
        </p:spPr>
        <p:txBody>
          <a:bodyPr/>
          <a:lstStyle/>
          <a:p>
            <a:endParaRPr lang="en-AU"/>
          </a:p>
        </p:txBody>
      </p:sp>
      <p:sp>
        <p:nvSpPr>
          <p:cNvPr id="10" name="Shape 7"/>
          <p:cNvSpPr/>
          <p:nvPr/>
        </p:nvSpPr>
        <p:spPr>
          <a:xfrm>
            <a:off x="557784" y="1261872"/>
            <a:ext cx="475488" cy="475488"/>
          </a:xfrm>
          <a:prstGeom prst="ellipse">
            <a:avLst/>
          </a:prstGeom>
          <a:solidFill>
            <a:srgbClr val="C8102E"/>
          </a:solidFill>
          <a:ln w="12700">
            <a:solidFill>
              <a:srgbClr val="C8102E"/>
            </a:solidFill>
            <a:prstDash val="solid"/>
          </a:ln>
        </p:spPr>
        <p:txBody>
          <a:bodyPr/>
          <a:lstStyle/>
          <a:p>
            <a:endParaRPr lang="en-AU"/>
          </a:p>
        </p:txBody>
      </p:sp>
      <p:pic>
        <p:nvPicPr>
          <p:cNvPr id="11" name="Image 1" descr="preencoded.png"/>
          <p:cNvPicPr>
            <a:picLocks noChangeAspect="1"/>
          </p:cNvPicPr>
          <p:nvPr/>
        </p:nvPicPr>
        <p:blipFill>
          <a:blip r:embed="rId4"/>
          <a:stretch>
            <a:fillRect/>
          </a:stretch>
        </p:blipFill>
        <p:spPr>
          <a:xfrm>
            <a:off x="612648" y="1316736"/>
            <a:ext cx="365760" cy="365760"/>
          </a:xfrm>
          <a:prstGeom prst="rect">
            <a:avLst/>
          </a:prstGeom>
        </p:spPr>
      </p:pic>
      <p:sp>
        <p:nvSpPr>
          <p:cNvPr id="12" name="Text 8"/>
          <p:cNvSpPr/>
          <p:nvPr/>
        </p:nvSpPr>
        <p:spPr>
          <a:xfrm>
            <a:off x="1161288" y="1261872"/>
            <a:ext cx="187452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Off-Peak Underutilisation</a:t>
            </a:r>
            <a:endParaRPr lang="en-US" sz="1100" dirty="0"/>
          </a:p>
        </p:txBody>
      </p:sp>
      <p:sp>
        <p:nvSpPr>
          <p:cNvPr id="13" name="Text 9"/>
          <p:cNvSpPr/>
          <p:nvPr/>
        </p:nvSpPr>
        <p:spPr>
          <a:xfrm>
            <a:off x="557784" y="1865376"/>
            <a:ext cx="2514600" cy="749808"/>
          </a:xfrm>
          <a:prstGeom prst="rect">
            <a:avLst/>
          </a:prstGeom>
          <a:noFill/>
          <a:ln/>
        </p:spPr>
        <p:txBody>
          <a:bodyPr wrap="square" lIns="0" tIns="0" rIns="0" bIns="0" rtlCol="0" anchor="t"/>
          <a:lstStyle/>
          <a:p>
            <a:pPr marL="0" indent="0">
              <a:buNone/>
            </a:pPr>
            <a:r>
              <a:rPr lang="en-US" sz="1000" dirty="0">
                <a:solidFill>
                  <a:srgbClr val="888888"/>
                </a:solidFill>
                <a:latin typeface="Calibri" pitchFamily="34" charset="0"/>
                <a:ea typeface="Calibri" pitchFamily="34" charset="-122"/>
                <a:cs typeface="Calibri" pitchFamily="34" charset="-120"/>
              </a:rPr>
              <a:t>Predictable Monday to Thursday occupancy drops. Customers will shift sessions when pricing and convenience align.</a:t>
            </a:r>
            <a:endParaRPr lang="en-US" sz="1000" dirty="0"/>
          </a:p>
        </p:txBody>
      </p:sp>
      <p:sp>
        <p:nvSpPr>
          <p:cNvPr id="14" name="Shape 10"/>
          <p:cNvSpPr/>
          <p:nvPr/>
        </p:nvSpPr>
        <p:spPr>
          <a:xfrm>
            <a:off x="3282696" y="1115568"/>
            <a:ext cx="2743200" cy="15727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5" name="Shape 11"/>
          <p:cNvSpPr/>
          <p:nvPr/>
        </p:nvSpPr>
        <p:spPr>
          <a:xfrm>
            <a:off x="3282696" y="1115568"/>
            <a:ext cx="50292" cy="1572768"/>
          </a:xfrm>
          <a:prstGeom prst="rect">
            <a:avLst/>
          </a:prstGeom>
          <a:solidFill>
            <a:srgbClr val="C8102E"/>
          </a:solidFill>
          <a:ln w="12700">
            <a:solidFill>
              <a:srgbClr val="C8102E"/>
            </a:solidFill>
            <a:prstDash val="solid"/>
          </a:ln>
        </p:spPr>
        <p:txBody>
          <a:bodyPr/>
          <a:lstStyle/>
          <a:p>
            <a:endParaRPr lang="en-AU"/>
          </a:p>
        </p:txBody>
      </p:sp>
      <p:sp>
        <p:nvSpPr>
          <p:cNvPr id="16" name="Shape 12"/>
          <p:cNvSpPr/>
          <p:nvPr/>
        </p:nvSpPr>
        <p:spPr>
          <a:xfrm>
            <a:off x="3429000" y="1261872"/>
            <a:ext cx="475488" cy="475488"/>
          </a:xfrm>
          <a:prstGeom prst="ellipse">
            <a:avLst/>
          </a:prstGeom>
          <a:solidFill>
            <a:srgbClr val="C8102E"/>
          </a:solidFill>
          <a:ln w="12700">
            <a:solidFill>
              <a:srgbClr val="C8102E"/>
            </a:solidFill>
            <a:prstDash val="solid"/>
          </a:ln>
        </p:spPr>
        <p:txBody>
          <a:bodyPr/>
          <a:lstStyle/>
          <a:p>
            <a:endParaRPr lang="en-AU" dirty="0"/>
          </a:p>
        </p:txBody>
      </p:sp>
      <p:sp>
        <p:nvSpPr>
          <p:cNvPr id="18" name="Text 13"/>
          <p:cNvSpPr/>
          <p:nvPr/>
        </p:nvSpPr>
        <p:spPr>
          <a:xfrm>
            <a:off x="4032504" y="1261872"/>
            <a:ext cx="187452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Lower-Profile Fill Rates</a:t>
            </a:r>
            <a:endParaRPr lang="en-US" sz="1100" dirty="0"/>
          </a:p>
        </p:txBody>
      </p:sp>
      <p:sp>
        <p:nvSpPr>
          <p:cNvPr id="19" name="Text 14"/>
          <p:cNvSpPr/>
          <p:nvPr/>
        </p:nvSpPr>
        <p:spPr>
          <a:xfrm>
            <a:off x="3429000" y="1865376"/>
            <a:ext cx="2514600" cy="749808"/>
          </a:xfrm>
          <a:prstGeom prst="rect">
            <a:avLst/>
          </a:prstGeom>
          <a:noFill/>
          <a:ln/>
        </p:spPr>
        <p:txBody>
          <a:bodyPr wrap="square" lIns="0" tIns="0" rIns="0" bIns="0" rtlCol="0" anchor="t"/>
          <a:lstStyle/>
          <a:p>
            <a:pPr marL="0" indent="0">
              <a:buNone/>
            </a:pPr>
            <a:r>
              <a:rPr lang="en-US" sz="1000" dirty="0">
                <a:solidFill>
                  <a:srgbClr val="888888"/>
                </a:solidFill>
                <a:latin typeface="Calibri" pitchFamily="34" charset="0"/>
                <a:ea typeface="Calibri" pitchFamily="34" charset="-122"/>
                <a:cs typeface="Calibri" pitchFamily="34" charset="-120"/>
              </a:rPr>
              <a:t>Below-average occupancy for non-tentpole films. Value pricing can drive trial and word-of-mouth.</a:t>
            </a:r>
            <a:endParaRPr lang="en-US" sz="1000" dirty="0"/>
          </a:p>
        </p:txBody>
      </p:sp>
      <p:sp>
        <p:nvSpPr>
          <p:cNvPr id="20" name="Shape 15"/>
          <p:cNvSpPr/>
          <p:nvPr/>
        </p:nvSpPr>
        <p:spPr>
          <a:xfrm>
            <a:off x="402336" y="2980944"/>
            <a:ext cx="2743200" cy="15727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21" name="Shape 16"/>
          <p:cNvSpPr/>
          <p:nvPr/>
        </p:nvSpPr>
        <p:spPr>
          <a:xfrm>
            <a:off x="411480" y="2971800"/>
            <a:ext cx="50292" cy="1572768"/>
          </a:xfrm>
          <a:prstGeom prst="rect">
            <a:avLst/>
          </a:prstGeom>
          <a:solidFill>
            <a:srgbClr val="C8102E"/>
          </a:solidFill>
          <a:ln w="12700">
            <a:solidFill>
              <a:srgbClr val="C8102E"/>
            </a:solidFill>
            <a:prstDash val="solid"/>
          </a:ln>
        </p:spPr>
        <p:txBody>
          <a:bodyPr/>
          <a:lstStyle/>
          <a:p>
            <a:endParaRPr lang="en-AU"/>
          </a:p>
        </p:txBody>
      </p:sp>
      <p:sp>
        <p:nvSpPr>
          <p:cNvPr id="22" name="Shape 17"/>
          <p:cNvSpPr/>
          <p:nvPr/>
        </p:nvSpPr>
        <p:spPr>
          <a:xfrm>
            <a:off x="560598" y="3054096"/>
            <a:ext cx="475488" cy="475488"/>
          </a:xfrm>
          <a:prstGeom prst="ellipse">
            <a:avLst/>
          </a:prstGeom>
          <a:solidFill>
            <a:srgbClr val="C8102E"/>
          </a:solidFill>
          <a:ln w="12700">
            <a:solidFill>
              <a:srgbClr val="C8102E"/>
            </a:solidFill>
            <a:prstDash val="solid"/>
          </a:ln>
        </p:spPr>
        <p:txBody>
          <a:bodyPr/>
          <a:lstStyle/>
          <a:p>
            <a:endParaRPr lang="en-AU"/>
          </a:p>
        </p:txBody>
      </p:sp>
      <p:pic>
        <p:nvPicPr>
          <p:cNvPr id="23" name="Image 3" descr="preencoded.png"/>
          <p:cNvPicPr>
            <a:picLocks noChangeAspect="1"/>
          </p:cNvPicPr>
          <p:nvPr/>
        </p:nvPicPr>
        <p:blipFill>
          <a:blip r:embed="rId5"/>
          <a:stretch>
            <a:fillRect/>
          </a:stretch>
        </p:blipFill>
        <p:spPr>
          <a:xfrm>
            <a:off x="610362" y="3113334"/>
            <a:ext cx="365760" cy="365760"/>
          </a:xfrm>
          <a:prstGeom prst="rect">
            <a:avLst/>
          </a:prstGeom>
        </p:spPr>
      </p:pic>
      <p:sp>
        <p:nvSpPr>
          <p:cNvPr id="24" name="Text 18"/>
          <p:cNvSpPr/>
          <p:nvPr/>
        </p:nvSpPr>
        <p:spPr>
          <a:xfrm>
            <a:off x="1161288" y="3073967"/>
            <a:ext cx="187452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Digital Friction</a:t>
            </a:r>
            <a:endParaRPr lang="en-US" sz="1100" dirty="0"/>
          </a:p>
        </p:txBody>
      </p:sp>
      <p:sp>
        <p:nvSpPr>
          <p:cNvPr id="25" name="Text 19"/>
          <p:cNvSpPr/>
          <p:nvPr/>
        </p:nvSpPr>
        <p:spPr>
          <a:xfrm>
            <a:off x="557784" y="3653028"/>
            <a:ext cx="2514600" cy="749808"/>
          </a:xfrm>
          <a:prstGeom prst="rect">
            <a:avLst/>
          </a:prstGeom>
          <a:noFill/>
          <a:ln/>
        </p:spPr>
        <p:txBody>
          <a:bodyPr wrap="square" lIns="0" tIns="0" rIns="0" bIns="0" rtlCol="0" anchor="t"/>
          <a:lstStyle/>
          <a:p>
            <a:pPr marL="0" indent="0">
              <a:buNone/>
            </a:pPr>
            <a:r>
              <a:rPr lang="en-US" sz="1000" dirty="0">
                <a:solidFill>
                  <a:srgbClr val="888888"/>
                </a:solidFill>
                <a:latin typeface="Calibri" pitchFamily="34" charset="0"/>
                <a:ea typeface="Calibri" pitchFamily="34" charset="-122"/>
                <a:cs typeface="Calibri" pitchFamily="34" charset="-120"/>
              </a:rPr>
              <a:t>Booking fees and booking journey friction suppress online conversion and limit data capture at every session.</a:t>
            </a:r>
            <a:endParaRPr lang="en-US" sz="1000" dirty="0"/>
          </a:p>
        </p:txBody>
      </p:sp>
      <p:sp>
        <p:nvSpPr>
          <p:cNvPr id="26" name="Shape 20"/>
          <p:cNvSpPr/>
          <p:nvPr/>
        </p:nvSpPr>
        <p:spPr>
          <a:xfrm>
            <a:off x="3282696" y="2980944"/>
            <a:ext cx="2743200" cy="15727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27" name="Shape 21"/>
          <p:cNvSpPr/>
          <p:nvPr/>
        </p:nvSpPr>
        <p:spPr>
          <a:xfrm>
            <a:off x="3278124" y="2976770"/>
            <a:ext cx="50292" cy="1572768"/>
          </a:xfrm>
          <a:prstGeom prst="rect">
            <a:avLst/>
          </a:prstGeom>
          <a:solidFill>
            <a:srgbClr val="C8102E"/>
          </a:solidFill>
          <a:ln w="12700">
            <a:solidFill>
              <a:srgbClr val="C8102E"/>
            </a:solidFill>
            <a:prstDash val="solid"/>
          </a:ln>
        </p:spPr>
        <p:txBody>
          <a:bodyPr/>
          <a:lstStyle/>
          <a:p>
            <a:endParaRPr lang="en-AU"/>
          </a:p>
        </p:txBody>
      </p:sp>
      <p:sp>
        <p:nvSpPr>
          <p:cNvPr id="28" name="Shape 22"/>
          <p:cNvSpPr/>
          <p:nvPr/>
        </p:nvSpPr>
        <p:spPr>
          <a:xfrm>
            <a:off x="3429000" y="3101399"/>
            <a:ext cx="475488" cy="475488"/>
          </a:xfrm>
          <a:prstGeom prst="ellipse">
            <a:avLst/>
          </a:prstGeom>
          <a:solidFill>
            <a:srgbClr val="C8102E"/>
          </a:solidFill>
          <a:ln w="12700">
            <a:solidFill>
              <a:srgbClr val="C8102E"/>
            </a:solidFill>
            <a:prstDash val="solid"/>
          </a:ln>
        </p:spPr>
        <p:txBody>
          <a:bodyPr/>
          <a:lstStyle/>
          <a:p>
            <a:endParaRPr lang="en-AU"/>
          </a:p>
        </p:txBody>
      </p:sp>
      <p:pic>
        <p:nvPicPr>
          <p:cNvPr id="29" name="Image 4" descr="preencoded.png"/>
          <p:cNvPicPr>
            <a:picLocks noChangeAspect="1"/>
          </p:cNvPicPr>
          <p:nvPr/>
        </p:nvPicPr>
        <p:blipFill>
          <a:blip r:embed="rId6"/>
          <a:stretch>
            <a:fillRect/>
          </a:stretch>
        </p:blipFill>
        <p:spPr>
          <a:xfrm>
            <a:off x="3483864" y="3156263"/>
            <a:ext cx="365760" cy="365760"/>
          </a:xfrm>
          <a:prstGeom prst="rect">
            <a:avLst/>
          </a:prstGeom>
        </p:spPr>
      </p:pic>
      <p:sp>
        <p:nvSpPr>
          <p:cNvPr id="30" name="Text 23"/>
          <p:cNvSpPr/>
          <p:nvPr/>
        </p:nvSpPr>
        <p:spPr>
          <a:xfrm>
            <a:off x="4032504" y="3065526"/>
            <a:ext cx="187452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Regional Market Gap</a:t>
            </a:r>
            <a:endParaRPr lang="en-US" sz="1100" dirty="0"/>
          </a:p>
        </p:txBody>
      </p:sp>
      <p:sp>
        <p:nvSpPr>
          <p:cNvPr id="31" name="Text 24"/>
          <p:cNvSpPr/>
          <p:nvPr/>
        </p:nvSpPr>
        <p:spPr>
          <a:xfrm>
            <a:off x="3429000" y="3653028"/>
            <a:ext cx="2514600" cy="749808"/>
          </a:xfrm>
          <a:prstGeom prst="rect">
            <a:avLst/>
          </a:prstGeom>
          <a:noFill/>
          <a:ln/>
        </p:spPr>
        <p:txBody>
          <a:bodyPr wrap="square" lIns="0" tIns="0" rIns="0" bIns="0" rtlCol="0" anchor="t"/>
          <a:lstStyle/>
          <a:p>
            <a:pPr marL="0" indent="0">
              <a:buNone/>
            </a:pPr>
            <a:r>
              <a:rPr lang="en-US" sz="1000" dirty="0">
                <a:solidFill>
                  <a:srgbClr val="888888"/>
                </a:solidFill>
                <a:latin typeface="Calibri" pitchFamily="34" charset="0"/>
                <a:ea typeface="Calibri" pitchFamily="34" charset="-122"/>
                <a:cs typeface="Calibri" pitchFamily="34" charset="-120"/>
              </a:rPr>
              <a:t>Limited presence outside metro Melbourne. High-population centres with low competitive intensity represent a clear opportunity.</a:t>
            </a:r>
            <a:endParaRPr lang="en-US" sz="1000" dirty="0"/>
          </a:p>
        </p:txBody>
      </p:sp>
      <p:sp>
        <p:nvSpPr>
          <p:cNvPr id="32" name="Shape 25"/>
          <p:cNvSpPr/>
          <p:nvPr/>
        </p:nvSpPr>
        <p:spPr>
          <a:xfrm>
            <a:off x="6245352" y="1097280"/>
            <a:ext cx="2487168" cy="3401568"/>
          </a:xfrm>
          <a:prstGeom prst="rect">
            <a:avLst/>
          </a:prstGeom>
          <a:solidFill>
            <a:srgbClr val="1A1A1A"/>
          </a:solidFill>
          <a:ln w="12700">
            <a:solidFill>
              <a:srgbClr val="C8102E"/>
            </a:solidFill>
            <a:prstDash val="solid"/>
          </a:ln>
          <a:effectLst>
            <a:outerShdw blurRad="127000" dist="38100" dir="8100000" algn="bl" rotWithShape="0">
              <a:srgbClr val="000000">
                <a:alpha val="40000"/>
              </a:srgbClr>
            </a:outerShdw>
          </a:effectLst>
        </p:spPr>
        <p:txBody>
          <a:bodyPr/>
          <a:lstStyle/>
          <a:p>
            <a:endParaRPr lang="en-AU"/>
          </a:p>
        </p:txBody>
      </p:sp>
      <p:sp>
        <p:nvSpPr>
          <p:cNvPr id="33" name="Shape 26"/>
          <p:cNvSpPr/>
          <p:nvPr/>
        </p:nvSpPr>
        <p:spPr>
          <a:xfrm>
            <a:off x="6245352" y="1115568"/>
            <a:ext cx="2487168" cy="54864"/>
          </a:xfrm>
          <a:prstGeom prst="rect">
            <a:avLst/>
          </a:prstGeom>
          <a:solidFill>
            <a:srgbClr val="C8102E"/>
          </a:solidFill>
          <a:ln w="12700">
            <a:solidFill>
              <a:srgbClr val="C8102E"/>
            </a:solidFill>
            <a:prstDash val="solid"/>
          </a:ln>
        </p:spPr>
        <p:txBody>
          <a:bodyPr/>
          <a:lstStyle/>
          <a:p>
            <a:endParaRPr lang="en-AU"/>
          </a:p>
        </p:txBody>
      </p:sp>
      <p:sp>
        <p:nvSpPr>
          <p:cNvPr id="34" name="Text 27"/>
          <p:cNvSpPr/>
          <p:nvPr/>
        </p:nvSpPr>
        <p:spPr>
          <a:xfrm>
            <a:off x="6428232" y="1188720"/>
            <a:ext cx="2212848" cy="329184"/>
          </a:xfrm>
          <a:prstGeom prst="rect">
            <a:avLst/>
          </a:prstGeom>
          <a:noFill/>
          <a:ln/>
        </p:spPr>
        <p:txBody>
          <a:bodyPr wrap="square" lIns="0" tIns="0" rIns="0" bIns="0" rtlCol="0" anchor="ctr"/>
          <a:lstStyle/>
          <a:p>
            <a:pPr marL="0" indent="0">
              <a:buNone/>
            </a:pPr>
            <a:r>
              <a:rPr lang="en-US" sz="1050" b="1" kern="0" spc="200" dirty="0">
                <a:solidFill>
                  <a:srgbClr val="C8102E"/>
                </a:solidFill>
                <a:latin typeface="Calibri" pitchFamily="34" charset="0"/>
                <a:ea typeface="Calibri" pitchFamily="34" charset="-122"/>
                <a:cs typeface="Calibri" pitchFamily="34" charset="-120"/>
              </a:rPr>
              <a:t>THE OPPORTUNITY</a:t>
            </a:r>
            <a:endParaRPr lang="en-US" sz="1050" dirty="0"/>
          </a:p>
        </p:txBody>
      </p:sp>
      <p:sp>
        <p:nvSpPr>
          <p:cNvPr id="35" name="Shape 28"/>
          <p:cNvSpPr/>
          <p:nvPr/>
        </p:nvSpPr>
        <p:spPr>
          <a:xfrm>
            <a:off x="6428232" y="1664208"/>
            <a:ext cx="45720" cy="438912"/>
          </a:xfrm>
          <a:prstGeom prst="rect">
            <a:avLst/>
          </a:prstGeom>
          <a:solidFill>
            <a:srgbClr val="C8102E"/>
          </a:solidFill>
          <a:ln w="12700">
            <a:solidFill>
              <a:srgbClr val="C8102E"/>
            </a:solidFill>
            <a:prstDash val="solid"/>
          </a:ln>
        </p:spPr>
        <p:txBody>
          <a:bodyPr/>
          <a:lstStyle/>
          <a:p>
            <a:endParaRPr lang="en-AU"/>
          </a:p>
        </p:txBody>
      </p:sp>
      <p:sp>
        <p:nvSpPr>
          <p:cNvPr id="36" name="Text 29"/>
          <p:cNvSpPr/>
          <p:nvPr/>
        </p:nvSpPr>
        <p:spPr>
          <a:xfrm>
            <a:off x="6590995" y="1609344"/>
            <a:ext cx="2011680" cy="54864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Competitors rely on conventional pricing, creating room for targeted weekday demand activation.</a:t>
            </a:r>
            <a:endParaRPr lang="en-US" sz="950" dirty="0"/>
          </a:p>
        </p:txBody>
      </p:sp>
      <p:sp>
        <p:nvSpPr>
          <p:cNvPr id="37" name="Shape 30"/>
          <p:cNvSpPr/>
          <p:nvPr/>
        </p:nvSpPr>
        <p:spPr>
          <a:xfrm>
            <a:off x="6428232" y="2286000"/>
            <a:ext cx="45720" cy="438912"/>
          </a:xfrm>
          <a:prstGeom prst="rect">
            <a:avLst/>
          </a:prstGeom>
          <a:solidFill>
            <a:srgbClr val="C8102E"/>
          </a:solidFill>
          <a:ln w="12700">
            <a:solidFill>
              <a:srgbClr val="C8102E"/>
            </a:solidFill>
            <a:prstDash val="solid"/>
          </a:ln>
        </p:spPr>
        <p:txBody>
          <a:bodyPr/>
          <a:lstStyle/>
          <a:p>
            <a:endParaRPr lang="en-AU"/>
          </a:p>
        </p:txBody>
      </p:sp>
      <p:sp>
        <p:nvSpPr>
          <p:cNvPr id="38" name="Text 31"/>
          <p:cNvSpPr/>
          <p:nvPr/>
        </p:nvSpPr>
        <p:spPr>
          <a:xfrm>
            <a:off x="6597396" y="2226564"/>
            <a:ext cx="2011680" cy="54864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There is limited visible evidence of major chains using off-peak yield optimisation at scale.</a:t>
            </a:r>
            <a:endParaRPr lang="en-US" sz="950" dirty="0"/>
          </a:p>
        </p:txBody>
      </p:sp>
      <p:sp>
        <p:nvSpPr>
          <p:cNvPr id="39" name="Shape 32"/>
          <p:cNvSpPr/>
          <p:nvPr/>
        </p:nvSpPr>
        <p:spPr>
          <a:xfrm>
            <a:off x="6428232" y="2907792"/>
            <a:ext cx="45720" cy="438912"/>
          </a:xfrm>
          <a:prstGeom prst="rect">
            <a:avLst/>
          </a:prstGeom>
          <a:solidFill>
            <a:srgbClr val="C8102E"/>
          </a:solidFill>
          <a:ln w="12700">
            <a:solidFill>
              <a:srgbClr val="C8102E"/>
            </a:solidFill>
            <a:prstDash val="solid"/>
          </a:ln>
        </p:spPr>
        <p:txBody>
          <a:bodyPr/>
          <a:lstStyle/>
          <a:p>
            <a:endParaRPr lang="en-AU"/>
          </a:p>
        </p:txBody>
      </p:sp>
      <p:sp>
        <p:nvSpPr>
          <p:cNvPr id="40" name="Text 33"/>
          <p:cNvSpPr/>
          <p:nvPr/>
        </p:nvSpPr>
        <p:spPr>
          <a:xfrm>
            <a:off x="6592824" y="2871216"/>
            <a:ext cx="2011680" cy="54864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Customers shift sessions when pricing and convenience align</a:t>
            </a:r>
            <a:endParaRPr lang="en-US" sz="950" dirty="0"/>
          </a:p>
        </p:txBody>
      </p:sp>
      <p:sp>
        <p:nvSpPr>
          <p:cNvPr id="41" name="Shape 34"/>
          <p:cNvSpPr/>
          <p:nvPr/>
        </p:nvSpPr>
        <p:spPr>
          <a:xfrm>
            <a:off x="6428232" y="3529584"/>
            <a:ext cx="45720" cy="438912"/>
          </a:xfrm>
          <a:prstGeom prst="rect">
            <a:avLst/>
          </a:prstGeom>
          <a:solidFill>
            <a:srgbClr val="C8102E"/>
          </a:solidFill>
          <a:ln w="12700">
            <a:solidFill>
              <a:srgbClr val="C8102E"/>
            </a:solidFill>
            <a:prstDash val="solid"/>
          </a:ln>
        </p:spPr>
        <p:txBody>
          <a:bodyPr/>
          <a:lstStyle/>
          <a:p>
            <a:endParaRPr lang="en-AU"/>
          </a:p>
        </p:txBody>
      </p:sp>
      <p:sp>
        <p:nvSpPr>
          <p:cNvPr id="42" name="Text 35"/>
          <p:cNvSpPr/>
          <p:nvPr/>
        </p:nvSpPr>
        <p:spPr>
          <a:xfrm>
            <a:off x="6592824" y="3493008"/>
            <a:ext cx="2011680" cy="54864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Regional centers offer demand, lower competition, and room to differentiate.</a:t>
            </a:r>
            <a:endParaRPr lang="en-US" sz="950" dirty="0"/>
          </a:p>
        </p:txBody>
      </p:sp>
      <p:sp>
        <p:nvSpPr>
          <p:cNvPr id="43" name="Shape 36"/>
          <p:cNvSpPr/>
          <p:nvPr/>
        </p:nvSpPr>
        <p:spPr>
          <a:xfrm>
            <a:off x="6245352" y="4160520"/>
            <a:ext cx="2487168" cy="384048"/>
          </a:xfrm>
          <a:prstGeom prst="rect">
            <a:avLst/>
          </a:prstGeom>
          <a:solidFill>
            <a:srgbClr val="C8102E"/>
          </a:solidFill>
          <a:ln w="12700">
            <a:solidFill>
              <a:srgbClr val="C8102E"/>
            </a:solidFill>
            <a:prstDash val="solid"/>
          </a:ln>
        </p:spPr>
        <p:txBody>
          <a:bodyPr/>
          <a:lstStyle/>
          <a:p>
            <a:endParaRPr lang="en-AU"/>
          </a:p>
        </p:txBody>
      </p:sp>
      <p:sp>
        <p:nvSpPr>
          <p:cNvPr id="44" name="Text 37"/>
          <p:cNvSpPr/>
          <p:nvPr/>
        </p:nvSpPr>
        <p:spPr>
          <a:xfrm>
            <a:off x="6245352" y="4160520"/>
            <a:ext cx="2487168" cy="384048"/>
          </a:xfrm>
          <a:prstGeom prst="rect">
            <a:avLst/>
          </a:prstGeom>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Reading can move first and win.</a:t>
            </a:r>
            <a:endParaRPr lang="en-US" sz="1300" dirty="0"/>
          </a:p>
        </p:txBody>
      </p:sp>
      <p:pic>
        <p:nvPicPr>
          <p:cNvPr id="52" name="Graphic 51" descr="Ticket with solid fill">
            <a:extLst>
              <a:ext uri="{FF2B5EF4-FFF2-40B4-BE49-F238E27FC236}">
                <a16:creationId xmlns:a16="http://schemas.microsoft.com/office/drawing/2014/main" id="{1774AA9D-A920-7F3D-C2EC-1A7C9ED013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51860" y="1275588"/>
            <a:ext cx="429768" cy="4297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Strategic Framework</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THREE CLUSTERS · NINE INITIATIVES · PILOT → MEASURE → SCALE</a:t>
            </a:r>
            <a:endParaRPr lang="en-US" sz="950" dirty="0"/>
          </a:p>
        </p:txBody>
      </p:sp>
      <p:sp>
        <p:nvSpPr>
          <p:cNvPr id="8" name="Shape 5"/>
          <p:cNvSpPr/>
          <p:nvPr/>
        </p:nvSpPr>
        <p:spPr>
          <a:xfrm>
            <a:off x="411480" y="1115568"/>
            <a:ext cx="2682240" cy="3657600"/>
          </a:xfrm>
          <a:prstGeom prst="rect">
            <a:avLst/>
          </a:prstGeom>
          <a:solidFill>
            <a:srgbClr val="1A1A1A"/>
          </a:solidFill>
          <a:ln w="15240">
            <a:solidFill>
              <a:srgbClr val="C8102E"/>
            </a:solidFill>
            <a:prstDash val="solid"/>
          </a:ln>
          <a:effectLst>
            <a:outerShdw blurRad="127000" dist="38100" dir="8100000" algn="bl" rotWithShape="0">
              <a:srgbClr val="000000">
                <a:alpha val="40000"/>
              </a:srgbClr>
            </a:outerShdw>
          </a:effectLst>
        </p:spPr>
        <p:txBody>
          <a:bodyPr/>
          <a:lstStyle/>
          <a:p>
            <a:endParaRPr lang="en-AU"/>
          </a:p>
        </p:txBody>
      </p:sp>
      <p:sp>
        <p:nvSpPr>
          <p:cNvPr id="9" name="Shape 6"/>
          <p:cNvSpPr/>
          <p:nvPr/>
        </p:nvSpPr>
        <p:spPr>
          <a:xfrm>
            <a:off x="411480" y="1115568"/>
            <a:ext cx="2682240" cy="64008"/>
          </a:xfrm>
          <a:prstGeom prst="rect">
            <a:avLst/>
          </a:prstGeom>
          <a:solidFill>
            <a:srgbClr val="C8102E"/>
          </a:solidFill>
          <a:ln w="12700">
            <a:solidFill>
              <a:srgbClr val="C8102E"/>
            </a:solidFill>
            <a:prstDash val="solid"/>
          </a:ln>
        </p:spPr>
        <p:txBody>
          <a:bodyPr/>
          <a:lstStyle/>
          <a:p>
            <a:endParaRPr lang="en-AU"/>
          </a:p>
        </p:txBody>
      </p:sp>
      <p:sp>
        <p:nvSpPr>
          <p:cNvPr id="10" name="Shape 7"/>
          <p:cNvSpPr/>
          <p:nvPr/>
        </p:nvSpPr>
        <p:spPr>
          <a:xfrm>
            <a:off x="594360" y="1280160"/>
            <a:ext cx="658368" cy="658368"/>
          </a:xfrm>
          <a:prstGeom prst="ellipse">
            <a:avLst/>
          </a:prstGeom>
          <a:solidFill>
            <a:srgbClr val="C8102E"/>
          </a:solidFill>
          <a:ln w="12700">
            <a:solidFill>
              <a:srgbClr val="C8102E"/>
            </a:solidFill>
            <a:prstDash val="solid"/>
          </a:ln>
        </p:spPr>
        <p:txBody>
          <a:bodyPr/>
          <a:lstStyle/>
          <a:p>
            <a:endParaRPr lang="en-AU"/>
          </a:p>
        </p:txBody>
      </p:sp>
      <p:sp>
        <p:nvSpPr>
          <p:cNvPr id="11" name="Text 8"/>
          <p:cNvSpPr/>
          <p:nvPr/>
        </p:nvSpPr>
        <p:spPr>
          <a:xfrm>
            <a:off x="594360" y="128016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2" name="Text 9"/>
          <p:cNvSpPr/>
          <p:nvPr/>
        </p:nvSpPr>
        <p:spPr>
          <a:xfrm>
            <a:off x="1380744" y="1298448"/>
            <a:ext cx="160324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Pricing</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Optimisation</a:t>
            </a:r>
            <a:endParaRPr lang="en-US" sz="1400" dirty="0"/>
          </a:p>
        </p:txBody>
      </p:sp>
      <p:sp>
        <p:nvSpPr>
          <p:cNvPr id="13" name="Shape 10"/>
          <p:cNvSpPr/>
          <p:nvPr/>
        </p:nvSpPr>
        <p:spPr>
          <a:xfrm>
            <a:off x="576072" y="2103120"/>
            <a:ext cx="2362200" cy="36576"/>
          </a:xfrm>
          <a:prstGeom prst="rect">
            <a:avLst/>
          </a:prstGeom>
          <a:solidFill>
            <a:srgbClr val="2A2A2A"/>
          </a:solidFill>
          <a:ln w="12700">
            <a:solidFill>
              <a:srgbClr val="2A2A2A"/>
            </a:solidFill>
            <a:prstDash val="solid"/>
          </a:ln>
        </p:spPr>
        <p:txBody>
          <a:bodyPr/>
          <a:lstStyle/>
          <a:p>
            <a:endParaRPr lang="en-AU"/>
          </a:p>
        </p:txBody>
      </p:sp>
      <p:sp>
        <p:nvSpPr>
          <p:cNvPr id="14" name="Shape 11"/>
          <p:cNvSpPr/>
          <p:nvPr/>
        </p:nvSpPr>
        <p:spPr>
          <a:xfrm>
            <a:off x="576072" y="2286000"/>
            <a:ext cx="45720" cy="621792"/>
          </a:xfrm>
          <a:prstGeom prst="rect">
            <a:avLst/>
          </a:prstGeom>
          <a:solidFill>
            <a:srgbClr val="C8102E"/>
          </a:solidFill>
          <a:ln w="12700">
            <a:solidFill>
              <a:srgbClr val="C8102E"/>
            </a:solidFill>
            <a:prstDash val="solid"/>
          </a:ln>
        </p:spPr>
        <p:txBody>
          <a:bodyPr/>
          <a:lstStyle/>
          <a:p>
            <a:endParaRPr lang="en-AU"/>
          </a:p>
        </p:txBody>
      </p:sp>
      <p:sp>
        <p:nvSpPr>
          <p:cNvPr id="15" name="Text 12"/>
          <p:cNvSpPr/>
          <p:nvPr/>
        </p:nvSpPr>
        <p:spPr>
          <a:xfrm>
            <a:off x="713232" y="2231136"/>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3.1  Differentiated seat pricing</a:t>
            </a:r>
            <a:endParaRPr lang="en-US" sz="1100" dirty="0"/>
          </a:p>
        </p:txBody>
      </p:sp>
      <p:sp>
        <p:nvSpPr>
          <p:cNvPr id="16" name="Shape 13"/>
          <p:cNvSpPr/>
          <p:nvPr/>
        </p:nvSpPr>
        <p:spPr>
          <a:xfrm>
            <a:off x="576072" y="3127248"/>
            <a:ext cx="45720" cy="621792"/>
          </a:xfrm>
          <a:prstGeom prst="rect">
            <a:avLst/>
          </a:prstGeom>
          <a:solidFill>
            <a:srgbClr val="C8102E"/>
          </a:solidFill>
          <a:ln w="12700">
            <a:solidFill>
              <a:srgbClr val="C8102E"/>
            </a:solidFill>
            <a:prstDash val="solid"/>
          </a:ln>
        </p:spPr>
        <p:txBody>
          <a:bodyPr/>
          <a:lstStyle/>
          <a:p>
            <a:endParaRPr lang="en-AU"/>
          </a:p>
        </p:txBody>
      </p:sp>
      <p:sp>
        <p:nvSpPr>
          <p:cNvPr id="17" name="Text 14"/>
          <p:cNvSpPr/>
          <p:nvPr/>
        </p:nvSpPr>
        <p:spPr>
          <a:xfrm>
            <a:off x="713232" y="3072384"/>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3.2  Value pricing for lower-profile            </a:t>
            </a:r>
          </a:p>
          <a:p>
            <a:pPr marL="0" indent="0">
              <a:buNone/>
            </a:pPr>
            <a:r>
              <a:rPr lang="en-US" sz="1100" dirty="0">
                <a:solidFill>
                  <a:srgbClr val="E8E8E8"/>
                </a:solidFill>
                <a:latin typeface="Calibri" pitchFamily="34" charset="0"/>
                <a:ea typeface="Calibri" pitchFamily="34" charset="-122"/>
                <a:cs typeface="Calibri" pitchFamily="34" charset="-120"/>
              </a:rPr>
              <a:t>titles</a:t>
            </a:r>
            <a:endParaRPr lang="en-US" sz="1100" dirty="0"/>
          </a:p>
        </p:txBody>
      </p:sp>
      <p:sp>
        <p:nvSpPr>
          <p:cNvPr id="18" name="Shape 15"/>
          <p:cNvSpPr/>
          <p:nvPr/>
        </p:nvSpPr>
        <p:spPr>
          <a:xfrm>
            <a:off x="576072" y="3968496"/>
            <a:ext cx="45720" cy="621792"/>
          </a:xfrm>
          <a:prstGeom prst="rect">
            <a:avLst/>
          </a:prstGeom>
          <a:solidFill>
            <a:srgbClr val="C8102E"/>
          </a:solidFill>
          <a:ln w="12700">
            <a:solidFill>
              <a:srgbClr val="C8102E"/>
            </a:solidFill>
            <a:prstDash val="solid"/>
          </a:ln>
        </p:spPr>
        <p:txBody>
          <a:bodyPr/>
          <a:lstStyle/>
          <a:p>
            <a:endParaRPr lang="en-AU"/>
          </a:p>
        </p:txBody>
      </p:sp>
      <p:sp>
        <p:nvSpPr>
          <p:cNvPr id="19" name="Text 16"/>
          <p:cNvSpPr/>
          <p:nvPr/>
        </p:nvSpPr>
        <p:spPr>
          <a:xfrm>
            <a:off x="713232" y="3913632"/>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3.3  Weekday value pricing Monday to Thursday</a:t>
            </a:r>
            <a:endParaRPr lang="en-US" sz="1100" dirty="0"/>
          </a:p>
        </p:txBody>
      </p:sp>
      <p:sp>
        <p:nvSpPr>
          <p:cNvPr id="20" name="Shape 17"/>
          <p:cNvSpPr/>
          <p:nvPr/>
        </p:nvSpPr>
        <p:spPr>
          <a:xfrm>
            <a:off x="3230880" y="1115568"/>
            <a:ext cx="2682240" cy="3657600"/>
          </a:xfrm>
          <a:prstGeom prst="rect">
            <a:avLst/>
          </a:prstGeom>
          <a:solidFill>
            <a:srgbClr val="1A1A1A"/>
          </a:solidFill>
          <a:ln w="15240">
            <a:solidFill>
              <a:srgbClr val="2980B9"/>
            </a:solidFill>
            <a:prstDash val="solid"/>
          </a:ln>
          <a:effectLst>
            <a:outerShdw blurRad="127000" dist="38100" dir="8100000" algn="bl" rotWithShape="0">
              <a:srgbClr val="000000">
                <a:alpha val="40000"/>
              </a:srgbClr>
            </a:outerShdw>
          </a:effectLst>
        </p:spPr>
        <p:txBody>
          <a:bodyPr/>
          <a:lstStyle/>
          <a:p>
            <a:endParaRPr lang="en-AU"/>
          </a:p>
        </p:txBody>
      </p:sp>
      <p:sp>
        <p:nvSpPr>
          <p:cNvPr id="21" name="Shape 18"/>
          <p:cNvSpPr/>
          <p:nvPr/>
        </p:nvSpPr>
        <p:spPr>
          <a:xfrm>
            <a:off x="3230880" y="1115568"/>
            <a:ext cx="2682240" cy="64008"/>
          </a:xfrm>
          <a:prstGeom prst="rect">
            <a:avLst/>
          </a:prstGeom>
          <a:solidFill>
            <a:srgbClr val="2980B9"/>
          </a:solidFill>
          <a:ln w="12700">
            <a:solidFill>
              <a:srgbClr val="2980B9"/>
            </a:solidFill>
            <a:prstDash val="solid"/>
          </a:ln>
        </p:spPr>
        <p:txBody>
          <a:bodyPr/>
          <a:lstStyle/>
          <a:p>
            <a:endParaRPr lang="en-AU"/>
          </a:p>
        </p:txBody>
      </p:sp>
      <p:sp>
        <p:nvSpPr>
          <p:cNvPr id="22" name="Shape 19"/>
          <p:cNvSpPr/>
          <p:nvPr/>
        </p:nvSpPr>
        <p:spPr>
          <a:xfrm>
            <a:off x="3413760" y="1280160"/>
            <a:ext cx="658368" cy="658368"/>
          </a:xfrm>
          <a:prstGeom prst="ellipse">
            <a:avLst/>
          </a:prstGeom>
          <a:solidFill>
            <a:srgbClr val="2980B9"/>
          </a:solidFill>
          <a:ln w="12700">
            <a:solidFill>
              <a:srgbClr val="2980B9"/>
            </a:solidFill>
            <a:prstDash val="solid"/>
          </a:ln>
        </p:spPr>
        <p:txBody>
          <a:bodyPr/>
          <a:lstStyle/>
          <a:p>
            <a:endParaRPr lang="en-AU"/>
          </a:p>
        </p:txBody>
      </p:sp>
      <p:sp>
        <p:nvSpPr>
          <p:cNvPr id="23" name="Text 20"/>
          <p:cNvSpPr/>
          <p:nvPr/>
        </p:nvSpPr>
        <p:spPr>
          <a:xfrm>
            <a:off x="3413760" y="128016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24" name="Text 21"/>
          <p:cNvSpPr/>
          <p:nvPr/>
        </p:nvSpPr>
        <p:spPr>
          <a:xfrm>
            <a:off x="4200144" y="1298448"/>
            <a:ext cx="160324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Customer</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Experience</a:t>
            </a:r>
            <a:endParaRPr lang="en-US" sz="1400" dirty="0"/>
          </a:p>
        </p:txBody>
      </p:sp>
      <p:sp>
        <p:nvSpPr>
          <p:cNvPr id="25" name="Shape 22"/>
          <p:cNvSpPr/>
          <p:nvPr/>
        </p:nvSpPr>
        <p:spPr>
          <a:xfrm>
            <a:off x="3395472" y="2103120"/>
            <a:ext cx="2362200" cy="36576"/>
          </a:xfrm>
          <a:prstGeom prst="rect">
            <a:avLst/>
          </a:prstGeom>
          <a:solidFill>
            <a:srgbClr val="2A2A2A"/>
          </a:solidFill>
          <a:ln w="12700">
            <a:solidFill>
              <a:srgbClr val="2A2A2A"/>
            </a:solidFill>
            <a:prstDash val="solid"/>
          </a:ln>
        </p:spPr>
        <p:txBody>
          <a:bodyPr/>
          <a:lstStyle/>
          <a:p>
            <a:endParaRPr lang="en-AU"/>
          </a:p>
        </p:txBody>
      </p:sp>
      <p:sp>
        <p:nvSpPr>
          <p:cNvPr id="26" name="Shape 23"/>
          <p:cNvSpPr/>
          <p:nvPr/>
        </p:nvSpPr>
        <p:spPr>
          <a:xfrm>
            <a:off x="3395472" y="2286000"/>
            <a:ext cx="45720" cy="621792"/>
          </a:xfrm>
          <a:prstGeom prst="rect">
            <a:avLst/>
          </a:prstGeom>
          <a:solidFill>
            <a:srgbClr val="2980B9"/>
          </a:solidFill>
          <a:ln w="12700">
            <a:solidFill>
              <a:srgbClr val="2980B9"/>
            </a:solidFill>
            <a:prstDash val="solid"/>
          </a:ln>
        </p:spPr>
        <p:txBody>
          <a:bodyPr/>
          <a:lstStyle/>
          <a:p>
            <a:endParaRPr lang="en-AU"/>
          </a:p>
        </p:txBody>
      </p:sp>
      <p:sp>
        <p:nvSpPr>
          <p:cNvPr id="27" name="Text 24"/>
          <p:cNvSpPr/>
          <p:nvPr/>
        </p:nvSpPr>
        <p:spPr>
          <a:xfrm>
            <a:off x="3532632" y="2231136"/>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3.4  Food &amp; beverage differentiation</a:t>
            </a:r>
            <a:endParaRPr lang="en-US" sz="1100" dirty="0"/>
          </a:p>
        </p:txBody>
      </p:sp>
      <p:sp>
        <p:nvSpPr>
          <p:cNvPr id="28" name="Shape 25"/>
          <p:cNvSpPr/>
          <p:nvPr/>
        </p:nvSpPr>
        <p:spPr>
          <a:xfrm>
            <a:off x="3395472" y="3127248"/>
            <a:ext cx="45720" cy="621792"/>
          </a:xfrm>
          <a:prstGeom prst="rect">
            <a:avLst/>
          </a:prstGeom>
          <a:solidFill>
            <a:srgbClr val="2980B9"/>
          </a:solidFill>
          <a:ln w="12700">
            <a:solidFill>
              <a:srgbClr val="2980B9"/>
            </a:solidFill>
            <a:prstDash val="solid"/>
          </a:ln>
        </p:spPr>
        <p:txBody>
          <a:bodyPr/>
          <a:lstStyle/>
          <a:p>
            <a:endParaRPr lang="en-AU"/>
          </a:p>
        </p:txBody>
      </p:sp>
      <p:sp>
        <p:nvSpPr>
          <p:cNvPr id="29" name="Text 26"/>
          <p:cNvSpPr/>
          <p:nvPr/>
        </p:nvSpPr>
        <p:spPr>
          <a:xfrm>
            <a:off x="3532632" y="3072384"/>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3.5  Digital experience redesign</a:t>
            </a:r>
            <a:endParaRPr lang="en-US" sz="1100" dirty="0"/>
          </a:p>
        </p:txBody>
      </p:sp>
      <p:sp>
        <p:nvSpPr>
          <p:cNvPr id="30" name="Shape 27"/>
          <p:cNvSpPr/>
          <p:nvPr/>
        </p:nvSpPr>
        <p:spPr>
          <a:xfrm>
            <a:off x="3395472" y="3968496"/>
            <a:ext cx="45720" cy="621792"/>
          </a:xfrm>
          <a:prstGeom prst="rect">
            <a:avLst/>
          </a:prstGeom>
          <a:solidFill>
            <a:srgbClr val="2980B9"/>
          </a:solidFill>
          <a:ln w="12700">
            <a:solidFill>
              <a:srgbClr val="2980B9"/>
            </a:solidFill>
            <a:prstDash val="solid"/>
          </a:ln>
        </p:spPr>
        <p:txBody>
          <a:bodyPr/>
          <a:lstStyle/>
          <a:p>
            <a:endParaRPr lang="en-AU"/>
          </a:p>
        </p:txBody>
      </p:sp>
      <p:sp>
        <p:nvSpPr>
          <p:cNvPr id="31" name="Text 28"/>
          <p:cNvSpPr/>
          <p:nvPr/>
        </p:nvSpPr>
        <p:spPr>
          <a:xfrm>
            <a:off x="3532632" y="3913632"/>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3.6  Online booking fee removal</a:t>
            </a:r>
            <a:endParaRPr lang="en-US" sz="1100" dirty="0"/>
          </a:p>
        </p:txBody>
      </p:sp>
      <p:sp>
        <p:nvSpPr>
          <p:cNvPr id="32" name="Shape 29"/>
          <p:cNvSpPr/>
          <p:nvPr/>
        </p:nvSpPr>
        <p:spPr>
          <a:xfrm>
            <a:off x="6050280" y="1115568"/>
            <a:ext cx="2682240" cy="3657600"/>
          </a:xfrm>
          <a:prstGeom prst="rect">
            <a:avLst/>
          </a:prstGeom>
          <a:solidFill>
            <a:srgbClr val="1A1A1A"/>
          </a:solidFill>
          <a:ln w="15240">
            <a:solidFill>
              <a:srgbClr val="27AE60"/>
            </a:solidFill>
            <a:prstDash val="solid"/>
          </a:ln>
          <a:effectLst>
            <a:outerShdw blurRad="127000" dist="38100" dir="8100000" algn="bl" rotWithShape="0">
              <a:srgbClr val="000000">
                <a:alpha val="40000"/>
              </a:srgbClr>
            </a:outerShdw>
          </a:effectLst>
        </p:spPr>
        <p:txBody>
          <a:bodyPr/>
          <a:lstStyle/>
          <a:p>
            <a:endParaRPr lang="en-AU"/>
          </a:p>
        </p:txBody>
      </p:sp>
      <p:sp>
        <p:nvSpPr>
          <p:cNvPr id="33" name="Shape 30"/>
          <p:cNvSpPr/>
          <p:nvPr/>
        </p:nvSpPr>
        <p:spPr>
          <a:xfrm>
            <a:off x="6050280" y="1115568"/>
            <a:ext cx="2682240" cy="64008"/>
          </a:xfrm>
          <a:prstGeom prst="rect">
            <a:avLst/>
          </a:prstGeom>
          <a:solidFill>
            <a:srgbClr val="27AE60"/>
          </a:solidFill>
          <a:ln w="12700">
            <a:solidFill>
              <a:srgbClr val="27AE60"/>
            </a:solidFill>
            <a:prstDash val="solid"/>
          </a:ln>
        </p:spPr>
        <p:txBody>
          <a:bodyPr/>
          <a:lstStyle/>
          <a:p>
            <a:endParaRPr lang="en-AU"/>
          </a:p>
        </p:txBody>
      </p:sp>
      <p:sp>
        <p:nvSpPr>
          <p:cNvPr id="34" name="Shape 31"/>
          <p:cNvSpPr/>
          <p:nvPr/>
        </p:nvSpPr>
        <p:spPr>
          <a:xfrm>
            <a:off x="6233160" y="1280160"/>
            <a:ext cx="658368" cy="658368"/>
          </a:xfrm>
          <a:prstGeom prst="ellipse">
            <a:avLst/>
          </a:prstGeom>
          <a:solidFill>
            <a:srgbClr val="27AE60"/>
          </a:solidFill>
          <a:ln w="12700">
            <a:solidFill>
              <a:srgbClr val="27AE60"/>
            </a:solidFill>
            <a:prstDash val="solid"/>
          </a:ln>
        </p:spPr>
        <p:txBody>
          <a:bodyPr/>
          <a:lstStyle/>
          <a:p>
            <a:endParaRPr lang="en-AU"/>
          </a:p>
        </p:txBody>
      </p:sp>
      <p:sp>
        <p:nvSpPr>
          <p:cNvPr id="35" name="Text 32"/>
          <p:cNvSpPr/>
          <p:nvPr/>
        </p:nvSpPr>
        <p:spPr>
          <a:xfrm>
            <a:off x="6233160" y="128016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36" name="Text 33"/>
          <p:cNvSpPr/>
          <p:nvPr/>
        </p:nvSpPr>
        <p:spPr>
          <a:xfrm>
            <a:off x="7019544" y="1298448"/>
            <a:ext cx="160324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Audience</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Growth</a:t>
            </a:r>
            <a:endParaRPr lang="en-US" sz="1400" dirty="0"/>
          </a:p>
        </p:txBody>
      </p:sp>
      <p:sp>
        <p:nvSpPr>
          <p:cNvPr id="37" name="Shape 34"/>
          <p:cNvSpPr/>
          <p:nvPr/>
        </p:nvSpPr>
        <p:spPr>
          <a:xfrm>
            <a:off x="6214872" y="2103120"/>
            <a:ext cx="2362200" cy="36576"/>
          </a:xfrm>
          <a:prstGeom prst="rect">
            <a:avLst/>
          </a:prstGeom>
          <a:solidFill>
            <a:srgbClr val="2A2A2A"/>
          </a:solidFill>
          <a:ln w="12700">
            <a:solidFill>
              <a:srgbClr val="2A2A2A"/>
            </a:solidFill>
            <a:prstDash val="solid"/>
          </a:ln>
        </p:spPr>
        <p:txBody>
          <a:bodyPr/>
          <a:lstStyle/>
          <a:p>
            <a:endParaRPr lang="en-AU"/>
          </a:p>
        </p:txBody>
      </p:sp>
      <p:sp>
        <p:nvSpPr>
          <p:cNvPr id="38" name="Shape 35"/>
          <p:cNvSpPr/>
          <p:nvPr/>
        </p:nvSpPr>
        <p:spPr>
          <a:xfrm>
            <a:off x="6214872" y="2286000"/>
            <a:ext cx="45720" cy="621792"/>
          </a:xfrm>
          <a:prstGeom prst="rect">
            <a:avLst/>
          </a:prstGeom>
          <a:solidFill>
            <a:srgbClr val="27AE60"/>
          </a:solidFill>
          <a:ln w="12700">
            <a:solidFill>
              <a:srgbClr val="27AE60"/>
            </a:solidFill>
            <a:prstDash val="solid"/>
          </a:ln>
        </p:spPr>
        <p:txBody>
          <a:bodyPr/>
          <a:lstStyle/>
          <a:p>
            <a:endParaRPr lang="en-AU"/>
          </a:p>
        </p:txBody>
      </p:sp>
      <p:sp>
        <p:nvSpPr>
          <p:cNvPr id="39" name="Text 36"/>
          <p:cNvSpPr/>
          <p:nvPr/>
        </p:nvSpPr>
        <p:spPr>
          <a:xfrm>
            <a:off x="6352032" y="2231136"/>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3.7  Regional market expansion</a:t>
            </a:r>
            <a:endParaRPr lang="en-US" sz="1100" dirty="0"/>
          </a:p>
        </p:txBody>
      </p:sp>
      <p:sp>
        <p:nvSpPr>
          <p:cNvPr id="40" name="Shape 37"/>
          <p:cNvSpPr/>
          <p:nvPr/>
        </p:nvSpPr>
        <p:spPr>
          <a:xfrm>
            <a:off x="6214872" y="3127248"/>
            <a:ext cx="45720" cy="621792"/>
          </a:xfrm>
          <a:prstGeom prst="rect">
            <a:avLst/>
          </a:prstGeom>
          <a:solidFill>
            <a:srgbClr val="27AE60"/>
          </a:solidFill>
          <a:ln w="12700">
            <a:solidFill>
              <a:srgbClr val="27AE60"/>
            </a:solidFill>
            <a:prstDash val="solid"/>
          </a:ln>
        </p:spPr>
        <p:txBody>
          <a:bodyPr/>
          <a:lstStyle/>
          <a:p>
            <a:endParaRPr lang="en-AU"/>
          </a:p>
        </p:txBody>
      </p:sp>
      <p:sp>
        <p:nvSpPr>
          <p:cNvPr id="41" name="Text 38"/>
          <p:cNvSpPr/>
          <p:nvPr/>
        </p:nvSpPr>
        <p:spPr>
          <a:xfrm>
            <a:off x="6352032" y="3072384"/>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3.8  Localised programming</a:t>
            </a:r>
            <a:endParaRPr lang="en-US" sz="1100" dirty="0"/>
          </a:p>
        </p:txBody>
      </p:sp>
      <p:sp>
        <p:nvSpPr>
          <p:cNvPr id="42" name="Shape 39"/>
          <p:cNvSpPr/>
          <p:nvPr/>
        </p:nvSpPr>
        <p:spPr>
          <a:xfrm>
            <a:off x="6214872" y="3968496"/>
            <a:ext cx="45720" cy="621792"/>
          </a:xfrm>
          <a:prstGeom prst="rect">
            <a:avLst/>
          </a:prstGeom>
          <a:solidFill>
            <a:srgbClr val="27AE60"/>
          </a:solidFill>
          <a:ln w="12700">
            <a:solidFill>
              <a:srgbClr val="27AE60"/>
            </a:solidFill>
            <a:prstDash val="solid"/>
          </a:ln>
        </p:spPr>
        <p:txBody>
          <a:bodyPr/>
          <a:lstStyle/>
          <a:p>
            <a:endParaRPr lang="en-AU"/>
          </a:p>
        </p:txBody>
      </p:sp>
      <p:sp>
        <p:nvSpPr>
          <p:cNvPr id="43" name="Text 40"/>
          <p:cNvSpPr/>
          <p:nvPr/>
        </p:nvSpPr>
        <p:spPr>
          <a:xfrm>
            <a:off x="6352032" y="3913632"/>
            <a:ext cx="2243328" cy="74980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3.9  Curated re-screening events</a:t>
            </a:r>
            <a:endParaRPr lang="en-US" sz="1100" dirty="0"/>
          </a:p>
        </p:txBody>
      </p:sp>
      <p:sp>
        <p:nvSpPr>
          <p:cNvPr id="44" name="Text 41"/>
          <p:cNvSpPr/>
          <p:nvPr/>
        </p:nvSpPr>
        <p:spPr>
          <a:xfrm>
            <a:off x="411480" y="4828032"/>
            <a:ext cx="8321040" cy="246888"/>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Each initiative is piloted at selected Melbourne venues, measured against clear KPIs, and scaled only where commercial impact is demonstrated.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Cluster A — Pricing Optimisation</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ACTIVATE IDLE INVENTORY · SMOOTH DEMAND ACROSS THE WEEK</a:t>
            </a:r>
            <a:endParaRPr lang="en-US" sz="950" dirty="0"/>
          </a:p>
        </p:txBody>
      </p:sp>
      <p:sp>
        <p:nvSpPr>
          <p:cNvPr id="8" name="Text 5"/>
          <p:cNvSpPr/>
          <p:nvPr/>
        </p:nvSpPr>
        <p:spPr>
          <a:xfrm>
            <a:off x="411480" y="1115568"/>
            <a:ext cx="2286000" cy="274320"/>
          </a:xfrm>
          <a:prstGeom prst="rect">
            <a:avLst/>
          </a:prstGeom>
          <a:noFill/>
          <a:ln/>
        </p:spPr>
        <p:txBody>
          <a:bodyPr wrap="square" lIns="0" tIns="0" rIns="0" bIns="0" rtlCol="0" anchor="ctr"/>
          <a:lstStyle/>
          <a:p>
            <a:pPr marL="0" indent="0">
              <a:buNone/>
            </a:pPr>
            <a:r>
              <a:rPr lang="en-US" sz="850" b="1" kern="0" spc="150" dirty="0">
                <a:solidFill>
                  <a:srgbClr val="C8102E"/>
                </a:solidFill>
                <a:latin typeface="Calibri" pitchFamily="34" charset="0"/>
                <a:ea typeface="Calibri" pitchFamily="34" charset="-122"/>
                <a:cs typeface="Calibri" pitchFamily="34" charset="-120"/>
              </a:rPr>
              <a:t>INITIATIVE</a:t>
            </a:r>
            <a:endParaRPr lang="en-US" sz="850" dirty="0"/>
          </a:p>
        </p:txBody>
      </p:sp>
      <p:sp>
        <p:nvSpPr>
          <p:cNvPr id="9" name="Text 6"/>
          <p:cNvSpPr/>
          <p:nvPr/>
        </p:nvSpPr>
        <p:spPr>
          <a:xfrm>
            <a:off x="2788920" y="1115568"/>
            <a:ext cx="1965960" cy="274320"/>
          </a:xfrm>
          <a:prstGeom prst="rect">
            <a:avLst/>
          </a:prstGeom>
          <a:noFill/>
          <a:ln/>
        </p:spPr>
        <p:txBody>
          <a:bodyPr wrap="square" lIns="0" tIns="0" rIns="0" bIns="0" rtlCol="0" anchor="ctr"/>
          <a:lstStyle/>
          <a:p>
            <a:pPr marL="0" indent="0">
              <a:buNone/>
            </a:pPr>
            <a:r>
              <a:rPr lang="en-US" sz="850" b="1" kern="0" spc="150" dirty="0">
                <a:solidFill>
                  <a:srgbClr val="C8102E"/>
                </a:solidFill>
                <a:latin typeface="Calibri" pitchFamily="34" charset="0"/>
                <a:ea typeface="Calibri" pitchFamily="34" charset="-122"/>
                <a:cs typeface="Calibri" pitchFamily="34" charset="-120"/>
              </a:rPr>
              <a:t>PROBLEM</a:t>
            </a:r>
            <a:endParaRPr lang="en-US" sz="850" dirty="0"/>
          </a:p>
        </p:txBody>
      </p:sp>
      <p:sp>
        <p:nvSpPr>
          <p:cNvPr id="10" name="Text 7"/>
          <p:cNvSpPr/>
          <p:nvPr/>
        </p:nvSpPr>
        <p:spPr>
          <a:xfrm>
            <a:off x="4846320" y="1115568"/>
            <a:ext cx="1965960" cy="274320"/>
          </a:xfrm>
          <a:prstGeom prst="rect">
            <a:avLst/>
          </a:prstGeom>
          <a:noFill/>
          <a:ln/>
        </p:spPr>
        <p:txBody>
          <a:bodyPr wrap="square" lIns="0" tIns="0" rIns="0" bIns="0" rtlCol="0" anchor="ctr"/>
          <a:lstStyle/>
          <a:p>
            <a:pPr marL="0" indent="0">
              <a:buNone/>
            </a:pPr>
            <a:r>
              <a:rPr lang="en-US" sz="850" b="1" kern="0" spc="150" dirty="0">
                <a:solidFill>
                  <a:srgbClr val="C8102E"/>
                </a:solidFill>
                <a:latin typeface="Calibri" pitchFamily="34" charset="0"/>
                <a:ea typeface="Calibri" pitchFamily="34" charset="-122"/>
                <a:cs typeface="Calibri" pitchFamily="34" charset="-120"/>
              </a:rPr>
              <a:t>ACTION</a:t>
            </a:r>
            <a:endParaRPr lang="en-US" sz="850" dirty="0"/>
          </a:p>
        </p:txBody>
      </p:sp>
      <p:sp>
        <p:nvSpPr>
          <p:cNvPr id="11" name="Text 8"/>
          <p:cNvSpPr/>
          <p:nvPr/>
        </p:nvSpPr>
        <p:spPr>
          <a:xfrm>
            <a:off x="6903720" y="1115568"/>
            <a:ext cx="1920240" cy="274320"/>
          </a:xfrm>
          <a:prstGeom prst="rect">
            <a:avLst/>
          </a:prstGeom>
          <a:noFill/>
          <a:ln/>
        </p:spPr>
        <p:txBody>
          <a:bodyPr wrap="square" lIns="0" tIns="0" rIns="0" bIns="0" rtlCol="0" anchor="ctr"/>
          <a:lstStyle/>
          <a:p>
            <a:pPr marL="0" indent="0">
              <a:buNone/>
            </a:pPr>
            <a:r>
              <a:rPr lang="en-US" sz="850" b="1" kern="0" spc="150" dirty="0">
                <a:solidFill>
                  <a:srgbClr val="C8102E"/>
                </a:solidFill>
                <a:latin typeface="Calibri" pitchFamily="34" charset="0"/>
                <a:ea typeface="Calibri" pitchFamily="34" charset="-122"/>
                <a:cs typeface="Calibri" pitchFamily="34" charset="-120"/>
              </a:rPr>
              <a:t>OUTCOME</a:t>
            </a:r>
            <a:endParaRPr lang="en-US" sz="850" dirty="0"/>
          </a:p>
        </p:txBody>
      </p:sp>
      <p:sp>
        <p:nvSpPr>
          <p:cNvPr id="12" name="Shape 9"/>
          <p:cNvSpPr/>
          <p:nvPr/>
        </p:nvSpPr>
        <p:spPr>
          <a:xfrm>
            <a:off x="411480" y="1389888"/>
            <a:ext cx="8321040" cy="45720"/>
          </a:xfrm>
          <a:prstGeom prst="rect">
            <a:avLst/>
          </a:prstGeom>
          <a:solidFill>
            <a:srgbClr val="C8102E"/>
          </a:solidFill>
          <a:ln w="12700">
            <a:solidFill>
              <a:srgbClr val="C8102E"/>
            </a:solidFill>
            <a:prstDash val="solid"/>
          </a:ln>
        </p:spPr>
        <p:txBody>
          <a:bodyPr/>
          <a:lstStyle/>
          <a:p>
            <a:endParaRPr lang="en-AU"/>
          </a:p>
        </p:txBody>
      </p:sp>
      <p:sp>
        <p:nvSpPr>
          <p:cNvPr id="13" name="Shape 10"/>
          <p:cNvSpPr/>
          <p:nvPr/>
        </p:nvSpPr>
        <p:spPr>
          <a:xfrm>
            <a:off x="411480" y="1536192"/>
            <a:ext cx="8321040" cy="1060704"/>
          </a:xfrm>
          <a:prstGeom prst="rect">
            <a:avLst/>
          </a:prstGeom>
          <a:solidFill>
            <a:srgbClr val="1A1A1A"/>
          </a:solidFill>
          <a:ln w="6350">
            <a:solidFill>
              <a:srgbClr val="2A2A2A"/>
            </a:solidFill>
            <a:prstDash val="solid"/>
          </a:ln>
        </p:spPr>
        <p:txBody>
          <a:bodyPr/>
          <a:lstStyle/>
          <a:p>
            <a:endParaRPr lang="en-AU"/>
          </a:p>
        </p:txBody>
      </p:sp>
      <p:sp>
        <p:nvSpPr>
          <p:cNvPr id="14" name="Shape 11"/>
          <p:cNvSpPr/>
          <p:nvPr/>
        </p:nvSpPr>
        <p:spPr>
          <a:xfrm>
            <a:off x="411480" y="1536192"/>
            <a:ext cx="45720" cy="1060704"/>
          </a:xfrm>
          <a:prstGeom prst="rect">
            <a:avLst/>
          </a:prstGeom>
          <a:solidFill>
            <a:srgbClr val="C8102E"/>
          </a:solidFill>
          <a:ln w="12700">
            <a:solidFill>
              <a:srgbClr val="C8102E"/>
            </a:solidFill>
            <a:prstDash val="solid"/>
          </a:ln>
        </p:spPr>
        <p:txBody>
          <a:bodyPr/>
          <a:lstStyle/>
          <a:p>
            <a:endParaRPr lang="en-AU"/>
          </a:p>
        </p:txBody>
      </p:sp>
      <p:sp>
        <p:nvSpPr>
          <p:cNvPr id="15" name="Shape 12"/>
          <p:cNvSpPr/>
          <p:nvPr/>
        </p:nvSpPr>
        <p:spPr>
          <a:xfrm>
            <a:off x="502920" y="1856232"/>
            <a:ext cx="402336" cy="402336"/>
          </a:xfrm>
          <a:prstGeom prst="ellipse">
            <a:avLst/>
          </a:prstGeom>
          <a:solidFill>
            <a:srgbClr val="C8102E"/>
          </a:solidFill>
          <a:ln w="12700">
            <a:solidFill>
              <a:srgbClr val="C8102E"/>
            </a:solidFill>
            <a:prstDash val="solid"/>
          </a:ln>
        </p:spPr>
        <p:txBody>
          <a:bodyPr/>
          <a:lstStyle/>
          <a:p>
            <a:endParaRPr lang="en-AU"/>
          </a:p>
        </p:txBody>
      </p:sp>
      <p:sp>
        <p:nvSpPr>
          <p:cNvPr id="16" name="Text 13"/>
          <p:cNvSpPr/>
          <p:nvPr/>
        </p:nvSpPr>
        <p:spPr>
          <a:xfrm>
            <a:off x="502920" y="1856232"/>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3.1</a:t>
            </a:r>
            <a:endParaRPr lang="en-US" sz="900" dirty="0"/>
          </a:p>
        </p:txBody>
      </p:sp>
      <p:sp>
        <p:nvSpPr>
          <p:cNvPr id="17" name="Text 14"/>
          <p:cNvSpPr/>
          <p:nvPr/>
        </p:nvSpPr>
        <p:spPr>
          <a:xfrm>
            <a:off x="1005840" y="1627632"/>
            <a:ext cx="1627632" cy="8778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Differentiated</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Seat Pricing</a:t>
            </a:r>
            <a:endParaRPr lang="en-US" sz="1050" dirty="0"/>
          </a:p>
        </p:txBody>
      </p:sp>
      <p:sp>
        <p:nvSpPr>
          <p:cNvPr id="18" name="Text 15"/>
          <p:cNvSpPr/>
          <p:nvPr/>
        </p:nvSpPr>
        <p:spPr>
          <a:xfrm>
            <a:off x="2788920" y="1627632"/>
            <a:ext cx="1965960" cy="87782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Front and side seats go unsold in low-fill sessions, representing structurally idle inventory.</a:t>
            </a:r>
            <a:endParaRPr lang="en-US" sz="950" dirty="0"/>
          </a:p>
        </p:txBody>
      </p:sp>
      <p:sp>
        <p:nvSpPr>
          <p:cNvPr id="19" name="Text 16"/>
          <p:cNvSpPr/>
          <p:nvPr/>
        </p:nvSpPr>
        <p:spPr>
          <a:xfrm>
            <a:off x="4846320" y="1618488"/>
            <a:ext cx="1965960" cy="877824"/>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Lower pricing only on underperforming seats, while peak and preferred seats remain unchanged.</a:t>
            </a:r>
            <a:endParaRPr lang="en-US" sz="950" dirty="0"/>
          </a:p>
        </p:txBody>
      </p:sp>
      <p:sp>
        <p:nvSpPr>
          <p:cNvPr id="20" name="Text 17"/>
          <p:cNvSpPr/>
          <p:nvPr/>
        </p:nvSpPr>
        <p:spPr>
          <a:xfrm>
            <a:off x="6903720" y="1614653"/>
            <a:ext cx="1920240" cy="87782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Incremental revenue from seats that would otherwise remain empty, without diluting peak pricing.</a:t>
            </a:r>
            <a:endParaRPr lang="en-US" sz="950" dirty="0"/>
          </a:p>
        </p:txBody>
      </p:sp>
      <p:sp>
        <p:nvSpPr>
          <p:cNvPr id="21" name="Shape 18"/>
          <p:cNvSpPr/>
          <p:nvPr/>
        </p:nvSpPr>
        <p:spPr>
          <a:xfrm>
            <a:off x="411480" y="2670048"/>
            <a:ext cx="8321040" cy="1060704"/>
          </a:xfrm>
          <a:prstGeom prst="rect">
            <a:avLst/>
          </a:prstGeom>
          <a:solidFill>
            <a:srgbClr val="161616"/>
          </a:solidFill>
          <a:ln w="6350">
            <a:solidFill>
              <a:srgbClr val="2A2A2A"/>
            </a:solidFill>
            <a:prstDash val="solid"/>
          </a:ln>
        </p:spPr>
        <p:txBody>
          <a:bodyPr/>
          <a:lstStyle/>
          <a:p>
            <a:endParaRPr lang="en-AU"/>
          </a:p>
        </p:txBody>
      </p:sp>
      <p:sp>
        <p:nvSpPr>
          <p:cNvPr id="22" name="Shape 19"/>
          <p:cNvSpPr/>
          <p:nvPr/>
        </p:nvSpPr>
        <p:spPr>
          <a:xfrm>
            <a:off x="411480" y="2670048"/>
            <a:ext cx="45720" cy="1060704"/>
          </a:xfrm>
          <a:prstGeom prst="rect">
            <a:avLst/>
          </a:prstGeom>
          <a:solidFill>
            <a:srgbClr val="C8102E"/>
          </a:solidFill>
          <a:ln w="12700">
            <a:solidFill>
              <a:srgbClr val="C8102E"/>
            </a:solidFill>
            <a:prstDash val="solid"/>
          </a:ln>
        </p:spPr>
        <p:txBody>
          <a:bodyPr/>
          <a:lstStyle/>
          <a:p>
            <a:endParaRPr lang="en-AU"/>
          </a:p>
        </p:txBody>
      </p:sp>
      <p:sp>
        <p:nvSpPr>
          <p:cNvPr id="23" name="Shape 20"/>
          <p:cNvSpPr/>
          <p:nvPr/>
        </p:nvSpPr>
        <p:spPr>
          <a:xfrm>
            <a:off x="502920" y="2990088"/>
            <a:ext cx="402336" cy="402336"/>
          </a:xfrm>
          <a:prstGeom prst="ellipse">
            <a:avLst/>
          </a:prstGeom>
          <a:solidFill>
            <a:srgbClr val="C8102E"/>
          </a:solidFill>
          <a:ln w="12700">
            <a:solidFill>
              <a:srgbClr val="C8102E"/>
            </a:solidFill>
            <a:prstDash val="solid"/>
          </a:ln>
        </p:spPr>
        <p:txBody>
          <a:bodyPr/>
          <a:lstStyle/>
          <a:p>
            <a:endParaRPr lang="en-AU"/>
          </a:p>
        </p:txBody>
      </p:sp>
      <p:sp>
        <p:nvSpPr>
          <p:cNvPr id="24" name="Text 21"/>
          <p:cNvSpPr/>
          <p:nvPr/>
        </p:nvSpPr>
        <p:spPr>
          <a:xfrm>
            <a:off x="502920" y="2990088"/>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3.2</a:t>
            </a:r>
            <a:endParaRPr lang="en-US" sz="900" dirty="0"/>
          </a:p>
        </p:txBody>
      </p:sp>
      <p:sp>
        <p:nvSpPr>
          <p:cNvPr id="25" name="Text 22"/>
          <p:cNvSpPr/>
          <p:nvPr/>
        </p:nvSpPr>
        <p:spPr>
          <a:xfrm>
            <a:off x="1005840" y="2761488"/>
            <a:ext cx="1627632" cy="8778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Value Pricing for</a:t>
            </a:r>
            <a:r>
              <a:rPr lang="en-US" sz="1050" dirty="0"/>
              <a:t> </a:t>
            </a:r>
            <a:r>
              <a:rPr lang="en-US" sz="1050" b="1" dirty="0">
                <a:solidFill>
                  <a:srgbClr val="FFFFFF"/>
                </a:solidFill>
                <a:latin typeface="Calibri" pitchFamily="34" charset="0"/>
                <a:ea typeface="Calibri" pitchFamily="34" charset="-122"/>
                <a:cs typeface="Calibri" pitchFamily="34" charset="-120"/>
              </a:rPr>
              <a:t>Lower-Profile Titles</a:t>
            </a:r>
            <a:endParaRPr lang="en-US" sz="1050" dirty="0"/>
          </a:p>
        </p:txBody>
      </p:sp>
      <p:sp>
        <p:nvSpPr>
          <p:cNvPr id="26" name="Text 23"/>
          <p:cNvSpPr/>
          <p:nvPr/>
        </p:nvSpPr>
        <p:spPr>
          <a:xfrm>
            <a:off x="2788920" y="2761488"/>
            <a:ext cx="1965960" cy="87782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Below-average occupancy for non-blockbuster films reduces overall session economics.</a:t>
            </a:r>
            <a:endParaRPr lang="en-US" sz="950" dirty="0"/>
          </a:p>
        </p:txBody>
      </p:sp>
      <p:sp>
        <p:nvSpPr>
          <p:cNvPr id="27" name="Text 24"/>
          <p:cNvSpPr/>
          <p:nvPr/>
        </p:nvSpPr>
        <p:spPr>
          <a:xfrm>
            <a:off x="4846320" y="2679192"/>
            <a:ext cx="1965960" cy="877824"/>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Targeted value pricing for selected lower-profile screenings. </a:t>
            </a:r>
            <a:endParaRPr lang="en-US" sz="950" dirty="0"/>
          </a:p>
        </p:txBody>
      </p:sp>
      <p:sp>
        <p:nvSpPr>
          <p:cNvPr id="28" name="Text 25"/>
          <p:cNvSpPr/>
          <p:nvPr/>
        </p:nvSpPr>
        <p:spPr>
          <a:xfrm>
            <a:off x="6903012" y="2734056"/>
            <a:ext cx="1920240" cy="87782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Higher fill rates, better in-theatre</a:t>
            </a:r>
          </a:p>
          <a:p>
            <a:pPr marL="0" indent="0">
              <a:buNone/>
            </a:pPr>
            <a:r>
              <a:rPr lang="en-US" sz="950" b="1" dirty="0">
                <a:solidFill>
                  <a:srgbClr val="2ECC71"/>
                </a:solidFill>
                <a:latin typeface="Calibri" pitchFamily="34" charset="0"/>
                <a:ea typeface="Calibri" pitchFamily="34" charset="-122"/>
                <a:cs typeface="Calibri" pitchFamily="34" charset="-120"/>
              </a:rPr>
              <a:t>atmosphere, stronger word of </a:t>
            </a:r>
          </a:p>
          <a:p>
            <a:pPr marL="0" indent="0">
              <a:buNone/>
            </a:pPr>
            <a:r>
              <a:rPr lang="en-US" sz="950" b="1" dirty="0">
                <a:solidFill>
                  <a:srgbClr val="2ECC71"/>
                </a:solidFill>
                <a:latin typeface="Calibri" pitchFamily="34" charset="0"/>
                <a:ea typeface="Calibri" pitchFamily="34" charset="-122"/>
                <a:cs typeface="Calibri" pitchFamily="34" charset="-120"/>
              </a:rPr>
              <a:t>mouth.</a:t>
            </a:r>
            <a:endParaRPr lang="en-US" sz="950" dirty="0"/>
          </a:p>
        </p:txBody>
      </p:sp>
      <p:sp>
        <p:nvSpPr>
          <p:cNvPr id="29" name="Shape 26"/>
          <p:cNvSpPr/>
          <p:nvPr/>
        </p:nvSpPr>
        <p:spPr>
          <a:xfrm>
            <a:off x="411480" y="3803904"/>
            <a:ext cx="8321040" cy="1060704"/>
          </a:xfrm>
          <a:prstGeom prst="rect">
            <a:avLst/>
          </a:prstGeom>
          <a:solidFill>
            <a:srgbClr val="1A1A1A"/>
          </a:solidFill>
          <a:ln w="6350">
            <a:solidFill>
              <a:srgbClr val="2A2A2A"/>
            </a:solidFill>
            <a:prstDash val="solid"/>
          </a:ln>
        </p:spPr>
        <p:txBody>
          <a:bodyPr/>
          <a:lstStyle/>
          <a:p>
            <a:endParaRPr lang="en-AU"/>
          </a:p>
        </p:txBody>
      </p:sp>
      <p:sp>
        <p:nvSpPr>
          <p:cNvPr id="30" name="Shape 27"/>
          <p:cNvSpPr/>
          <p:nvPr/>
        </p:nvSpPr>
        <p:spPr>
          <a:xfrm>
            <a:off x="411480" y="3803904"/>
            <a:ext cx="45720" cy="1060704"/>
          </a:xfrm>
          <a:prstGeom prst="rect">
            <a:avLst/>
          </a:prstGeom>
          <a:solidFill>
            <a:srgbClr val="C8102E"/>
          </a:solidFill>
          <a:ln w="12700">
            <a:solidFill>
              <a:srgbClr val="C8102E"/>
            </a:solidFill>
            <a:prstDash val="solid"/>
          </a:ln>
        </p:spPr>
        <p:txBody>
          <a:bodyPr/>
          <a:lstStyle/>
          <a:p>
            <a:endParaRPr lang="en-AU"/>
          </a:p>
        </p:txBody>
      </p:sp>
      <p:sp>
        <p:nvSpPr>
          <p:cNvPr id="31" name="Shape 28"/>
          <p:cNvSpPr/>
          <p:nvPr/>
        </p:nvSpPr>
        <p:spPr>
          <a:xfrm>
            <a:off x="502920" y="4123944"/>
            <a:ext cx="402336" cy="402336"/>
          </a:xfrm>
          <a:prstGeom prst="ellipse">
            <a:avLst/>
          </a:prstGeom>
          <a:solidFill>
            <a:srgbClr val="C8102E"/>
          </a:solidFill>
          <a:ln w="12700">
            <a:solidFill>
              <a:srgbClr val="C8102E"/>
            </a:solidFill>
            <a:prstDash val="solid"/>
          </a:ln>
        </p:spPr>
        <p:txBody>
          <a:bodyPr/>
          <a:lstStyle/>
          <a:p>
            <a:endParaRPr lang="en-AU"/>
          </a:p>
        </p:txBody>
      </p:sp>
      <p:sp>
        <p:nvSpPr>
          <p:cNvPr id="32" name="Text 29"/>
          <p:cNvSpPr/>
          <p:nvPr/>
        </p:nvSpPr>
        <p:spPr>
          <a:xfrm>
            <a:off x="502920" y="4123944"/>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3.3</a:t>
            </a:r>
            <a:endParaRPr lang="en-US" sz="900" dirty="0"/>
          </a:p>
        </p:txBody>
      </p:sp>
      <p:sp>
        <p:nvSpPr>
          <p:cNvPr id="33" name="Text 30"/>
          <p:cNvSpPr/>
          <p:nvPr/>
        </p:nvSpPr>
        <p:spPr>
          <a:xfrm>
            <a:off x="1005840" y="3895344"/>
            <a:ext cx="1627632" cy="8778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Weekday Value</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Pricing (Monday to Thursday)</a:t>
            </a:r>
            <a:endParaRPr lang="en-US" sz="1050" dirty="0"/>
          </a:p>
        </p:txBody>
      </p:sp>
      <p:sp>
        <p:nvSpPr>
          <p:cNvPr id="34" name="Text 31"/>
          <p:cNvSpPr/>
          <p:nvPr/>
        </p:nvSpPr>
        <p:spPr>
          <a:xfrm>
            <a:off x="2788920" y="3895344"/>
            <a:ext cx="1965960" cy="87782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There is a structural demand gap from Monday to Thursday, with excess capacity sitting unused every week.</a:t>
            </a:r>
            <a:endParaRPr lang="en-US" sz="950" dirty="0"/>
          </a:p>
        </p:txBody>
      </p:sp>
      <p:sp>
        <p:nvSpPr>
          <p:cNvPr id="35" name="Text 32"/>
          <p:cNvSpPr/>
          <p:nvPr/>
        </p:nvSpPr>
        <p:spPr>
          <a:xfrm>
            <a:off x="4846320" y="3823962"/>
            <a:ext cx="1965960" cy="877824"/>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Consistent weekday offer targeting students and flexible workers.</a:t>
            </a:r>
            <a:endParaRPr lang="en-US" sz="950" dirty="0"/>
          </a:p>
        </p:txBody>
      </p:sp>
      <p:sp>
        <p:nvSpPr>
          <p:cNvPr id="36" name="Text 33"/>
          <p:cNvSpPr/>
          <p:nvPr/>
        </p:nvSpPr>
        <p:spPr>
          <a:xfrm>
            <a:off x="6903720" y="3895344"/>
            <a:ext cx="1920240" cy="877824"/>
          </a:xfrm>
          <a:prstGeom prst="rect">
            <a:avLst/>
          </a:prstGeom>
          <a:noFill/>
          <a:ln/>
        </p:spPr>
        <p:txBody>
          <a:bodyPr wrap="square" lIns="0" tIns="0" rIns="0" bIns="0" rtlCol="0" anchor="ctr"/>
          <a:lstStyle/>
          <a:p>
            <a:pPr marL="0" indent="0">
              <a:buNone/>
            </a:pPr>
            <a:r>
              <a:rPr lang="en-US" sz="950" b="1" dirty="0">
                <a:solidFill>
                  <a:srgbClr val="2ECC71"/>
                </a:solidFill>
                <a:latin typeface="Calibri" pitchFamily="34" charset="0"/>
                <a:ea typeface="Calibri" pitchFamily="34" charset="-122"/>
                <a:cs typeface="Calibri" pitchFamily="34" charset="-120"/>
              </a:rPr>
              <a:t>Smoother weekly revenue, higher utilization and stronger repeat attendance.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Cluster B — Customer Experience</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LIFT PER-VISIT VALUE · INCREASE DIGITAL CONVERSION</a:t>
            </a:r>
            <a:endParaRPr lang="en-US" sz="950" dirty="0"/>
          </a:p>
        </p:txBody>
      </p:sp>
      <p:sp>
        <p:nvSpPr>
          <p:cNvPr id="8" name="Shape 5"/>
          <p:cNvSpPr/>
          <p:nvPr/>
        </p:nvSpPr>
        <p:spPr>
          <a:xfrm>
            <a:off x="411480" y="1115568"/>
            <a:ext cx="2682240" cy="3730752"/>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9" name="Shape 6"/>
          <p:cNvSpPr/>
          <p:nvPr/>
        </p:nvSpPr>
        <p:spPr>
          <a:xfrm>
            <a:off x="411480" y="1115568"/>
            <a:ext cx="2682240" cy="64008"/>
          </a:xfrm>
          <a:prstGeom prst="rect">
            <a:avLst/>
          </a:prstGeom>
          <a:solidFill>
            <a:srgbClr val="C8102E"/>
          </a:solidFill>
          <a:ln w="12700">
            <a:solidFill>
              <a:srgbClr val="C8102E"/>
            </a:solidFill>
            <a:prstDash val="solid"/>
          </a:ln>
        </p:spPr>
        <p:txBody>
          <a:bodyPr/>
          <a:lstStyle/>
          <a:p>
            <a:endParaRPr lang="en-AU"/>
          </a:p>
        </p:txBody>
      </p:sp>
      <p:sp>
        <p:nvSpPr>
          <p:cNvPr id="10" name="Shape 7"/>
          <p:cNvSpPr/>
          <p:nvPr/>
        </p:nvSpPr>
        <p:spPr>
          <a:xfrm>
            <a:off x="594360" y="1280160"/>
            <a:ext cx="621792" cy="621792"/>
          </a:xfrm>
          <a:prstGeom prst="ellipse">
            <a:avLst/>
          </a:prstGeom>
          <a:solidFill>
            <a:srgbClr val="C8102E"/>
          </a:solidFill>
          <a:ln w="12700">
            <a:solidFill>
              <a:srgbClr val="C8102E"/>
            </a:solidFill>
            <a:prstDash val="solid"/>
          </a:ln>
        </p:spPr>
        <p:txBody>
          <a:bodyPr/>
          <a:lstStyle/>
          <a:p>
            <a:endParaRPr lang="en-AU"/>
          </a:p>
        </p:txBody>
      </p:sp>
      <p:pic>
        <p:nvPicPr>
          <p:cNvPr id="11" name="Image 1" descr="preencoded.png"/>
          <p:cNvPicPr>
            <a:picLocks noChangeAspect="1"/>
          </p:cNvPicPr>
          <p:nvPr/>
        </p:nvPicPr>
        <p:blipFill>
          <a:blip r:embed="rId4"/>
          <a:stretch>
            <a:fillRect/>
          </a:stretch>
        </p:blipFill>
        <p:spPr>
          <a:xfrm>
            <a:off x="649224" y="1371600"/>
            <a:ext cx="466344" cy="466344"/>
          </a:xfrm>
          <a:prstGeom prst="rect">
            <a:avLst/>
          </a:prstGeom>
        </p:spPr>
      </p:pic>
      <p:sp>
        <p:nvSpPr>
          <p:cNvPr id="12" name="Text 8"/>
          <p:cNvSpPr/>
          <p:nvPr/>
        </p:nvSpPr>
        <p:spPr>
          <a:xfrm>
            <a:off x="1325880" y="1298448"/>
            <a:ext cx="457200" cy="27432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3.4</a:t>
            </a:r>
            <a:endParaRPr lang="en-US" sz="900" dirty="0"/>
          </a:p>
        </p:txBody>
      </p:sp>
      <p:sp>
        <p:nvSpPr>
          <p:cNvPr id="13" name="Text 9"/>
          <p:cNvSpPr/>
          <p:nvPr/>
        </p:nvSpPr>
        <p:spPr>
          <a:xfrm>
            <a:off x="576072" y="2029968"/>
            <a:ext cx="2407920" cy="658368"/>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Food &amp; Beverage</a:t>
            </a:r>
            <a:endParaRPr lang="en-US" sz="1350" dirty="0"/>
          </a:p>
          <a:p>
            <a:pPr marL="0" indent="0">
              <a:buNone/>
            </a:pPr>
            <a:r>
              <a:rPr lang="en-US" sz="1350" b="1" dirty="0">
                <a:solidFill>
                  <a:srgbClr val="FFFFFF"/>
                </a:solidFill>
                <a:latin typeface="Calibri" pitchFamily="34" charset="0"/>
                <a:ea typeface="Calibri" pitchFamily="34" charset="-122"/>
                <a:cs typeface="Calibri" pitchFamily="34" charset="-120"/>
              </a:rPr>
              <a:t>Differentiation</a:t>
            </a:r>
            <a:endParaRPr lang="en-US" sz="1350" dirty="0"/>
          </a:p>
        </p:txBody>
      </p:sp>
      <p:sp>
        <p:nvSpPr>
          <p:cNvPr id="14" name="Text 10"/>
          <p:cNvSpPr/>
          <p:nvPr/>
        </p:nvSpPr>
        <p:spPr>
          <a:xfrm>
            <a:off x="576072" y="2743200"/>
            <a:ext cx="2407920" cy="1298448"/>
          </a:xfrm>
          <a:prstGeom prst="rect">
            <a:avLst/>
          </a:prstGeom>
          <a:noFill/>
          <a:ln/>
        </p:spPr>
        <p:txBody>
          <a:bodyPr wrap="square" lIns="0" tIns="0" rIns="0" bIns="0" rtlCol="0" anchor="t"/>
          <a:lstStyle/>
          <a:p>
            <a:pPr marL="0" indent="0">
              <a:buNone/>
            </a:pPr>
            <a:r>
              <a:rPr lang="en-US" sz="1050" dirty="0">
                <a:solidFill>
                  <a:srgbClr val="888888"/>
                </a:solidFill>
                <a:latin typeface="Calibri" pitchFamily="34" charset="0"/>
                <a:ea typeface="Calibri" pitchFamily="34" charset="-122"/>
                <a:cs typeface="Calibri" pitchFamily="34" charset="-120"/>
              </a:rPr>
              <a:t>Low-cost concessions upgrades, such as flavoured popcorn and enhanced nachos, to lift transaction size with minimal operational disruption.</a:t>
            </a:r>
            <a:endParaRPr lang="en-US" sz="1050" dirty="0"/>
          </a:p>
        </p:txBody>
      </p:sp>
      <p:sp>
        <p:nvSpPr>
          <p:cNvPr id="15" name="Shape 11"/>
          <p:cNvSpPr/>
          <p:nvPr/>
        </p:nvSpPr>
        <p:spPr>
          <a:xfrm>
            <a:off x="576072" y="4114800"/>
            <a:ext cx="2407920" cy="621792"/>
          </a:xfrm>
          <a:prstGeom prst="rect">
            <a:avLst/>
          </a:prstGeom>
          <a:solidFill>
            <a:srgbClr val="111111"/>
          </a:solidFill>
          <a:ln w="12700">
            <a:solidFill>
              <a:srgbClr val="C8102E"/>
            </a:solidFill>
            <a:prstDash val="solid"/>
          </a:ln>
        </p:spPr>
        <p:txBody>
          <a:bodyPr/>
          <a:lstStyle/>
          <a:p>
            <a:endParaRPr lang="en-AU"/>
          </a:p>
        </p:txBody>
      </p:sp>
      <p:sp>
        <p:nvSpPr>
          <p:cNvPr id="16" name="Text 12"/>
          <p:cNvSpPr/>
          <p:nvPr/>
        </p:nvSpPr>
        <p:spPr>
          <a:xfrm>
            <a:off x="667512" y="4133088"/>
            <a:ext cx="2270760" cy="329184"/>
          </a:xfrm>
          <a:prstGeom prst="rect">
            <a:avLst/>
          </a:prstGeom>
          <a:noFill/>
          <a:ln/>
        </p:spPr>
        <p:txBody>
          <a:bodyPr wrap="square" lIns="0" tIns="0" rIns="0" bIns="0" rtlCol="0" anchor="ctr"/>
          <a:lstStyle/>
          <a:p>
            <a:pPr marL="0" indent="0">
              <a:buNone/>
            </a:pPr>
            <a:r>
              <a:rPr lang="en-US" sz="1700" b="1" dirty="0">
                <a:solidFill>
                  <a:srgbClr val="C8102E"/>
                </a:solidFill>
                <a:latin typeface="Calibri" pitchFamily="34" charset="0"/>
                <a:ea typeface="Calibri" pitchFamily="34" charset="-122"/>
                <a:cs typeface="Calibri" pitchFamily="34" charset="-120"/>
              </a:rPr>
              <a:t>+$1.50 to $2.00</a:t>
            </a:r>
            <a:endParaRPr lang="en-US" sz="1700" dirty="0"/>
          </a:p>
        </p:txBody>
      </p:sp>
      <p:sp>
        <p:nvSpPr>
          <p:cNvPr id="17" name="Text 13"/>
          <p:cNvSpPr/>
          <p:nvPr/>
        </p:nvSpPr>
        <p:spPr>
          <a:xfrm>
            <a:off x="667512" y="4453128"/>
            <a:ext cx="2270760" cy="237744"/>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per customer visit · high-margin uplift</a:t>
            </a:r>
            <a:endParaRPr lang="en-US" sz="850" dirty="0"/>
          </a:p>
        </p:txBody>
      </p:sp>
      <p:sp>
        <p:nvSpPr>
          <p:cNvPr id="18" name="Shape 14"/>
          <p:cNvSpPr/>
          <p:nvPr/>
        </p:nvSpPr>
        <p:spPr>
          <a:xfrm>
            <a:off x="3230880" y="1115568"/>
            <a:ext cx="2682240" cy="3730752"/>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9" name="Shape 15"/>
          <p:cNvSpPr/>
          <p:nvPr/>
        </p:nvSpPr>
        <p:spPr>
          <a:xfrm>
            <a:off x="3230880" y="1115568"/>
            <a:ext cx="2682240" cy="64008"/>
          </a:xfrm>
          <a:prstGeom prst="rect">
            <a:avLst/>
          </a:prstGeom>
          <a:solidFill>
            <a:srgbClr val="2980B9"/>
          </a:solidFill>
          <a:ln w="12700">
            <a:solidFill>
              <a:srgbClr val="2980B9"/>
            </a:solidFill>
            <a:prstDash val="solid"/>
          </a:ln>
        </p:spPr>
        <p:txBody>
          <a:bodyPr/>
          <a:lstStyle/>
          <a:p>
            <a:endParaRPr lang="en-AU"/>
          </a:p>
        </p:txBody>
      </p:sp>
      <p:sp>
        <p:nvSpPr>
          <p:cNvPr id="20" name="Shape 16"/>
          <p:cNvSpPr/>
          <p:nvPr/>
        </p:nvSpPr>
        <p:spPr>
          <a:xfrm>
            <a:off x="3413760" y="1280160"/>
            <a:ext cx="621792" cy="621792"/>
          </a:xfrm>
          <a:prstGeom prst="ellipse">
            <a:avLst/>
          </a:prstGeom>
          <a:solidFill>
            <a:srgbClr val="2980B9"/>
          </a:solidFill>
          <a:ln w="12700">
            <a:solidFill>
              <a:srgbClr val="2980B9"/>
            </a:solidFill>
            <a:prstDash val="solid"/>
          </a:ln>
        </p:spPr>
        <p:txBody>
          <a:bodyPr/>
          <a:lstStyle/>
          <a:p>
            <a:endParaRPr lang="en-AU"/>
          </a:p>
        </p:txBody>
      </p:sp>
      <p:pic>
        <p:nvPicPr>
          <p:cNvPr id="21" name="Image 2" descr="preencoded.png"/>
          <p:cNvPicPr>
            <a:picLocks noChangeAspect="1"/>
          </p:cNvPicPr>
          <p:nvPr/>
        </p:nvPicPr>
        <p:blipFill>
          <a:blip r:embed="rId5"/>
          <a:stretch>
            <a:fillRect/>
          </a:stretch>
        </p:blipFill>
        <p:spPr>
          <a:xfrm>
            <a:off x="3477768" y="1344168"/>
            <a:ext cx="493776" cy="493776"/>
          </a:xfrm>
          <a:prstGeom prst="rect">
            <a:avLst/>
          </a:prstGeom>
        </p:spPr>
      </p:pic>
      <p:sp>
        <p:nvSpPr>
          <p:cNvPr id="22" name="Text 17"/>
          <p:cNvSpPr/>
          <p:nvPr/>
        </p:nvSpPr>
        <p:spPr>
          <a:xfrm>
            <a:off x="4145280" y="1298448"/>
            <a:ext cx="457200" cy="27432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3.5</a:t>
            </a:r>
            <a:endParaRPr lang="en-US" sz="900" dirty="0"/>
          </a:p>
        </p:txBody>
      </p:sp>
      <p:sp>
        <p:nvSpPr>
          <p:cNvPr id="23" name="Text 18"/>
          <p:cNvSpPr/>
          <p:nvPr/>
        </p:nvSpPr>
        <p:spPr>
          <a:xfrm>
            <a:off x="3395472" y="2029968"/>
            <a:ext cx="2407920" cy="658368"/>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Digital Experience</a:t>
            </a:r>
            <a:endParaRPr lang="en-US" sz="1350" dirty="0"/>
          </a:p>
          <a:p>
            <a:pPr marL="0" indent="0">
              <a:buNone/>
            </a:pPr>
            <a:r>
              <a:rPr lang="en-US" sz="1350" b="1" dirty="0">
                <a:solidFill>
                  <a:srgbClr val="FFFFFF"/>
                </a:solidFill>
                <a:latin typeface="Calibri" pitchFamily="34" charset="0"/>
                <a:ea typeface="Calibri" pitchFamily="34" charset="-122"/>
                <a:cs typeface="Calibri" pitchFamily="34" charset="-120"/>
              </a:rPr>
              <a:t>Redesign</a:t>
            </a:r>
            <a:endParaRPr lang="en-US" sz="1350" dirty="0"/>
          </a:p>
        </p:txBody>
      </p:sp>
      <p:sp>
        <p:nvSpPr>
          <p:cNvPr id="24" name="Text 19"/>
          <p:cNvSpPr/>
          <p:nvPr/>
        </p:nvSpPr>
        <p:spPr>
          <a:xfrm>
            <a:off x="3395472" y="2743200"/>
            <a:ext cx="2407920" cy="1298448"/>
          </a:xfrm>
          <a:prstGeom prst="rect">
            <a:avLst/>
          </a:prstGeom>
          <a:noFill/>
          <a:ln/>
        </p:spPr>
        <p:txBody>
          <a:bodyPr wrap="square" lIns="0" tIns="0" rIns="0" bIns="0" rtlCol="0" anchor="t"/>
          <a:lstStyle/>
          <a:p>
            <a:pPr marL="0" indent="0">
              <a:buNone/>
            </a:pPr>
            <a:r>
              <a:rPr lang="en-US" sz="1050" dirty="0">
                <a:solidFill>
                  <a:srgbClr val="888888"/>
                </a:solidFill>
                <a:latin typeface="Calibri" pitchFamily="34" charset="0"/>
                <a:ea typeface="Calibri" pitchFamily="34" charset="-122"/>
                <a:cs typeface="Calibri" pitchFamily="34" charset="-120"/>
              </a:rPr>
              <a:t>Redesign the app and booking journey for speed and simplicity. Capture intent at the point of decision, reducing booking drop-off.</a:t>
            </a:r>
            <a:endParaRPr lang="en-US" sz="1050" dirty="0"/>
          </a:p>
        </p:txBody>
      </p:sp>
      <p:sp>
        <p:nvSpPr>
          <p:cNvPr id="25" name="Shape 20"/>
          <p:cNvSpPr/>
          <p:nvPr/>
        </p:nvSpPr>
        <p:spPr>
          <a:xfrm>
            <a:off x="3395472" y="4114800"/>
            <a:ext cx="2407920" cy="621792"/>
          </a:xfrm>
          <a:prstGeom prst="rect">
            <a:avLst/>
          </a:prstGeom>
          <a:solidFill>
            <a:srgbClr val="111111"/>
          </a:solidFill>
          <a:ln w="12700">
            <a:solidFill>
              <a:srgbClr val="2980B9"/>
            </a:solidFill>
            <a:prstDash val="solid"/>
          </a:ln>
        </p:spPr>
        <p:txBody>
          <a:bodyPr/>
          <a:lstStyle/>
          <a:p>
            <a:endParaRPr lang="en-AU"/>
          </a:p>
        </p:txBody>
      </p:sp>
      <p:sp>
        <p:nvSpPr>
          <p:cNvPr id="26" name="Text 21"/>
          <p:cNvSpPr/>
          <p:nvPr/>
        </p:nvSpPr>
        <p:spPr>
          <a:xfrm>
            <a:off x="3486912" y="4133088"/>
            <a:ext cx="2270760" cy="329184"/>
          </a:xfrm>
          <a:prstGeom prst="rect">
            <a:avLst/>
          </a:prstGeom>
          <a:noFill/>
          <a:ln/>
        </p:spPr>
        <p:txBody>
          <a:bodyPr wrap="square" lIns="0" tIns="0" rIns="0" bIns="0" rtlCol="0" anchor="ctr"/>
          <a:lstStyle/>
          <a:p>
            <a:pPr marL="0" indent="0">
              <a:buNone/>
            </a:pPr>
            <a:r>
              <a:rPr lang="en-US" sz="1700" b="1" dirty="0">
                <a:solidFill>
                  <a:srgbClr val="2980B9"/>
                </a:solidFill>
                <a:latin typeface="Calibri" pitchFamily="34" charset="0"/>
                <a:ea typeface="Calibri" pitchFamily="34" charset="-122"/>
                <a:cs typeface="Calibri" pitchFamily="34" charset="-120"/>
              </a:rPr>
              <a:t>+3 to 5%</a:t>
            </a:r>
            <a:endParaRPr lang="en-US" sz="1700" dirty="0"/>
          </a:p>
        </p:txBody>
      </p:sp>
      <p:sp>
        <p:nvSpPr>
          <p:cNvPr id="27" name="Text 22"/>
          <p:cNvSpPr/>
          <p:nvPr/>
        </p:nvSpPr>
        <p:spPr>
          <a:xfrm>
            <a:off x="3486912" y="4453128"/>
            <a:ext cx="2270760" cy="237744"/>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online conversion improvement</a:t>
            </a:r>
            <a:endParaRPr lang="en-US" sz="850" dirty="0"/>
          </a:p>
        </p:txBody>
      </p:sp>
      <p:sp>
        <p:nvSpPr>
          <p:cNvPr id="28" name="Shape 23"/>
          <p:cNvSpPr/>
          <p:nvPr/>
        </p:nvSpPr>
        <p:spPr>
          <a:xfrm>
            <a:off x="6050280" y="1115568"/>
            <a:ext cx="2682240" cy="3730752"/>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29" name="Shape 24"/>
          <p:cNvSpPr/>
          <p:nvPr/>
        </p:nvSpPr>
        <p:spPr>
          <a:xfrm>
            <a:off x="6050280" y="1115568"/>
            <a:ext cx="2682240" cy="64008"/>
          </a:xfrm>
          <a:prstGeom prst="rect">
            <a:avLst/>
          </a:prstGeom>
          <a:solidFill>
            <a:srgbClr val="27AE60"/>
          </a:solidFill>
          <a:ln w="12700">
            <a:solidFill>
              <a:srgbClr val="27AE60"/>
            </a:solidFill>
            <a:prstDash val="solid"/>
          </a:ln>
        </p:spPr>
        <p:txBody>
          <a:bodyPr/>
          <a:lstStyle/>
          <a:p>
            <a:endParaRPr lang="en-AU"/>
          </a:p>
        </p:txBody>
      </p:sp>
      <p:sp>
        <p:nvSpPr>
          <p:cNvPr id="30" name="Shape 25"/>
          <p:cNvSpPr/>
          <p:nvPr/>
        </p:nvSpPr>
        <p:spPr>
          <a:xfrm>
            <a:off x="6233160" y="1280160"/>
            <a:ext cx="621792" cy="621792"/>
          </a:xfrm>
          <a:prstGeom prst="ellipse">
            <a:avLst/>
          </a:prstGeom>
          <a:solidFill>
            <a:srgbClr val="27AE60"/>
          </a:solidFill>
          <a:ln w="12700">
            <a:solidFill>
              <a:srgbClr val="27AE60"/>
            </a:solidFill>
            <a:prstDash val="solid"/>
          </a:ln>
        </p:spPr>
        <p:txBody>
          <a:bodyPr/>
          <a:lstStyle/>
          <a:p>
            <a:endParaRPr lang="en-AU"/>
          </a:p>
        </p:txBody>
      </p:sp>
      <p:pic>
        <p:nvPicPr>
          <p:cNvPr id="31" name="Image 3" descr="preencoded.png"/>
          <p:cNvPicPr>
            <a:picLocks noChangeAspect="1"/>
          </p:cNvPicPr>
          <p:nvPr/>
        </p:nvPicPr>
        <p:blipFill>
          <a:blip r:embed="rId6">
            <a:biLevel thresh="25000"/>
          </a:blip>
          <a:stretch>
            <a:fillRect/>
          </a:stretch>
        </p:blipFill>
        <p:spPr>
          <a:xfrm>
            <a:off x="6297168" y="1344168"/>
            <a:ext cx="493776" cy="493776"/>
          </a:xfrm>
          <a:prstGeom prst="rect">
            <a:avLst/>
          </a:prstGeom>
        </p:spPr>
      </p:pic>
      <p:sp>
        <p:nvSpPr>
          <p:cNvPr id="32" name="Text 26"/>
          <p:cNvSpPr/>
          <p:nvPr/>
        </p:nvSpPr>
        <p:spPr>
          <a:xfrm>
            <a:off x="6964680" y="1298448"/>
            <a:ext cx="457200" cy="27432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3.6</a:t>
            </a:r>
            <a:endParaRPr lang="en-US" sz="900" dirty="0"/>
          </a:p>
        </p:txBody>
      </p:sp>
      <p:sp>
        <p:nvSpPr>
          <p:cNvPr id="33" name="Text 27"/>
          <p:cNvSpPr/>
          <p:nvPr/>
        </p:nvSpPr>
        <p:spPr>
          <a:xfrm>
            <a:off x="6214872" y="2029968"/>
            <a:ext cx="1862328" cy="658368"/>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Online</a:t>
            </a:r>
            <a:r>
              <a:rPr lang="en-US" sz="1350" dirty="0"/>
              <a:t> </a:t>
            </a:r>
            <a:r>
              <a:rPr lang="en-US" sz="1350" b="1" dirty="0">
                <a:solidFill>
                  <a:srgbClr val="FFFFFF"/>
                </a:solidFill>
                <a:latin typeface="Calibri" pitchFamily="34" charset="0"/>
                <a:ea typeface="Calibri" pitchFamily="34" charset="-122"/>
                <a:cs typeface="Calibri" pitchFamily="34" charset="-120"/>
              </a:rPr>
              <a:t>Booking Fee Removal</a:t>
            </a:r>
            <a:endParaRPr lang="en-US" sz="1350" dirty="0"/>
          </a:p>
        </p:txBody>
      </p:sp>
      <p:sp>
        <p:nvSpPr>
          <p:cNvPr id="34" name="Text 28"/>
          <p:cNvSpPr/>
          <p:nvPr/>
        </p:nvSpPr>
        <p:spPr>
          <a:xfrm>
            <a:off x="6214872" y="2743200"/>
            <a:ext cx="2407920" cy="1298448"/>
          </a:xfrm>
          <a:prstGeom prst="rect">
            <a:avLst/>
          </a:prstGeom>
          <a:noFill/>
          <a:ln/>
        </p:spPr>
        <p:txBody>
          <a:bodyPr wrap="square" lIns="0" tIns="0" rIns="0" bIns="0" rtlCol="0" anchor="t"/>
          <a:lstStyle/>
          <a:p>
            <a:pPr marL="0" indent="0">
              <a:buNone/>
            </a:pPr>
            <a:r>
              <a:rPr lang="en-US" sz="1050" dirty="0">
                <a:solidFill>
                  <a:srgbClr val="888888"/>
                </a:solidFill>
                <a:latin typeface="Calibri" pitchFamily="34" charset="0"/>
                <a:ea typeface="Calibri" pitchFamily="34" charset="-122"/>
                <a:cs typeface="Calibri" pitchFamily="34" charset="-120"/>
              </a:rPr>
              <a:t>Eliminate or reduce booking fees to shift transactions online, improve demand predictability, and build the customer data asset.</a:t>
            </a:r>
            <a:endParaRPr lang="en-US" sz="1050" dirty="0"/>
          </a:p>
        </p:txBody>
      </p:sp>
      <p:sp>
        <p:nvSpPr>
          <p:cNvPr id="35" name="Shape 29"/>
          <p:cNvSpPr/>
          <p:nvPr/>
        </p:nvSpPr>
        <p:spPr>
          <a:xfrm>
            <a:off x="6214872" y="4114800"/>
            <a:ext cx="2407920" cy="621792"/>
          </a:xfrm>
          <a:prstGeom prst="rect">
            <a:avLst/>
          </a:prstGeom>
          <a:solidFill>
            <a:srgbClr val="111111"/>
          </a:solidFill>
          <a:ln w="12700">
            <a:solidFill>
              <a:srgbClr val="27AE60"/>
            </a:solidFill>
            <a:prstDash val="solid"/>
          </a:ln>
        </p:spPr>
        <p:txBody>
          <a:bodyPr/>
          <a:lstStyle/>
          <a:p>
            <a:endParaRPr lang="en-AU"/>
          </a:p>
        </p:txBody>
      </p:sp>
      <p:sp>
        <p:nvSpPr>
          <p:cNvPr id="36" name="Text 30"/>
          <p:cNvSpPr/>
          <p:nvPr/>
        </p:nvSpPr>
        <p:spPr>
          <a:xfrm>
            <a:off x="6306312" y="4133088"/>
            <a:ext cx="2270760" cy="329184"/>
          </a:xfrm>
          <a:prstGeom prst="rect">
            <a:avLst/>
          </a:prstGeom>
          <a:noFill/>
          <a:ln/>
        </p:spPr>
        <p:txBody>
          <a:bodyPr wrap="square" lIns="0" tIns="0" rIns="0" bIns="0" rtlCol="0" anchor="ctr"/>
          <a:lstStyle/>
          <a:p>
            <a:pPr marL="0" indent="0">
              <a:buNone/>
            </a:pPr>
            <a:r>
              <a:rPr lang="en-US" sz="1700" b="1" dirty="0">
                <a:solidFill>
                  <a:srgbClr val="27AE60"/>
                </a:solidFill>
                <a:latin typeface="Calibri" pitchFamily="34" charset="0"/>
                <a:ea typeface="Calibri" pitchFamily="34" charset="-122"/>
                <a:cs typeface="Calibri" pitchFamily="34" charset="-120"/>
              </a:rPr>
              <a:t>Booking fees removed</a:t>
            </a:r>
            <a:endParaRPr lang="en-US" sz="1700" dirty="0"/>
          </a:p>
        </p:txBody>
      </p:sp>
      <p:sp>
        <p:nvSpPr>
          <p:cNvPr id="37" name="Text 31"/>
          <p:cNvSpPr/>
          <p:nvPr/>
        </p:nvSpPr>
        <p:spPr>
          <a:xfrm>
            <a:off x="6306312" y="4453128"/>
            <a:ext cx="2270760" cy="237744"/>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the most transparent customer experience in the market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Cluster C — Audience Growth</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REGIONAL EXPANSION · LOCAL PROGRAMMING · CURATED EVENTS</a:t>
            </a:r>
            <a:endParaRPr lang="en-US" sz="950" dirty="0"/>
          </a:p>
        </p:txBody>
      </p:sp>
      <p:sp>
        <p:nvSpPr>
          <p:cNvPr id="8" name="Shape 5"/>
          <p:cNvSpPr/>
          <p:nvPr/>
        </p:nvSpPr>
        <p:spPr>
          <a:xfrm>
            <a:off x="411480" y="1115568"/>
            <a:ext cx="5532120" cy="11155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9" name="Shape 6"/>
          <p:cNvSpPr/>
          <p:nvPr/>
        </p:nvSpPr>
        <p:spPr>
          <a:xfrm>
            <a:off x="411480" y="1115568"/>
            <a:ext cx="50292" cy="1115568"/>
          </a:xfrm>
          <a:prstGeom prst="rect">
            <a:avLst/>
          </a:prstGeom>
          <a:solidFill>
            <a:srgbClr val="27AE60"/>
          </a:solidFill>
          <a:ln w="12700">
            <a:solidFill>
              <a:srgbClr val="27AE60"/>
            </a:solidFill>
            <a:prstDash val="solid"/>
          </a:ln>
        </p:spPr>
        <p:txBody>
          <a:bodyPr/>
          <a:lstStyle/>
          <a:p>
            <a:endParaRPr lang="en-AU"/>
          </a:p>
        </p:txBody>
      </p:sp>
      <p:sp>
        <p:nvSpPr>
          <p:cNvPr id="10" name="Shape 7"/>
          <p:cNvSpPr/>
          <p:nvPr/>
        </p:nvSpPr>
        <p:spPr>
          <a:xfrm>
            <a:off x="521208" y="1463040"/>
            <a:ext cx="402336" cy="402336"/>
          </a:xfrm>
          <a:prstGeom prst="ellipse">
            <a:avLst/>
          </a:prstGeom>
          <a:solidFill>
            <a:srgbClr val="27AE60"/>
          </a:solidFill>
          <a:ln w="12700">
            <a:solidFill>
              <a:srgbClr val="27AE60"/>
            </a:solidFill>
            <a:prstDash val="solid"/>
          </a:ln>
        </p:spPr>
        <p:txBody>
          <a:bodyPr/>
          <a:lstStyle/>
          <a:p>
            <a:endParaRPr lang="en-AU"/>
          </a:p>
        </p:txBody>
      </p:sp>
      <p:sp>
        <p:nvSpPr>
          <p:cNvPr id="11" name="Text 8"/>
          <p:cNvSpPr/>
          <p:nvPr/>
        </p:nvSpPr>
        <p:spPr>
          <a:xfrm>
            <a:off x="521208" y="1463040"/>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3.7</a:t>
            </a:r>
            <a:endParaRPr lang="en-US" sz="900" dirty="0"/>
          </a:p>
        </p:txBody>
      </p:sp>
      <p:sp>
        <p:nvSpPr>
          <p:cNvPr id="12" name="Text 9"/>
          <p:cNvSpPr/>
          <p:nvPr/>
        </p:nvSpPr>
        <p:spPr>
          <a:xfrm>
            <a:off x="1069848" y="1207008"/>
            <a:ext cx="47548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Regional Expansion</a:t>
            </a:r>
            <a:endParaRPr lang="en-US" sz="1300" dirty="0"/>
          </a:p>
        </p:txBody>
      </p:sp>
      <p:sp>
        <p:nvSpPr>
          <p:cNvPr id="13" name="Text 10"/>
          <p:cNvSpPr/>
          <p:nvPr/>
        </p:nvSpPr>
        <p:spPr>
          <a:xfrm>
            <a:off x="1069848" y="1554480"/>
            <a:ext cx="4754880" cy="603504"/>
          </a:xfrm>
          <a:prstGeom prst="rect">
            <a:avLst/>
          </a:prstGeom>
          <a:noFill/>
          <a:ln/>
        </p:spPr>
        <p:txBody>
          <a:bodyPr wrap="square" lIns="0" tIns="0" rIns="0" bIns="0" rtlCol="0" anchor="t"/>
          <a:lstStyle/>
          <a:p>
            <a:pPr marL="0" indent="0">
              <a:buNone/>
            </a:pPr>
            <a:r>
              <a:rPr lang="en-US" sz="950" dirty="0">
                <a:solidFill>
                  <a:srgbClr val="888888"/>
                </a:solidFill>
                <a:latin typeface="Calibri" pitchFamily="34" charset="0"/>
                <a:ea typeface="Calibri" pitchFamily="34" charset="-122"/>
                <a:cs typeface="Calibri" pitchFamily="34" charset="-120"/>
              </a:rPr>
              <a:t>Selective expansion into Bendigo, Ballarat and Geelong. These markets show strong community demand, lower competitive intensity, and room for a differentiated Reading offer. Early presence can build local awareness and long-term preference.</a:t>
            </a:r>
            <a:endParaRPr lang="en-US" sz="950" dirty="0"/>
          </a:p>
        </p:txBody>
      </p:sp>
      <p:sp>
        <p:nvSpPr>
          <p:cNvPr id="14" name="Shape 11"/>
          <p:cNvSpPr/>
          <p:nvPr/>
        </p:nvSpPr>
        <p:spPr>
          <a:xfrm>
            <a:off x="411480" y="2340864"/>
            <a:ext cx="5532120" cy="11155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15" name="Shape 12"/>
          <p:cNvSpPr/>
          <p:nvPr/>
        </p:nvSpPr>
        <p:spPr>
          <a:xfrm>
            <a:off x="411480" y="2340864"/>
            <a:ext cx="50292" cy="1115568"/>
          </a:xfrm>
          <a:prstGeom prst="rect">
            <a:avLst/>
          </a:prstGeom>
          <a:solidFill>
            <a:srgbClr val="27AE60"/>
          </a:solidFill>
          <a:ln w="12700">
            <a:solidFill>
              <a:srgbClr val="27AE60"/>
            </a:solidFill>
            <a:prstDash val="solid"/>
          </a:ln>
        </p:spPr>
        <p:txBody>
          <a:bodyPr/>
          <a:lstStyle/>
          <a:p>
            <a:endParaRPr lang="en-AU"/>
          </a:p>
        </p:txBody>
      </p:sp>
      <p:sp>
        <p:nvSpPr>
          <p:cNvPr id="16" name="Shape 13"/>
          <p:cNvSpPr/>
          <p:nvPr/>
        </p:nvSpPr>
        <p:spPr>
          <a:xfrm>
            <a:off x="521208" y="2688336"/>
            <a:ext cx="402336" cy="402336"/>
          </a:xfrm>
          <a:prstGeom prst="ellipse">
            <a:avLst/>
          </a:prstGeom>
          <a:solidFill>
            <a:srgbClr val="27AE60"/>
          </a:solidFill>
          <a:ln w="12700">
            <a:solidFill>
              <a:srgbClr val="27AE60"/>
            </a:solidFill>
            <a:prstDash val="solid"/>
          </a:ln>
        </p:spPr>
        <p:txBody>
          <a:bodyPr/>
          <a:lstStyle/>
          <a:p>
            <a:endParaRPr lang="en-AU"/>
          </a:p>
        </p:txBody>
      </p:sp>
      <p:sp>
        <p:nvSpPr>
          <p:cNvPr id="17" name="Text 14"/>
          <p:cNvSpPr/>
          <p:nvPr/>
        </p:nvSpPr>
        <p:spPr>
          <a:xfrm>
            <a:off x="521208" y="2688336"/>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3.8</a:t>
            </a:r>
            <a:endParaRPr lang="en-US" sz="900" dirty="0"/>
          </a:p>
        </p:txBody>
      </p:sp>
      <p:sp>
        <p:nvSpPr>
          <p:cNvPr id="18" name="Text 15"/>
          <p:cNvSpPr/>
          <p:nvPr/>
        </p:nvSpPr>
        <p:spPr>
          <a:xfrm>
            <a:off x="1069848" y="2432304"/>
            <a:ext cx="47548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Localised Programming</a:t>
            </a:r>
            <a:endParaRPr lang="en-US" sz="1300" dirty="0"/>
          </a:p>
        </p:txBody>
      </p:sp>
      <p:sp>
        <p:nvSpPr>
          <p:cNvPr id="19" name="Text 16"/>
          <p:cNvSpPr/>
          <p:nvPr/>
        </p:nvSpPr>
        <p:spPr>
          <a:xfrm>
            <a:off x="1069848" y="2779776"/>
            <a:ext cx="4754880" cy="603504"/>
          </a:xfrm>
          <a:prstGeom prst="rect">
            <a:avLst/>
          </a:prstGeom>
          <a:noFill/>
          <a:ln/>
        </p:spPr>
        <p:txBody>
          <a:bodyPr wrap="square" lIns="0" tIns="0" rIns="0" bIns="0" rtlCol="0" anchor="t"/>
          <a:lstStyle/>
          <a:p>
            <a:pPr marL="0" indent="0">
              <a:buNone/>
            </a:pPr>
            <a:r>
              <a:rPr lang="en-US" sz="950" dirty="0">
                <a:solidFill>
                  <a:srgbClr val="888888"/>
                </a:solidFill>
                <a:latin typeface="Calibri" pitchFamily="34" charset="0"/>
                <a:ea typeface="Calibri" pitchFamily="34" charset="-122"/>
                <a:cs typeface="Calibri" pitchFamily="34" charset="-120"/>
              </a:rPr>
              <a:t>One to two locally relevant titles per programming cycle, including Australian films or culturally relevant content tailored to each venue's catchment demographic profile. This builds stronger local relevance and repeat visitation.</a:t>
            </a:r>
            <a:endParaRPr lang="en-US" sz="950" dirty="0"/>
          </a:p>
        </p:txBody>
      </p:sp>
      <p:sp>
        <p:nvSpPr>
          <p:cNvPr id="20" name="Shape 17"/>
          <p:cNvSpPr/>
          <p:nvPr/>
        </p:nvSpPr>
        <p:spPr>
          <a:xfrm>
            <a:off x="411480" y="3566160"/>
            <a:ext cx="5532120" cy="111556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21" name="Shape 18"/>
          <p:cNvSpPr/>
          <p:nvPr/>
        </p:nvSpPr>
        <p:spPr>
          <a:xfrm>
            <a:off x="411480" y="3566160"/>
            <a:ext cx="50292" cy="1115568"/>
          </a:xfrm>
          <a:prstGeom prst="rect">
            <a:avLst/>
          </a:prstGeom>
          <a:solidFill>
            <a:srgbClr val="27AE60"/>
          </a:solidFill>
          <a:ln w="12700">
            <a:solidFill>
              <a:srgbClr val="27AE60"/>
            </a:solidFill>
            <a:prstDash val="solid"/>
          </a:ln>
        </p:spPr>
        <p:txBody>
          <a:bodyPr/>
          <a:lstStyle/>
          <a:p>
            <a:endParaRPr lang="en-AU"/>
          </a:p>
        </p:txBody>
      </p:sp>
      <p:sp>
        <p:nvSpPr>
          <p:cNvPr id="22" name="Shape 19"/>
          <p:cNvSpPr/>
          <p:nvPr/>
        </p:nvSpPr>
        <p:spPr>
          <a:xfrm>
            <a:off x="521208" y="3913632"/>
            <a:ext cx="402336" cy="402336"/>
          </a:xfrm>
          <a:prstGeom prst="ellipse">
            <a:avLst/>
          </a:prstGeom>
          <a:solidFill>
            <a:srgbClr val="27AE60"/>
          </a:solidFill>
          <a:ln w="12700">
            <a:solidFill>
              <a:srgbClr val="27AE60"/>
            </a:solidFill>
            <a:prstDash val="solid"/>
          </a:ln>
        </p:spPr>
        <p:txBody>
          <a:bodyPr/>
          <a:lstStyle/>
          <a:p>
            <a:endParaRPr lang="en-AU"/>
          </a:p>
        </p:txBody>
      </p:sp>
      <p:sp>
        <p:nvSpPr>
          <p:cNvPr id="23" name="Text 20"/>
          <p:cNvSpPr/>
          <p:nvPr/>
        </p:nvSpPr>
        <p:spPr>
          <a:xfrm>
            <a:off x="521208" y="3913632"/>
            <a:ext cx="402336"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3.9</a:t>
            </a:r>
            <a:endParaRPr lang="en-US" sz="900" dirty="0"/>
          </a:p>
        </p:txBody>
      </p:sp>
      <p:sp>
        <p:nvSpPr>
          <p:cNvPr id="24" name="Text 21"/>
          <p:cNvSpPr/>
          <p:nvPr/>
        </p:nvSpPr>
        <p:spPr>
          <a:xfrm>
            <a:off x="1069848" y="3657600"/>
            <a:ext cx="47548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Curated Re-screenings</a:t>
            </a:r>
            <a:endParaRPr lang="en-US" sz="1300" dirty="0"/>
          </a:p>
        </p:txBody>
      </p:sp>
      <p:sp>
        <p:nvSpPr>
          <p:cNvPr id="25" name="Text 22"/>
          <p:cNvSpPr/>
          <p:nvPr/>
        </p:nvSpPr>
        <p:spPr>
          <a:xfrm>
            <a:off x="1069848" y="4005072"/>
            <a:ext cx="4754880" cy="603504"/>
          </a:xfrm>
          <a:prstGeom prst="rect">
            <a:avLst/>
          </a:prstGeom>
          <a:noFill/>
          <a:ln/>
        </p:spPr>
        <p:txBody>
          <a:bodyPr wrap="square" lIns="0" tIns="0" rIns="0" bIns="0" rtlCol="0" anchor="t"/>
          <a:lstStyle/>
          <a:p>
            <a:pPr marL="0" indent="0">
              <a:buNone/>
            </a:pPr>
            <a:r>
              <a:rPr lang="en-US" sz="950" dirty="0">
                <a:solidFill>
                  <a:srgbClr val="888888"/>
                </a:solidFill>
                <a:latin typeface="Calibri" pitchFamily="34" charset="0"/>
                <a:ea typeface="Calibri" pitchFamily="34" charset="-122"/>
                <a:cs typeface="Calibri" pitchFamily="34" charset="-120"/>
              </a:rPr>
              <a:t>Classic and cult films scheduled in off-peak slots to create event-style demand, strengthen film-fan engagement, and improve utilisation beyond new-release windows.</a:t>
            </a:r>
            <a:endParaRPr lang="en-US" sz="950" dirty="0"/>
          </a:p>
        </p:txBody>
      </p:sp>
      <p:sp>
        <p:nvSpPr>
          <p:cNvPr id="26" name="Shape 23"/>
          <p:cNvSpPr/>
          <p:nvPr/>
        </p:nvSpPr>
        <p:spPr>
          <a:xfrm>
            <a:off x="6126480" y="1115568"/>
            <a:ext cx="2606040" cy="3566160"/>
          </a:xfrm>
          <a:prstGeom prst="rect">
            <a:avLst/>
          </a:prstGeom>
          <a:solidFill>
            <a:srgbClr val="1A1A1A"/>
          </a:solidFill>
          <a:ln w="12700">
            <a:solidFill>
              <a:srgbClr val="27AE60"/>
            </a:solidFill>
            <a:prstDash val="solid"/>
          </a:ln>
          <a:effectLst>
            <a:outerShdw blurRad="127000" dist="38100" dir="8100000" algn="bl" rotWithShape="0">
              <a:srgbClr val="000000">
                <a:alpha val="40000"/>
              </a:srgbClr>
            </a:outerShdw>
          </a:effectLst>
        </p:spPr>
        <p:txBody>
          <a:bodyPr/>
          <a:lstStyle/>
          <a:p>
            <a:endParaRPr lang="en-AU"/>
          </a:p>
        </p:txBody>
      </p:sp>
      <p:sp>
        <p:nvSpPr>
          <p:cNvPr id="27" name="Shape 24"/>
          <p:cNvSpPr/>
          <p:nvPr/>
        </p:nvSpPr>
        <p:spPr>
          <a:xfrm>
            <a:off x="6126480" y="1115568"/>
            <a:ext cx="2606040" cy="64008"/>
          </a:xfrm>
          <a:prstGeom prst="rect">
            <a:avLst/>
          </a:prstGeom>
          <a:solidFill>
            <a:srgbClr val="27AE60"/>
          </a:solidFill>
          <a:ln w="12700">
            <a:solidFill>
              <a:srgbClr val="27AE60"/>
            </a:solidFill>
            <a:prstDash val="solid"/>
          </a:ln>
        </p:spPr>
        <p:txBody>
          <a:bodyPr/>
          <a:lstStyle/>
          <a:p>
            <a:endParaRPr lang="en-AU"/>
          </a:p>
        </p:txBody>
      </p:sp>
      <p:sp>
        <p:nvSpPr>
          <p:cNvPr id="28" name="Text 25"/>
          <p:cNvSpPr/>
          <p:nvPr/>
        </p:nvSpPr>
        <p:spPr>
          <a:xfrm>
            <a:off x="6291072" y="1027584"/>
            <a:ext cx="2331720" cy="603504"/>
          </a:xfrm>
          <a:prstGeom prst="rect">
            <a:avLst/>
          </a:prstGeom>
          <a:noFill/>
          <a:ln/>
        </p:spPr>
        <p:txBody>
          <a:bodyPr wrap="square" lIns="0" tIns="0" rIns="0" bIns="0" rtlCol="0" anchor="ctr"/>
          <a:lstStyle/>
          <a:p>
            <a:pPr marL="0" indent="0">
              <a:buNone/>
            </a:pPr>
            <a:r>
              <a:rPr lang="en-US" sz="1150" b="1" kern="0" spc="150" dirty="0">
                <a:solidFill>
                  <a:srgbClr val="27AE60"/>
                </a:solidFill>
                <a:latin typeface="Calibri" pitchFamily="34" charset="0"/>
                <a:ea typeface="Calibri" pitchFamily="34" charset="-122"/>
                <a:cs typeface="Calibri" pitchFamily="34" charset="-120"/>
              </a:rPr>
              <a:t>REGIONAL</a:t>
            </a:r>
            <a:r>
              <a:rPr lang="en-US" sz="1150" dirty="0"/>
              <a:t> </a:t>
            </a:r>
            <a:r>
              <a:rPr lang="en-US" sz="1150" b="1" kern="0" spc="150" dirty="0">
                <a:solidFill>
                  <a:srgbClr val="27AE60"/>
                </a:solidFill>
                <a:latin typeface="Calibri" pitchFamily="34" charset="0"/>
                <a:ea typeface="Calibri" pitchFamily="34" charset="-122"/>
                <a:cs typeface="Calibri" pitchFamily="34" charset="-120"/>
              </a:rPr>
              <a:t>TARGETS</a:t>
            </a:r>
            <a:endParaRPr lang="en-US" sz="1150" dirty="0"/>
          </a:p>
        </p:txBody>
      </p:sp>
      <p:sp>
        <p:nvSpPr>
          <p:cNvPr id="29" name="Shape 26"/>
          <p:cNvSpPr/>
          <p:nvPr/>
        </p:nvSpPr>
        <p:spPr>
          <a:xfrm>
            <a:off x="6286500" y="1496450"/>
            <a:ext cx="2286000" cy="777240"/>
          </a:xfrm>
          <a:prstGeom prst="rect">
            <a:avLst/>
          </a:prstGeom>
          <a:solidFill>
            <a:srgbClr val="111111"/>
          </a:solidFill>
          <a:ln w="6350">
            <a:solidFill>
              <a:srgbClr val="2A2A2A"/>
            </a:solidFill>
            <a:prstDash val="solid"/>
          </a:ln>
        </p:spPr>
        <p:txBody>
          <a:bodyPr/>
          <a:lstStyle/>
          <a:p>
            <a:endParaRPr lang="en-AU"/>
          </a:p>
        </p:txBody>
      </p:sp>
      <p:pic>
        <p:nvPicPr>
          <p:cNvPr id="30" name="Image 1" descr="preencoded.png"/>
          <p:cNvPicPr>
            <a:picLocks noChangeAspect="1"/>
          </p:cNvPicPr>
          <p:nvPr/>
        </p:nvPicPr>
        <p:blipFill>
          <a:blip r:embed="rId4"/>
          <a:stretch>
            <a:fillRect/>
          </a:stretch>
        </p:blipFill>
        <p:spPr>
          <a:xfrm>
            <a:off x="6353138" y="1705570"/>
            <a:ext cx="347472" cy="347472"/>
          </a:xfrm>
          <a:prstGeom prst="rect">
            <a:avLst/>
          </a:prstGeom>
        </p:spPr>
      </p:pic>
      <p:sp>
        <p:nvSpPr>
          <p:cNvPr id="31" name="Text 27"/>
          <p:cNvSpPr/>
          <p:nvPr/>
        </p:nvSpPr>
        <p:spPr>
          <a:xfrm>
            <a:off x="6768846" y="1587936"/>
            <a:ext cx="1691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Geelong</a:t>
            </a:r>
            <a:endParaRPr lang="en-US" sz="1400" dirty="0"/>
          </a:p>
        </p:txBody>
      </p:sp>
      <p:sp>
        <p:nvSpPr>
          <p:cNvPr id="32" name="Text 28"/>
          <p:cNvSpPr/>
          <p:nvPr/>
        </p:nvSpPr>
        <p:spPr>
          <a:xfrm>
            <a:off x="6761988" y="1885315"/>
            <a:ext cx="86868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270,000+</a:t>
            </a:r>
            <a:endParaRPr lang="en-US" sz="1100" dirty="0"/>
          </a:p>
        </p:txBody>
      </p:sp>
      <p:sp>
        <p:nvSpPr>
          <p:cNvPr id="33" name="Text 29"/>
          <p:cNvSpPr/>
          <p:nvPr/>
        </p:nvSpPr>
        <p:spPr>
          <a:xfrm>
            <a:off x="7573518" y="1764120"/>
            <a:ext cx="886968" cy="320040"/>
          </a:xfrm>
          <a:prstGeom prst="rect">
            <a:avLst/>
          </a:prstGeom>
          <a:noFill/>
          <a:ln/>
        </p:spPr>
        <p:txBody>
          <a:bodyPr wrap="square" lIns="0" tIns="0" rIns="0" bIns="0" rtlCol="0" anchor="ctr"/>
          <a:lstStyle/>
          <a:p>
            <a:pPr marL="0" indent="0">
              <a:buNone/>
            </a:pPr>
            <a:r>
              <a:rPr lang="en-US" sz="800" dirty="0">
                <a:solidFill>
                  <a:srgbClr val="888888"/>
                </a:solidFill>
                <a:latin typeface="Calibri" pitchFamily="34" charset="0"/>
                <a:ea typeface="Calibri" pitchFamily="34" charset="-122"/>
                <a:cs typeface="Calibri" pitchFamily="34" charset="-120"/>
              </a:rPr>
              <a:t>Largest regional city in VIC</a:t>
            </a:r>
            <a:endParaRPr lang="en-US" sz="800" dirty="0"/>
          </a:p>
        </p:txBody>
      </p:sp>
      <p:sp>
        <p:nvSpPr>
          <p:cNvPr id="34" name="Shape 30"/>
          <p:cNvSpPr/>
          <p:nvPr/>
        </p:nvSpPr>
        <p:spPr>
          <a:xfrm>
            <a:off x="6286500" y="2384734"/>
            <a:ext cx="2286000" cy="777240"/>
          </a:xfrm>
          <a:prstGeom prst="rect">
            <a:avLst/>
          </a:prstGeom>
          <a:solidFill>
            <a:srgbClr val="111111"/>
          </a:solidFill>
          <a:ln w="6350">
            <a:solidFill>
              <a:srgbClr val="2A2A2A"/>
            </a:solidFill>
            <a:prstDash val="solid"/>
          </a:ln>
        </p:spPr>
        <p:txBody>
          <a:bodyPr/>
          <a:lstStyle/>
          <a:p>
            <a:endParaRPr lang="en-AU" dirty="0"/>
          </a:p>
        </p:txBody>
      </p:sp>
      <p:pic>
        <p:nvPicPr>
          <p:cNvPr id="35" name="Image 2" descr="preencoded.png"/>
          <p:cNvPicPr>
            <a:picLocks noChangeAspect="1"/>
          </p:cNvPicPr>
          <p:nvPr/>
        </p:nvPicPr>
        <p:blipFill>
          <a:blip r:embed="rId4"/>
          <a:stretch>
            <a:fillRect/>
          </a:stretch>
        </p:blipFill>
        <p:spPr>
          <a:xfrm>
            <a:off x="6364224" y="2587752"/>
            <a:ext cx="347472" cy="347472"/>
          </a:xfrm>
          <a:prstGeom prst="rect">
            <a:avLst/>
          </a:prstGeom>
        </p:spPr>
      </p:pic>
      <p:sp>
        <p:nvSpPr>
          <p:cNvPr id="36" name="Text 31"/>
          <p:cNvSpPr/>
          <p:nvPr/>
        </p:nvSpPr>
        <p:spPr>
          <a:xfrm>
            <a:off x="6761988" y="2486037"/>
            <a:ext cx="1691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Ballarat</a:t>
            </a:r>
            <a:endParaRPr lang="en-US" sz="1400" dirty="0"/>
          </a:p>
        </p:txBody>
      </p:sp>
      <p:sp>
        <p:nvSpPr>
          <p:cNvPr id="37" name="Text 32"/>
          <p:cNvSpPr/>
          <p:nvPr/>
        </p:nvSpPr>
        <p:spPr>
          <a:xfrm>
            <a:off x="6768846" y="2801443"/>
            <a:ext cx="86868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120,000+</a:t>
            </a:r>
            <a:endParaRPr lang="en-US" sz="1100" dirty="0"/>
          </a:p>
        </p:txBody>
      </p:sp>
      <p:sp>
        <p:nvSpPr>
          <p:cNvPr id="38" name="Text 33"/>
          <p:cNvSpPr/>
          <p:nvPr/>
        </p:nvSpPr>
        <p:spPr>
          <a:xfrm>
            <a:off x="7566660" y="2635384"/>
            <a:ext cx="886968" cy="320040"/>
          </a:xfrm>
          <a:prstGeom prst="rect">
            <a:avLst/>
          </a:prstGeom>
          <a:noFill/>
          <a:ln/>
        </p:spPr>
        <p:txBody>
          <a:bodyPr wrap="square" lIns="0" tIns="0" rIns="0" bIns="0" rtlCol="0" anchor="ctr"/>
          <a:lstStyle/>
          <a:p>
            <a:pPr marL="0" indent="0">
              <a:buNone/>
            </a:pPr>
            <a:r>
              <a:rPr lang="en-US" sz="800" dirty="0">
                <a:solidFill>
                  <a:srgbClr val="888888"/>
                </a:solidFill>
                <a:latin typeface="Calibri" pitchFamily="34" charset="0"/>
                <a:ea typeface="Calibri" pitchFamily="34" charset="-122"/>
                <a:cs typeface="Calibri" pitchFamily="34" charset="-120"/>
              </a:rPr>
              <a:t>Strong community, low competition</a:t>
            </a:r>
            <a:endParaRPr lang="en-US" sz="800" dirty="0"/>
          </a:p>
        </p:txBody>
      </p:sp>
      <p:sp>
        <p:nvSpPr>
          <p:cNvPr id="39" name="Shape 34"/>
          <p:cNvSpPr/>
          <p:nvPr/>
        </p:nvSpPr>
        <p:spPr>
          <a:xfrm>
            <a:off x="6300216" y="3270830"/>
            <a:ext cx="2286000" cy="777240"/>
          </a:xfrm>
          <a:prstGeom prst="rect">
            <a:avLst/>
          </a:prstGeom>
          <a:solidFill>
            <a:srgbClr val="111111"/>
          </a:solidFill>
          <a:ln w="6350">
            <a:solidFill>
              <a:srgbClr val="2A2A2A"/>
            </a:solidFill>
            <a:prstDash val="solid"/>
          </a:ln>
        </p:spPr>
        <p:txBody>
          <a:bodyPr/>
          <a:lstStyle/>
          <a:p>
            <a:endParaRPr lang="en-AU"/>
          </a:p>
        </p:txBody>
      </p:sp>
      <p:pic>
        <p:nvPicPr>
          <p:cNvPr id="40" name="Image 3" descr="preencoded.png"/>
          <p:cNvPicPr>
            <a:picLocks noChangeAspect="1"/>
          </p:cNvPicPr>
          <p:nvPr/>
        </p:nvPicPr>
        <p:blipFill>
          <a:blip r:embed="rId4"/>
          <a:stretch>
            <a:fillRect/>
          </a:stretch>
        </p:blipFill>
        <p:spPr>
          <a:xfrm>
            <a:off x="6364224" y="3502091"/>
            <a:ext cx="347472" cy="347472"/>
          </a:xfrm>
          <a:prstGeom prst="rect">
            <a:avLst/>
          </a:prstGeom>
        </p:spPr>
      </p:pic>
      <p:sp>
        <p:nvSpPr>
          <p:cNvPr id="41" name="Text 35"/>
          <p:cNvSpPr/>
          <p:nvPr/>
        </p:nvSpPr>
        <p:spPr>
          <a:xfrm>
            <a:off x="6761988" y="3359840"/>
            <a:ext cx="1691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Bendigo</a:t>
            </a:r>
            <a:endParaRPr lang="en-US" sz="1400" dirty="0"/>
          </a:p>
        </p:txBody>
      </p:sp>
      <p:sp>
        <p:nvSpPr>
          <p:cNvPr id="42" name="Text 36"/>
          <p:cNvSpPr/>
          <p:nvPr/>
        </p:nvSpPr>
        <p:spPr>
          <a:xfrm>
            <a:off x="6768846" y="3675642"/>
            <a:ext cx="86868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115,000+</a:t>
            </a:r>
            <a:endParaRPr lang="en-US" sz="1100" dirty="0"/>
          </a:p>
        </p:txBody>
      </p:sp>
      <p:sp>
        <p:nvSpPr>
          <p:cNvPr id="43" name="Text 37"/>
          <p:cNvSpPr/>
          <p:nvPr/>
        </p:nvSpPr>
        <p:spPr>
          <a:xfrm>
            <a:off x="7566660" y="3518450"/>
            <a:ext cx="886968" cy="320040"/>
          </a:xfrm>
          <a:prstGeom prst="rect">
            <a:avLst/>
          </a:prstGeom>
          <a:noFill/>
          <a:ln/>
        </p:spPr>
        <p:txBody>
          <a:bodyPr wrap="square" lIns="0" tIns="0" rIns="0" bIns="0" rtlCol="0" anchor="ctr"/>
          <a:lstStyle/>
          <a:p>
            <a:pPr marL="0" indent="0">
              <a:buNone/>
            </a:pPr>
            <a:r>
              <a:rPr lang="en-US" sz="800" dirty="0">
                <a:solidFill>
                  <a:srgbClr val="888888"/>
                </a:solidFill>
                <a:latin typeface="Calibri" pitchFamily="34" charset="0"/>
                <a:ea typeface="Calibri" pitchFamily="34" charset="-122"/>
                <a:cs typeface="Calibri" pitchFamily="34" charset="-120"/>
              </a:rPr>
              <a:t>Growing market, underserved</a:t>
            </a:r>
            <a:endParaRPr lang="en-US" sz="800" dirty="0"/>
          </a:p>
        </p:txBody>
      </p:sp>
      <p:sp>
        <p:nvSpPr>
          <p:cNvPr id="44" name="Shape 38"/>
          <p:cNvSpPr/>
          <p:nvPr/>
        </p:nvSpPr>
        <p:spPr>
          <a:xfrm>
            <a:off x="6126480" y="4181256"/>
            <a:ext cx="2606040" cy="502920"/>
          </a:xfrm>
          <a:prstGeom prst="rect">
            <a:avLst/>
          </a:prstGeom>
          <a:solidFill>
            <a:srgbClr val="27AE60"/>
          </a:solidFill>
          <a:ln w="12700">
            <a:solidFill>
              <a:srgbClr val="27AE60"/>
            </a:solidFill>
            <a:prstDash val="solid"/>
          </a:ln>
        </p:spPr>
        <p:txBody>
          <a:bodyPr/>
          <a:lstStyle/>
          <a:p>
            <a:endParaRPr lang="en-AU" dirty="0"/>
          </a:p>
        </p:txBody>
      </p:sp>
      <p:sp>
        <p:nvSpPr>
          <p:cNvPr id="45" name="Text 39"/>
          <p:cNvSpPr/>
          <p:nvPr/>
        </p:nvSpPr>
        <p:spPr>
          <a:xfrm>
            <a:off x="6140196" y="4193335"/>
            <a:ext cx="26060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Early presence can build local advantage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Implementation Roadmap</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36 MONTH PHASED APPROACH · LOW RISK FIRST · SCALE ON PROOF</a:t>
            </a:r>
            <a:endParaRPr lang="en-US" sz="950" dirty="0"/>
          </a:p>
        </p:txBody>
      </p:sp>
      <p:sp>
        <p:nvSpPr>
          <p:cNvPr id="8" name="Shape 5"/>
          <p:cNvSpPr/>
          <p:nvPr/>
        </p:nvSpPr>
        <p:spPr>
          <a:xfrm>
            <a:off x="411480" y="1572768"/>
            <a:ext cx="8375904" cy="64008"/>
          </a:xfrm>
          <a:prstGeom prst="rect">
            <a:avLst/>
          </a:prstGeom>
          <a:solidFill>
            <a:srgbClr val="2A2A2A"/>
          </a:solidFill>
          <a:ln w="12700">
            <a:solidFill>
              <a:srgbClr val="2A2A2A"/>
            </a:solidFill>
            <a:prstDash val="solid"/>
          </a:ln>
        </p:spPr>
        <p:txBody>
          <a:bodyPr/>
          <a:lstStyle/>
          <a:p>
            <a:endParaRPr lang="en-AU"/>
          </a:p>
        </p:txBody>
      </p:sp>
      <p:sp>
        <p:nvSpPr>
          <p:cNvPr id="9" name="Shape 6"/>
          <p:cNvSpPr/>
          <p:nvPr/>
        </p:nvSpPr>
        <p:spPr>
          <a:xfrm>
            <a:off x="356616" y="1545336"/>
            <a:ext cx="128016" cy="128016"/>
          </a:xfrm>
          <a:prstGeom prst="ellipse">
            <a:avLst/>
          </a:prstGeom>
          <a:solidFill>
            <a:srgbClr val="C8102E"/>
          </a:solidFill>
          <a:ln w="12700">
            <a:solidFill>
              <a:srgbClr val="C8102E"/>
            </a:solidFill>
            <a:prstDash val="solid"/>
          </a:ln>
        </p:spPr>
        <p:txBody>
          <a:bodyPr/>
          <a:lstStyle/>
          <a:p>
            <a:endParaRPr lang="en-AU"/>
          </a:p>
        </p:txBody>
      </p:sp>
      <p:sp>
        <p:nvSpPr>
          <p:cNvPr id="10" name="Shape 7"/>
          <p:cNvSpPr/>
          <p:nvPr/>
        </p:nvSpPr>
        <p:spPr>
          <a:xfrm>
            <a:off x="411480" y="1755648"/>
            <a:ext cx="1965960" cy="3108960"/>
          </a:xfrm>
          <a:prstGeom prst="rect">
            <a:avLst/>
          </a:prstGeom>
          <a:solidFill>
            <a:srgbClr val="1A1A1A"/>
          </a:solidFill>
          <a:ln w="12700">
            <a:solidFill>
              <a:srgbClr val="C8102E"/>
            </a:solidFill>
            <a:prstDash val="solid"/>
          </a:ln>
          <a:effectLst>
            <a:outerShdw blurRad="127000" dist="38100" dir="8100000" algn="bl" rotWithShape="0">
              <a:srgbClr val="000000">
                <a:alpha val="40000"/>
              </a:srgbClr>
            </a:outerShdw>
          </a:effectLst>
        </p:spPr>
        <p:txBody>
          <a:bodyPr/>
          <a:lstStyle/>
          <a:p>
            <a:endParaRPr lang="en-AU"/>
          </a:p>
        </p:txBody>
      </p:sp>
      <p:sp>
        <p:nvSpPr>
          <p:cNvPr id="11" name="Shape 8"/>
          <p:cNvSpPr/>
          <p:nvPr/>
        </p:nvSpPr>
        <p:spPr>
          <a:xfrm>
            <a:off x="411480" y="1755648"/>
            <a:ext cx="1965960" cy="54864"/>
          </a:xfrm>
          <a:prstGeom prst="rect">
            <a:avLst/>
          </a:prstGeom>
          <a:solidFill>
            <a:srgbClr val="C8102E"/>
          </a:solidFill>
          <a:ln w="12700">
            <a:solidFill>
              <a:srgbClr val="C8102E"/>
            </a:solidFill>
            <a:prstDash val="solid"/>
          </a:ln>
        </p:spPr>
        <p:txBody>
          <a:bodyPr/>
          <a:lstStyle/>
          <a:p>
            <a:endParaRPr lang="en-AU"/>
          </a:p>
        </p:txBody>
      </p:sp>
      <p:sp>
        <p:nvSpPr>
          <p:cNvPr id="12" name="Text 9"/>
          <p:cNvSpPr/>
          <p:nvPr/>
        </p:nvSpPr>
        <p:spPr>
          <a:xfrm>
            <a:off x="521208" y="1847088"/>
            <a:ext cx="1801368" cy="329184"/>
          </a:xfrm>
          <a:prstGeom prst="rect">
            <a:avLst/>
          </a:prstGeom>
          <a:noFill/>
          <a:ln/>
        </p:spPr>
        <p:txBody>
          <a:bodyPr wrap="square" lIns="0" tIns="0" rIns="0" bIns="0" rtlCol="0" anchor="ctr"/>
          <a:lstStyle/>
          <a:p>
            <a:pPr marL="0" indent="0">
              <a:buNone/>
            </a:pPr>
            <a:r>
              <a:rPr lang="en-US" sz="1300" b="1" dirty="0">
                <a:solidFill>
                  <a:srgbClr val="C8102E"/>
                </a:solidFill>
                <a:latin typeface="Calibri" pitchFamily="34" charset="0"/>
                <a:ea typeface="Calibri" pitchFamily="34" charset="-122"/>
                <a:cs typeface="Calibri" pitchFamily="34" charset="-120"/>
              </a:rPr>
              <a:t>Phase 1</a:t>
            </a:r>
            <a:endParaRPr lang="en-US" sz="1300" dirty="0"/>
          </a:p>
        </p:txBody>
      </p:sp>
      <p:sp>
        <p:nvSpPr>
          <p:cNvPr id="13" name="Text 10"/>
          <p:cNvSpPr/>
          <p:nvPr/>
        </p:nvSpPr>
        <p:spPr>
          <a:xfrm>
            <a:off x="521208" y="2157984"/>
            <a:ext cx="180136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Quick Wins</a:t>
            </a:r>
            <a:endParaRPr lang="en-US" sz="1050" dirty="0"/>
          </a:p>
        </p:txBody>
      </p:sp>
      <p:sp>
        <p:nvSpPr>
          <p:cNvPr id="14" name="Text 11"/>
          <p:cNvSpPr/>
          <p:nvPr/>
        </p:nvSpPr>
        <p:spPr>
          <a:xfrm>
            <a:off x="521208" y="2414016"/>
            <a:ext cx="1801368" cy="237744"/>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0 – 3 months</a:t>
            </a:r>
            <a:endParaRPr lang="en-US" sz="850" dirty="0"/>
          </a:p>
        </p:txBody>
      </p:sp>
      <p:sp>
        <p:nvSpPr>
          <p:cNvPr id="15" name="Shape 12"/>
          <p:cNvSpPr/>
          <p:nvPr/>
        </p:nvSpPr>
        <p:spPr>
          <a:xfrm>
            <a:off x="521208" y="2724912"/>
            <a:ext cx="1746504" cy="36576"/>
          </a:xfrm>
          <a:prstGeom prst="rect">
            <a:avLst/>
          </a:prstGeom>
          <a:solidFill>
            <a:srgbClr val="2A2A2A"/>
          </a:solidFill>
          <a:ln w="12700">
            <a:solidFill>
              <a:srgbClr val="2A2A2A"/>
            </a:solidFill>
            <a:prstDash val="solid"/>
          </a:ln>
        </p:spPr>
        <p:txBody>
          <a:bodyPr/>
          <a:lstStyle/>
          <a:p>
            <a:endParaRPr lang="en-AU"/>
          </a:p>
        </p:txBody>
      </p:sp>
      <p:sp>
        <p:nvSpPr>
          <p:cNvPr id="16" name="Shape 13"/>
          <p:cNvSpPr/>
          <p:nvPr/>
        </p:nvSpPr>
        <p:spPr>
          <a:xfrm>
            <a:off x="543482" y="2990088"/>
            <a:ext cx="91440" cy="91440"/>
          </a:xfrm>
          <a:prstGeom prst="ellipse">
            <a:avLst/>
          </a:prstGeom>
          <a:solidFill>
            <a:srgbClr val="C8102E"/>
          </a:solidFill>
          <a:ln w="12700">
            <a:solidFill>
              <a:srgbClr val="C8102E"/>
            </a:solidFill>
            <a:prstDash val="solid"/>
          </a:ln>
        </p:spPr>
        <p:txBody>
          <a:bodyPr/>
          <a:lstStyle/>
          <a:p>
            <a:endParaRPr lang="en-AU"/>
          </a:p>
        </p:txBody>
      </p:sp>
      <p:sp>
        <p:nvSpPr>
          <p:cNvPr id="17" name="Text 14"/>
          <p:cNvSpPr/>
          <p:nvPr/>
        </p:nvSpPr>
        <p:spPr>
          <a:xfrm>
            <a:off x="685800" y="2807208"/>
            <a:ext cx="158191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Differentiated seat pricing</a:t>
            </a:r>
            <a:endParaRPr lang="en-US" sz="950" dirty="0"/>
          </a:p>
        </p:txBody>
      </p:sp>
      <p:sp>
        <p:nvSpPr>
          <p:cNvPr id="18" name="Shape 15"/>
          <p:cNvSpPr/>
          <p:nvPr/>
        </p:nvSpPr>
        <p:spPr>
          <a:xfrm>
            <a:off x="539496" y="3424428"/>
            <a:ext cx="91440" cy="91440"/>
          </a:xfrm>
          <a:prstGeom prst="ellipse">
            <a:avLst/>
          </a:prstGeom>
          <a:solidFill>
            <a:srgbClr val="C8102E"/>
          </a:solidFill>
          <a:ln w="12700">
            <a:solidFill>
              <a:srgbClr val="C8102E"/>
            </a:solidFill>
            <a:prstDash val="solid"/>
          </a:ln>
        </p:spPr>
        <p:txBody>
          <a:bodyPr/>
          <a:lstStyle/>
          <a:p>
            <a:endParaRPr lang="en-AU"/>
          </a:p>
        </p:txBody>
      </p:sp>
      <p:sp>
        <p:nvSpPr>
          <p:cNvPr id="19" name="Text 16"/>
          <p:cNvSpPr/>
          <p:nvPr/>
        </p:nvSpPr>
        <p:spPr>
          <a:xfrm>
            <a:off x="685800" y="3310128"/>
            <a:ext cx="158191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Value pricing for lower-profile titles</a:t>
            </a:r>
            <a:endParaRPr lang="en-US" sz="950" dirty="0"/>
          </a:p>
        </p:txBody>
      </p:sp>
      <p:sp>
        <p:nvSpPr>
          <p:cNvPr id="20" name="Shape 17"/>
          <p:cNvSpPr/>
          <p:nvPr/>
        </p:nvSpPr>
        <p:spPr>
          <a:xfrm>
            <a:off x="539496" y="3995928"/>
            <a:ext cx="91440" cy="91440"/>
          </a:xfrm>
          <a:prstGeom prst="ellipse">
            <a:avLst/>
          </a:prstGeom>
          <a:solidFill>
            <a:srgbClr val="C8102E"/>
          </a:solidFill>
          <a:ln w="12700">
            <a:solidFill>
              <a:srgbClr val="C8102E"/>
            </a:solidFill>
            <a:prstDash val="solid"/>
          </a:ln>
        </p:spPr>
        <p:txBody>
          <a:bodyPr/>
          <a:lstStyle/>
          <a:p>
            <a:endParaRPr lang="en-AU"/>
          </a:p>
        </p:txBody>
      </p:sp>
      <p:sp>
        <p:nvSpPr>
          <p:cNvPr id="21" name="Text 18"/>
          <p:cNvSpPr/>
          <p:nvPr/>
        </p:nvSpPr>
        <p:spPr>
          <a:xfrm>
            <a:off x="685800" y="3813048"/>
            <a:ext cx="158191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Weekday value pricing</a:t>
            </a:r>
            <a:endParaRPr lang="en-US" sz="950" dirty="0"/>
          </a:p>
        </p:txBody>
      </p:sp>
      <p:sp>
        <p:nvSpPr>
          <p:cNvPr id="22" name="Shape 19"/>
          <p:cNvSpPr/>
          <p:nvPr/>
        </p:nvSpPr>
        <p:spPr>
          <a:xfrm>
            <a:off x="543482" y="4498848"/>
            <a:ext cx="91440" cy="91440"/>
          </a:xfrm>
          <a:prstGeom prst="ellipse">
            <a:avLst/>
          </a:prstGeom>
          <a:solidFill>
            <a:srgbClr val="C8102E"/>
          </a:solidFill>
          <a:ln w="12700">
            <a:solidFill>
              <a:srgbClr val="C8102E"/>
            </a:solidFill>
            <a:prstDash val="solid"/>
          </a:ln>
        </p:spPr>
        <p:txBody>
          <a:bodyPr/>
          <a:lstStyle/>
          <a:p>
            <a:endParaRPr lang="en-AU"/>
          </a:p>
        </p:txBody>
      </p:sp>
      <p:sp>
        <p:nvSpPr>
          <p:cNvPr id="23" name="Text 20"/>
          <p:cNvSpPr/>
          <p:nvPr/>
        </p:nvSpPr>
        <p:spPr>
          <a:xfrm>
            <a:off x="685800" y="4315968"/>
            <a:ext cx="158191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Food and beverage upgrades</a:t>
            </a:r>
            <a:endParaRPr lang="en-US" sz="950" dirty="0"/>
          </a:p>
        </p:txBody>
      </p:sp>
      <p:sp>
        <p:nvSpPr>
          <p:cNvPr id="24" name="Shape 21"/>
          <p:cNvSpPr/>
          <p:nvPr/>
        </p:nvSpPr>
        <p:spPr>
          <a:xfrm>
            <a:off x="2459736" y="1545336"/>
            <a:ext cx="128016" cy="128016"/>
          </a:xfrm>
          <a:prstGeom prst="ellipse">
            <a:avLst/>
          </a:prstGeom>
          <a:solidFill>
            <a:srgbClr val="2980B9"/>
          </a:solidFill>
          <a:ln w="12700">
            <a:solidFill>
              <a:srgbClr val="2980B9"/>
            </a:solidFill>
            <a:prstDash val="solid"/>
          </a:ln>
        </p:spPr>
        <p:txBody>
          <a:bodyPr/>
          <a:lstStyle/>
          <a:p>
            <a:endParaRPr lang="en-AU"/>
          </a:p>
        </p:txBody>
      </p:sp>
      <p:sp>
        <p:nvSpPr>
          <p:cNvPr id="25" name="Shape 22"/>
          <p:cNvSpPr/>
          <p:nvPr/>
        </p:nvSpPr>
        <p:spPr>
          <a:xfrm>
            <a:off x="2514600" y="1755648"/>
            <a:ext cx="2057400" cy="3108960"/>
          </a:xfrm>
          <a:prstGeom prst="rect">
            <a:avLst/>
          </a:prstGeom>
          <a:solidFill>
            <a:srgbClr val="1A1A1A"/>
          </a:solidFill>
          <a:ln w="12700">
            <a:solidFill>
              <a:srgbClr val="2980B9"/>
            </a:solidFill>
            <a:prstDash val="solid"/>
          </a:ln>
          <a:effectLst>
            <a:outerShdw blurRad="127000" dist="38100" dir="8100000" algn="bl" rotWithShape="0">
              <a:srgbClr val="000000">
                <a:alpha val="40000"/>
              </a:srgbClr>
            </a:outerShdw>
          </a:effectLst>
        </p:spPr>
        <p:txBody>
          <a:bodyPr/>
          <a:lstStyle/>
          <a:p>
            <a:endParaRPr lang="en-AU"/>
          </a:p>
        </p:txBody>
      </p:sp>
      <p:sp>
        <p:nvSpPr>
          <p:cNvPr id="26" name="Shape 23"/>
          <p:cNvSpPr/>
          <p:nvPr/>
        </p:nvSpPr>
        <p:spPr>
          <a:xfrm>
            <a:off x="2514600" y="1755648"/>
            <a:ext cx="2057400" cy="54864"/>
          </a:xfrm>
          <a:prstGeom prst="rect">
            <a:avLst/>
          </a:prstGeom>
          <a:solidFill>
            <a:srgbClr val="2980B9"/>
          </a:solidFill>
          <a:ln w="12700">
            <a:solidFill>
              <a:srgbClr val="2980B9"/>
            </a:solidFill>
            <a:prstDash val="solid"/>
          </a:ln>
        </p:spPr>
        <p:txBody>
          <a:bodyPr/>
          <a:lstStyle/>
          <a:p>
            <a:endParaRPr lang="en-AU"/>
          </a:p>
        </p:txBody>
      </p:sp>
      <p:sp>
        <p:nvSpPr>
          <p:cNvPr id="27" name="Text 24"/>
          <p:cNvSpPr/>
          <p:nvPr/>
        </p:nvSpPr>
        <p:spPr>
          <a:xfrm>
            <a:off x="2624328" y="1847088"/>
            <a:ext cx="1892808" cy="329184"/>
          </a:xfrm>
          <a:prstGeom prst="rect">
            <a:avLst/>
          </a:prstGeom>
          <a:noFill/>
          <a:ln/>
        </p:spPr>
        <p:txBody>
          <a:bodyPr wrap="square" lIns="0" tIns="0" rIns="0" bIns="0" rtlCol="0" anchor="ctr"/>
          <a:lstStyle/>
          <a:p>
            <a:pPr marL="0" indent="0">
              <a:buNone/>
            </a:pPr>
            <a:r>
              <a:rPr lang="en-US" sz="1300" b="1" dirty="0">
                <a:solidFill>
                  <a:srgbClr val="2980B9"/>
                </a:solidFill>
                <a:latin typeface="Calibri" pitchFamily="34" charset="0"/>
                <a:ea typeface="Calibri" pitchFamily="34" charset="-122"/>
                <a:cs typeface="Calibri" pitchFamily="34" charset="-120"/>
              </a:rPr>
              <a:t>Phase 2</a:t>
            </a:r>
            <a:endParaRPr lang="en-US" sz="1300" dirty="0"/>
          </a:p>
        </p:txBody>
      </p:sp>
      <p:sp>
        <p:nvSpPr>
          <p:cNvPr id="28" name="Text 25"/>
          <p:cNvSpPr/>
          <p:nvPr/>
        </p:nvSpPr>
        <p:spPr>
          <a:xfrm>
            <a:off x="2624328" y="2157984"/>
            <a:ext cx="189280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Digital</a:t>
            </a:r>
            <a:endParaRPr lang="en-US" sz="1050" dirty="0"/>
          </a:p>
        </p:txBody>
      </p:sp>
      <p:sp>
        <p:nvSpPr>
          <p:cNvPr id="29" name="Text 26"/>
          <p:cNvSpPr/>
          <p:nvPr/>
        </p:nvSpPr>
        <p:spPr>
          <a:xfrm>
            <a:off x="2624328" y="2414016"/>
            <a:ext cx="1892808" cy="237744"/>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3 – 9 months</a:t>
            </a:r>
            <a:endParaRPr lang="en-US" sz="850" dirty="0"/>
          </a:p>
        </p:txBody>
      </p:sp>
      <p:sp>
        <p:nvSpPr>
          <p:cNvPr id="30" name="Shape 27"/>
          <p:cNvSpPr/>
          <p:nvPr/>
        </p:nvSpPr>
        <p:spPr>
          <a:xfrm>
            <a:off x="2624328" y="2724912"/>
            <a:ext cx="1837944" cy="36576"/>
          </a:xfrm>
          <a:prstGeom prst="rect">
            <a:avLst/>
          </a:prstGeom>
          <a:solidFill>
            <a:srgbClr val="2A2A2A"/>
          </a:solidFill>
          <a:ln w="12700">
            <a:solidFill>
              <a:srgbClr val="2A2A2A"/>
            </a:solidFill>
            <a:prstDash val="solid"/>
          </a:ln>
        </p:spPr>
        <p:txBody>
          <a:bodyPr/>
          <a:lstStyle/>
          <a:p>
            <a:endParaRPr lang="en-AU"/>
          </a:p>
        </p:txBody>
      </p:sp>
      <p:sp>
        <p:nvSpPr>
          <p:cNvPr id="31" name="Shape 28"/>
          <p:cNvSpPr/>
          <p:nvPr/>
        </p:nvSpPr>
        <p:spPr>
          <a:xfrm>
            <a:off x="2651760" y="2990088"/>
            <a:ext cx="91440" cy="91440"/>
          </a:xfrm>
          <a:prstGeom prst="ellipse">
            <a:avLst/>
          </a:prstGeom>
          <a:solidFill>
            <a:srgbClr val="2980B9"/>
          </a:solidFill>
          <a:ln w="12700">
            <a:solidFill>
              <a:srgbClr val="2980B9"/>
            </a:solidFill>
            <a:prstDash val="solid"/>
          </a:ln>
        </p:spPr>
        <p:txBody>
          <a:bodyPr/>
          <a:lstStyle/>
          <a:p>
            <a:endParaRPr lang="en-AU"/>
          </a:p>
        </p:txBody>
      </p:sp>
      <p:sp>
        <p:nvSpPr>
          <p:cNvPr id="32" name="Text 29"/>
          <p:cNvSpPr/>
          <p:nvPr/>
        </p:nvSpPr>
        <p:spPr>
          <a:xfrm>
            <a:off x="2788920" y="2807208"/>
            <a:ext cx="167335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App &amp; booking redesign</a:t>
            </a:r>
            <a:endParaRPr lang="en-US" sz="950" dirty="0"/>
          </a:p>
        </p:txBody>
      </p:sp>
      <p:sp>
        <p:nvSpPr>
          <p:cNvPr id="33" name="Shape 30"/>
          <p:cNvSpPr/>
          <p:nvPr/>
        </p:nvSpPr>
        <p:spPr>
          <a:xfrm>
            <a:off x="2642616" y="3493008"/>
            <a:ext cx="91440" cy="91440"/>
          </a:xfrm>
          <a:prstGeom prst="ellipse">
            <a:avLst/>
          </a:prstGeom>
          <a:solidFill>
            <a:srgbClr val="2980B9"/>
          </a:solidFill>
          <a:ln w="12700">
            <a:solidFill>
              <a:srgbClr val="2980B9"/>
            </a:solidFill>
            <a:prstDash val="solid"/>
          </a:ln>
        </p:spPr>
        <p:txBody>
          <a:bodyPr/>
          <a:lstStyle/>
          <a:p>
            <a:endParaRPr lang="en-AU"/>
          </a:p>
        </p:txBody>
      </p:sp>
      <p:sp>
        <p:nvSpPr>
          <p:cNvPr id="34" name="Text 31"/>
          <p:cNvSpPr/>
          <p:nvPr/>
        </p:nvSpPr>
        <p:spPr>
          <a:xfrm>
            <a:off x="2788920" y="3310128"/>
            <a:ext cx="167335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Online booking fee removal</a:t>
            </a:r>
            <a:endParaRPr lang="en-US" sz="950" dirty="0"/>
          </a:p>
        </p:txBody>
      </p:sp>
      <p:sp>
        <p:nvSpPr>
          <p:cNvPr id="35" name="Shape 32"/>
          <p:cNvSpPr/>
          <p:nvPr/>
        </p:nvSpPr>
        <p:spPr>
          <a:xfrm>
            <a:off x="4654296" y="1545336"/>
            <a:ext cx="128016" cy="128016"/>
          </a:xfrm>
          <a:prstGeom prst="ellipse">
            <a:avLst/>
          </a:prstGeom>
          <a:solidFill>
            <a:srgbClr val="F39C12"/>
          </a:solidFill>
          <a:ln w="12700">
            <a:solidFill>
              <a:srgbClr val="F39C12"/>
            </a:solidFill>
            <a:prstDash val="solid"/>
          </a:ln>
        </p:spPr>
        <p:txBody>
          <a:bodyPr/>
          <a:lstStyle/>
          <a:p>
            <a:endParaRPr lang="en-AU"/>
          </a:p>
        </p:txBody>
      </p:sp>
      <p:sp>
        <p:nvSpPr>
          <p:cNvPr id="36" name="Shape 33"/>
          <p:cNvSpPr/>
          <p:nvPr/>
        </p:nvSpPr>
        <p:spPr>
          <a:xfrm>
            <a:off x="4709160" y="1755648"/>
            <a:ext cx="2011680" cy="3108960"/>
          </a:xfrm>
          <a:prstGeom prst="rect">
            <a:avLst/>
          </a:prstGeom>
          <a:solidFill>
            <a:srgbClr val="1A1A1A"/>
          </a:solidFill>
          <a:ln w="12700">
            <a:solidFill>
              <a:srgbClr val="F39C12"/>
            </a:solidFill>
            <a:prstDash val="solid"/>
          </a:ln>
          <a:effectLst>
            <a:outerShdw blurRad="127000" dist="38100" dir="8100000" algn="bl" rotWithShape="0">
              <a:srgbClr val="000000">
                <a:alpha val="40000"/>
              </a:srgbClr>
            </a:outerShdw>
          </a:effectLst>
        </p:spPr>
        <p:txBody>
          <a:bodyPr/>
          <a:lstStyle/>
          <a:p>
            <a:endParaRPr lang="en-AU"/>
          </a:p>
        </p:txBody>
      </p:sp>
      <p:sp>
        <p:nvSpPr>
          <p:cNvPr id="37" name="Shape 34"/>
          <p:cNvSpPr/>
          <p:nvPr/>
        </p:nvSpPr>
        <p:spPr>
          <a:xfrm>
            <a:off x="4709160" y="1755648"/>
            <a:ext cx="2011680" cy="54864"/>
          </a:xfrm>
          <a:prstGeom prst="rect">
            <a:avLst/>
          </a:prstGeom>
          <a:solidFill>
            <a:srgbClr val="F39C12"/>
          </a:solidFill>
          <a:ln w="12700">
            <a:solidFill>
              <a:srgbClr val="F39C12"/>
            </a:solidFill>
            <a:prstDash val="solid"/>
          </a:ln>
        </p:spPr>
        <p:txBody>
          <a:bodyPr/>
          <a:lstStyle/>
          <a:p>
            <a:endParaRPr lang="en-AU"/>
          </a:p>
        </p:txBody>
      </p:sp>
      <p:sp>
        <p:nvSpPr>
          <p:cNvPr id="38" name="Text 35"/>
          <p:cNvSpPr/>
          <p:nvPr/>
        </p:nvSpPr>
        <p:spPr>
          <a:xfrm>
            <a:off x="4818888" y="1847088"/>
            <a:ext cx="1847088" cy="329184"/>
          </a:xfrm>
          <a:prstGeom prst="rect">
            <a:avLst/>
          </a:prstGeom>
          <a:noFill/>
          <a:ln/>
        </p:spPr>
        <p:txBody>
          <a:bodyPr wrap="square" lIns="0" tIns="0" rIns="0" bIns="0" rtlCol="0" anchor="ctr"/>
          <a:lstStyle/>
          <a:p>
            <a:pPr marL="0" indent="0">
              <a:buNone/>
            </a:pPr>
            <a:r>
              <a:rPr lang="en-US" sz="1300" b="1" dirty="0">
                <a:solidFill>
                  <a:srgbClr val="F39C12"/>
                </a:solidFill>
                <a:latin typeface="Calibri" pitchFamily="34" charset="0"/>
                <a:ea typeface="Calibri" pitchFamily="34" charset="-122"/>
                <a:cs typeface="Calibri" pitchFamily="34" charset="-120"/>
              </a:rPr>
              <a:t>Phase 3</a:t>
            </a:r>
            <a:endParaRPr lang="en-US" sz="1300" dirty="0"/>
          </a:p>
        </p:txBody>
      </p:sp>
      <p:sp>
        <p:nvSpPr>
          <p:cNvPr id="39" name="Text 36"/>
          <p:cNvSpPr/>
          <p:nvPr/>
        </p:nvSpPr>
        <p:spPr>
          <a:xfrm>
            <a:off x="4818888" y="2157984"/>
            <a:ext cx="184708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Programming</a:t>
            </a:r>
            <a:endParaRPr lang="en-US" sz="1050" dirty="0"/>
          </a:p>
        </p:txBody>
      </p:sp>
      <p:sp>
        <p:nvSpPr>
          <p:cNvPr id="40" name="Text 37"/>
          <p:cNvSpPr/>
          <p:nvPr/>
        </p:nvSpPr>
        <p:spPr>
          <a:xfrm>
            <a:off x="4818888" y="2414016"/>
            <a:ext cx="1847088" cy="237744"/>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6 – 12 months</a:t>
            </a:r>
            <a:endParaRPr lang="en-US" sz="850" dirty="0"/>
          </a:p>
        </p:txBody>
      </p:sp>
      <p:sp>
        <p:nvSpPr>
          <p:cNvPr id="41" name="Shape 38"/>
          <p:cNvSpPr/>
          <p:nvPr/>
        </p:nvSpPr>
        <p:spPr>
          <a:xfrm>
            <a:off x="4818888" y="2724912"/>
            <a:ext cx="1792224" cy="36576"/>
          </a:xfrm>
          <a:prstGeom prst="rect">
            <a:avLst/>
          </a:prstGeom>
          <a:solidFill>
            <a:srgbClr val="2A2A2A"/>
          </a:solidFill>
          <a:ln w="12700">
            <a:solidFill>
              <a:srgbClr val="2A2A2A"/>
            </a:solidFill>
            <a:prstDash val="solid"/>
          </a:ln>
        </p:spPr>
        <p:txBody>
          <a:bodyPr/>
          <a:lstStyle/>
          <a:p>
            <a:endParaRPr lang="en-AU"/>
          </a:p>
        </p:txBody>
      </p:sp>
      <p:sp>
        <p:nvSpPr>
          <p:cNvPr id="42" name="Shape 39"/>
          <p:cNvSpPr/>
          <p:nvPr/>
        </p:nvSpPr>
        <p:spPr>
          <a:xfrm>
            <a:off x="4837176" y="2990088"/>
            <a:ext cx="91440" cy="91440"/>
          </a:xfrm>
          <a:prstGeom prst="ellipse">
            <a:avLst/>
          </a:prstGeom>
          <a:solidFill>
            <a:srgbClr val="F39C12"/>
          </a:solidFill>
          <a:ln w="12700">
            <a:solidFill>
              <a:srgbClr val="F39C12"/>
            </a:solidFill>
            <a:prstDash val="solid"/>
          </a:ln>
        </p:spPr>
        <p:txBody>
          <a:bodyPr/>
          <a:lstStyle/>
          <a:p>
            <a:endParaRPr lang="en-AU"/>
          </a:p>
        </p:txBody>
      </p:sp>
      <p:sp>
        <p:nvSpPr>
          <p:cNvPr id="43" name="Text 40"/>
          <p:cNvSpPr/>
          <p:nvPr/>
        </p:nvSpPr>
        <p:spPr>
          <a:xfrm>
            <a:off x="4983480" y="2807208"/>
            <a:ext cx="162763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Localised programming</a:t>
            </a:r>
            <a:endParaRPr lang="en-US" sz="950" dirty="0"/>
          </a:p>
        </p:txBody>
      </p:sp>
      <p:sp>
        <p:nvSpPr>
          <p:cNvPr id="44" name="Shape 41"/>
          <p:cNvSpPr/>
          <p:nvPr/>
        </p:nvSpPr>
        <p:spPr>
          <a:xfrm>
            <a:off x="4840840" y="3493008"/>
            <a:ext cx="91440" cy="91440"/>
          </a:xfrm>
          <a:prstGeom prst="ellipse">
            <a:avLst/>
          </a:prstGeom>
          <a:solidFill>
            <a:srgbClr val="F39C12"/>
          </a:solidFill>
          <a:ln w="12700">
            <a:solidFill>
              <a:srgbClr val="F39C12"/>
            </a:solidFill>
            <a:prstDash val="solid"/>
          </a:ln>
        </p:spPr>
        <p:txBody>
          <a:bodyPr/>
          <a:lstStyle/>
          <a:p>
            <a:endParaRPr lang="en-AU"/>
          </a:p>
        </p:txBody>
      </p:sp>
      <p:sp>
        <p:nvSpPr>
          <p:cNvPr id="45" name="Text 42"/>
          <p:cNvSpPr/>
          <p:nvPr/>
        </p:nvSpPr>
        <p:spPr>
          <a:xfrm>
            <a:off x="4983480" y="3310128"/>
            <a:ext cx="162763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Curated re-screenings</a:t>
            </a:r>
            <a:endParaRPr lang="en-US" sz="950" dirty="0"/>
          </a:p>
        </p:txBody>
      </p:sp>
      <p:sp>
        <p:nvSpPr>
          <p:cNvPr id="46" name="Shape 43"/>
          <p:cNvSpPr/>
          <p:nvPr/>
        </p:nvSpPr>
        <p:spPr>
          <a:xfrm>
            <a:off x="4840840" y="3995928"/>
            <a:ext cx="91440" cy="91440"/>
          </a:xfrm>
          <a:prstGeom prst="ellipse">
            <a:avLst/>
          </a:prstGeom>
          <a:solidFill>
            <a:srgbClr val="F39C12"/>
          </a:solidFill>
          <a:ln w="12700">
            <a:solidFill>
              <a:srgbClr val="F39C12"/>
            </a:solidFill>
            <a:prstDash val="solid"/>
          </a:ln>
        </p:spPr>
        <p:txBody>
          <a:bodyPr/>
          <a:lstStyle/>
          <a:p>
            <a:endParaRPr lang="en-AU"/>
          </a:p>
        </p:txBody>
      </p:sp>
      <p:sp>
        <p:nvSpPr>
          <p:cNvPr id="47" name="Text 44"/>
          <p:cNvSpPr/>
          <p:nvPr/>
        </p:nvSpPr>
        <p:spPr>
          <a:xfrm>
            <a:off x="4983480" y="3813048"/>
            <a:ext cx="162763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Refine pricing &amp; yield rules</a:t>
            </a:r>
            <a:endParaRPr lang="en-US" sz="950" dirty="0"/>
          </a:p>
        </p:txBody>
      </p:sp>
      <p:sp>
        <p:nvSpPr>
          <p:cNvPr id="48" name="Shape 45"/>
          <p:cNvSpPr/>
          <p:nvPr/>
        </p:nvSpPr>
        <p:spPr>
          <a:xfrm>
            <a:off x="6803136" y="1545336"/>
            <a:ext cx="128016" cy="128016"/>
          </a:xfrm>
          <a:prstGeom prst="ellipse">
            <a:avLst/>
          </a:prstGeom>
          <a:solidFill>
            <a:srgbClr val="27AE60"/>
          </a:solidFill>
          <a:ln w="12700">
            <a:solidFill>
              <a:srgbClr val="27AE60"/>
            </a:solidFill>
            <a:prstDash val="solid"/>
          </a:ln>
        </p:spPr>
        <p:txBody>
          <a:bodyPr/>
          <a:lstStyle/>
          <a:p>
            <a:endParaRPr lang="en-AU"/>
          </a:p>
        </p:txBody>
      </p:sp>
      <p:sp>
        <p:nvSpPr>
          <p:cNvPr id="49" name="Shape 46"/>
          <p:cNvSpPr/>
          <p:nvPr/>
        </p:nvSpPr>
        <p:spPr>
          <a:xfrm>
            <a:off x="6858000" y="1773936"/>
            <a:ext cx="1920240" cy="3108960"/>
          </a:xfrm>
          <a:prstGeom prst="rect">
            <a:avLst/>
          </a:prstGeom>
          <a:solidFill>
            <a:srgbClr val="1A1A1A"/>
          </a:solidFill>
          <a:ln w="12700">
            <a:solidFill>
              <a:srgbClr val="27AE60"/>
            </a:solidFill>
            <a:prstDash val="solid"/>
          </a:ln>
          <a:effectLst>
            <a:outerShdw blurRad="127000" dist="38100" dir="8100000" algn="bl" rotWithShape="0">
              <a:srgbClr val="000000">
                <a:alpha val="40000"/>
              </a:srgbClr>
            </a:outerShdw>
          </a:effectLst>
        </p:spPr>
        <p:txBody>
          <a:bodyPr/>
          <a:lstStyle/>
          <a:p>
            <a:endParaRPr lang="en-AU"/>
          </a:p>
        </p:txBody>
      </p:sp>
      <p:sp>
        <p:nvSpPr>
          <p:cNvPr id="50" name="Shape 47"/>
          <p:cNvSpPr/>
          <p:nvPr/>
        </p:nvSpPr>
        <p:spPr>
          <a:xfrm>
            <a:off x="6858000" y="1755648"/>
            <a:ext cx="1920240" cy="54864"/>
          </a:xfrm>
          <a:prstGeom prst="rect">
            <a:avLst/>
          </a:prstGeom>
          <a:solidFill>
            <a:srgbClr val="27AE60"/>
          </a:solidFill>
          <a:ln w="12700">
            <a:solidFill>
              <a:srgbClr val="27AE60"/>
            </a:solidFill>
            <a:prstDash val="solid"/>
          </a:ln>
        </p:spPr>
        <p:txBody>
          <a:bodyPr/>
          <a:lstStyle/>
          <a:p>
            <a:endParaRPr lang="en-AU"/>
          </a:p>
        </p:txBody>
      </p:sp>
      <p:sp>
        <p:nvSpPr>
          <p:cNvPr id="51" name="Text 48"/>
          <p:cNvSpPr/>
          <p:nvPr/>
        </p:nvSpPr>
        <p:spPr>
          <a:xfrm>
            <a:off x="6967728" y="1847088"/>
            <a:ext cx="1755648" cy="329184"/>
          </a:xfrm>
          <a:prstGeom prst="rect">
            <a:avLst/>
          </a:prstGeom>
          <a:noFill/>
          <a:ln/>
        </p:spPr>
        <p:txBody>
          <a:bodyPr wrap="square" lIns="0" tIns="0" rIns="0" bIns="0" rtlCol="0" anchor="ctr"/>
          <a:lstStyle/>
          <a:p>
            <a:pPr marL="0" indent="0">
              <a:buNone/>
            </a:pPr>
            <a:r>
              <a:rPr lang="en-US" sz="1300" b="1" dirty="0">
                <a:solidFill>
                  <a:srgbClr val="27AE60"/>
                </a:solidFill>
                <a:latin typeface="Calibri" pitchFamily="34" charset="0"/>
                <a:ea typeface="Calibri" pitchFamily="34" charset="-122"/>
                <a:cs typeface="Calibri" pitchFamily="34" charset="-120"/>
              </a:rPr>
              <a:t>Phase 4</a:t>
            </a:r>
            <a:endParaRPr lang="en-US" sz="1300" dirty="0"/>
          </a:p>
        </p:txBody>
      </p:sp>
      <p:sp>
        <p:nvSpPr>
          <p:cNvPr id="52" name="Text 49"/>
          <p:cNvSpPr/>
          <p:nvPr/>
        </p:nvSpPr>
        <p:spPr>
          <a:xfrm>
            <a:off x="6967728" y="2157984"/>
            <a:ext cx="1755648"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Regional Growth</a:t>
            </a:r>
            <a:endParaRPr lang="en-US" sz="1050" dirty="0"/>
          </a:p>
        </p:txBody>
      </p:sp>
      <p:sp>
        <p:nvSpPr>
          <p:cNvPr id="53" name="Text 50"/>
          <p:cNvSpPr/>
          <p:nvPr/>
        </p:nvSpPr>
        <p:spPr>
          <a:xfrm>
            <a:off x="6967728" y="2414016"/>
            <a:ext cx="1755648" cy="237744"/>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12 – 36 months</a:t>
            </a:r>
            <a:endParaRPr lang="en-US" sz="850" dirty="0"/>
          </a:p>
        </p:txBody>
      </p:sp>
      <p:sp>
        <p:nvSpPr>
          <p:cNvPr id="54" name="Shape 51"/>
          <p:cNvSpPr/>
          <p:nvPr/>
        </p:nvSpPr>
        <p:spPr>
          <a:xfrm>
            <a:off x="6967728" y="2724912"/>
            <a:ext cx="1700784" cy="36576"/>
          </a:xfrm>
          <a:prstGeom prst="rect">
            <a:avLst/>
          </a:prstGeom>
          <a:solidFill>
            <a:srgbClr val="2A2A2A"/>
          </a:solidFill>
          <a:ln w="12700">
            <a:solidFill>
              <a:srgbClr val="2A2A2A"/>
            </a:solidFill>
            <a:prstDash val="solid"/>
          </a:ln>
        </p:spPr>
        <p:txBody>
          <a:bodyPr/>
          <a:lstStyle/>
          <a:p>
            <a:endParaRPr lang="en-AU"/>
          </a:p>
        </p:txBody>
      </p:sp>
      <p:sp>
        <p:nvSpPr>
          <p:cNvPr id="55" name="Shape 52"/>
          <p:cNvSpPr/>
          <p:nvPr/>
        </p:nvSpPr>
        <p:spPr>
          <a:xfrm>
            <a:off x="6986016" y="2990088"/>
            <a:ext cx="91440" cy="91440"/>
          </a:xfrm>
          <a:prstGeom prst="ellipse">
            <a:avLst/>
          </a:prstGeom>
          <a:solidFill>
            <a:srgbClr val="27AE60"/>
          </a:solidFill>
          <a:ln w="12700">
            <a:solidFill>
              <a:srgbClr val="27AE60"/>
            </a:solidFill>
            <a:prstDash val="solid"/>
          </a:ln>
        </p:spPr>
        <p:txBody>
          <a:bodyPr/>
          <a:lstStyle/>
          <a:p>
            <a:endParaRPr lang="en-AU"/>
          </a:p>
        </p:txBody>
      </p:sp>
      <p:sp>
        <p:nvSpPr>
          <p:cNvPr id="56" name="Text 53"/>
          <p:cNvSpPr/>
          <p:nvPr/>
        </p:nvSpPr>
        <p:spPr>
          <a:xfrm>
            <a:off x="7132320" y="2807208"/>
            <a:ext cx="153619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Feasibility studies</a:t>
            </a:r>
            <a:endParaRPr lang="en-US" sz="950" dirty="0"/>
          </a:p>
        </p:txBody>
      </p:sp>
      <p:sp>
        <p:nvSpPr>
          <p:cNvPr id="57" name="Shape 54"/>
          <p:cNvSpPr/>
          <p:nvPr/>
        </p:nvSpPr>
        <p:spPr>
          <a:xfrm>
            <a:off x="6986016" y="3493008"/>
            <a:ext cx="91440" cy="91440"/>
          </a:xfrm>
          <a:prstGeom prst="ellipse">
            <a:avLst/>
          </a:prstGeom>
          <a:solidFill>
            <a:srgbClr val="27AE60"/>
          </a:solidFill>
          <a:ln w="12700">
            <a:solidFill>
              <a:srgbClr val="27AE60"/>
            </a:solidFill>
            <a:prstDash val="solid"/>
          </a:ln>
        </p:spPr>
        <p:txBody>
          <a:bodyPr/>
          <a:lstStyle/>
          <a:p>
            <a:endParaRPr lang="en-AU"/>
          </a:p>
        </p:txBody>
      </p:sp>
      <p:sp>
        <p:nvSpPr>
          <p:cNvPr id="58" name="Text 55"/>
          <p:cNvSpPr/>
          <p:nvPr/>
        </p:nvSpPr>
        <p:spPr>
          <a:xfrm>
            <a:off x="7132320" y="3310128"/>
            <a:ext cx="153619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Pilot site assessment</a:t>
            </a:r>
            <a:endParaRPr lang="en-US" sz="950" dirty="0"/>
          </a:p>
        </p:txBody>
      </p:sp>
      <p:sp>
        <p:nvSpPr>
          <p:cNvPr id="59" name="Shape 56"/>
          <p:cNvSpPr/>
          <p:nvPr/>
        </p:nvSpPr>
        <p:spPr>
          <a:xfrm>
            <a:off x="6986016" y="3995928"/>
            <a:ext cx="91440" cy="91440"/>
          </a:xfrm>
          <a:prstGeom prst="ellipse">
            <a:avLst/>
          </a:prstGeom>
          <a:solidFill>
            <a:srgbClr val="27AE60"/>
          </a:solidFill>
          <a:ln w="12700">
            <a:solidFill>
              <a:srgbClr val="27AE60"/>
            </a:solidFill>
            <a:prstDash val="solid"/>
          </a:ln>
        </p:spPr>
        <p:txBody>
          <a:bodyPr/>
          <a:lstStyle/>
          <a:p>
            <a:endParaRPr lang="en-AU"/>
          </a:p>
        </p:txBody>
      </p:sp>
      <p:sp>
        <p:nvSpPr>
          <p:cNvPr id="60" name="Text 57"/>
          <p:cNvSpPr/>
          <p:nvPr/>
        </p:nvSpPr>
        <p:spPr>
          <a:xfrm>
            <a:off x="7132320" y="3886200"/>
            <a:ext cx="1536192" cy="457200"/>
          </a:xfrm>
          <a:prstGeom prst="rect">
            <a:avLst/>
          </a:prstGeom>
          <a:noFill/>
          <a:ln/>
        </p:spPr>
        <p:txBody>
          <a:bodyPr wrap="square" lIns="0" tIns="0" rIns="0" bIns="0" rtlCol="0" anchor="ctr"/>
          <a:lstStyle/>
          <a:p>
            <a:pPr marL="0" indent="0">
              <a:buNone/>
            </a:pPr>
            <a:r>
              <a:rPr lang="en-US" sz="950" dirty="0">
                <a:solidFill>
                  <a:srgbClr val="E8E8E8"/>
                </a:solidFill>
                <a:latin typeface="Calibri" pitchFamily="34" charset="0"/>
                <a:ea typeface="Calibri" pitchFamily="34" charset="-122"/>
                <a:cs typeface="Calibri" pitchFamily="34" charset="-120"/>
              </a:rPr>
              <a:t>Potential sites: Bendigo · Ballarat · Geelong</a:t>
            </a:r>
            <a:endParaRPr lang="en-US" sz="950" dirty="0"/>
          </a:p>
        </p:txBody>
      </p:sp>
      <p:sp>
        <p:nvSpPr>
          <p:cNvPr id="61" name="Shape 58"/>
          <p:cNvSpPr/>
          <p:nvPr/>
        </p:nvSpPr>
        <p:spPr>
          <a:xfrm>
            <a:off x="411480" y="4919472"/>
            <a:ext cx="8321040" cy="155448"/>
          </a:xfrm>
          <a:prstGeom prst="rect">
            <a:avLst/>
          </a:prstGeom>
          <a:solidFill>
            <a:srgbClr val="111111"/>
          </a:solidFill>
          <a:ln w="6350">
            <a:solidFill>
              <a:srgbClr val="2A2A2A"/>
            </a:solidFill>
            <a:prstDash val="solid"/>
          </a:ln>
        </p:spPr>
        <p:txBody>
          <a:bodyPr/>
          <a:lstStyle/>
          <a:p>
            <a:endParaRPr lang="en-AU"/>
          </a:p>
        </p:txBody>
      </p:sp>
      <p:sp>
        <p:nvSpPr>
          <p:cNvPr id="62" name="Text 59"/>
          <p:cNvSpPr/>
          <p:nvPr/>
        </p:nvSpPr>
        <p:spPr>
          <a:xfrm>
            <a:off x="502920" y="4919472"/>
            <a:ext cx="8229600" cy="155448"/>
          </a:xfrm>
          <a:prstGeom prst="rect">
            <a:avLst/>
          </a:prstGeom>
          <a:noFill/>
          <a:ln/>
        </p:spPr>
        <p:txBody>
          <a:bodyPr wrap="square" lIns="0" tIns="0" rIns="0" bIns="0" rtlCol="0" anchor="ctr"/>
          <a:lstStyle/>
          <a:p>
            <a:pPr marL="0" indent="0" algn="ctr">
              <a:buNone/>
            </a:pPr>
            <a:r>
              <a:rPr lang="en-US" sz="850" i="1" dirty="0">
                <a:solidFill>
                  <a:srgbClr val="888888"/>
                </a:solidFill>
                <a:latin typeface="Calibri" pitchFamily="34" charset="0"/>
                <a:ea typeface="Calibri" pitchFamily="34" charset="-122"/>
                <a:cs typeface="Calibri" pitchFamily="34" charset="-120"/>
              </a:rPr>
              <a:t>Phase 4 contingent on Phase 1 benchmarks  ·  Phases 2 and 3 overlap from month 6 onward  ·  All initiatives: Pilot → Measure → Scale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Risks and Mitigations Framework</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SIX RISKS · COMMERCIAL · OPERATIONAL · TECHNOLOGY · BRAND</a:t>
            </a:r>
            <a:endParaRPr lang="en-US" sz="950" dirty="0"/>
          </a:p>
        </p:txBody>
      </p:sp>
      <p:sp>
        <p:nvSpPr>
          <p:cNvPr id="8" name="Text 5"/>
          <p:cNvSpPr/>
          <p:nvPr/>
        </p:nvSpPr>
        <p:spPr>
          <a:xfrm>
            <a:off x="411480" y="1115568"/>
            <a:ext cx="2423160" cy="256032"/>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RISK</a:t>
            </a:r>
            <a:endParaRPr lang="en-US" sz="800" dirty="0"/>
          </a:p>
        </p:txBody>
      </p:sp>
      <p:sp>
        <p:nvSpPr>
          <p:cNvPr id="9" name="Text 6"/>
          <p:cNvSpPr/>
          <p:nvPr/>
        </p:nvSpPr>
        <p:spPr>
          <a:xfrm>
            <a:off x="2926080" y="1115568"/>
            <a:ext cx="960120" cy="256032"/>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LIKELIHOOD</a:t>
            </a:r>
            <a:endParaRPr lang="en-US" sz="800" dirty="0"/>
          </a:p>
        </p:txBody>
      </p:sp>
      <p:sp>
        <p:nvSpPr>
          <p:cNvPr id="10" name="Text 7"/>
          <p:cNvSpPr/>
          <p:nvPr/>
        </p:nvSpPr>
        <p:spPr>
          <a:xfrm>
            <a:off x="3977640" y="1115568"/>
            <a:ext cx="822960" cy="256032"/>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IMPACT</a:t>
            </a:r>
            <a:endParaRPr lang="en-US" sz="800" dirty="0"/>
          </a:p>
        </p:txBody>
      </p:sp>
      <p:sp>
        <p:nvSpPr>
          <p:cNvPr id="11" name="Text 8"/>
          <p:cNvSpPr/>
          <p:nvPr/>
        </p:nvSpPr>
        <p:spPr>
          <a:xfrm>
            <a:off x="4910328" y="1115568"/>
            <a:ext cx="4114800" cy="256032"/>
          </a:xfrm>
          <a:prstGeom prst="rect">
            <a:avLst/>
          </a:prstGeom>
          <a:noFill/>
          <a:ln/>
        </p:spPr>
        <p:txBody>
          <a:bodyPr wrap="square" lIns="0" tIns="0" rIns="0" bIns="0" rtlCol="0" anchor="ctr"/>
          <a:lstStyle/>
          <a:p>
            <a:pPr marL="0" indent="0">
              <a:buNone/>
            </a:pPr>
            <a:r>
              <a:rPr lang="en-US" sz="800" b="1" kern="0" spc="100" dirty="0">
                <a:solidFill>
                  <a:srgbClr val="C8102E"/>
                </a:solidFill>
                <a:latin typeface="Calibri" pitchFamily="34" charset="0"/>
                <a:ea typeface="Calibri" pitchFamily="34" charset="-122"/>
                <a:cs typeface="Calibri" pitchFamily="34" charset="-120"/>
              </a:rPr>
              <a:t>MITIGATION</a:t>
            </a:r>
            <a:endParaRPr lang="en-US" sz="800" dirty="0"/>
          </a:p>
        </p:txBody>
      </p:sp>
      <p:sp>
        <p:nvSpPr>
          <p:cNvPr id="12" name="Shape 9"/>
          <p:cNvSpPr/>
          <p:nvPr/>
        </p:nvSpPr>
        <p:spPr>
          <a:xfrm>
            <a:off x="411480" y="1371600"/>
            <a:ext cx="8454728" cy="45720"/>
          </a:xfrm>
          <a:prstGeom prst="rect">
            <a:avLst/>
          </a:prstGeom>
          <a:solidFill>
            <a:srgbClr val="C8102E"/>
          </a:solidFill>
          <a:ln w="12700">
            <a:solidFill>
              <a:srgbClr val="C8102E"/>
            </a:solidFill>
            <a:prstDash val="solid"/>
          </a:ln>
        </p:spPr>
        <p:txBody>
          <a:bodyPr/>
          <a:lstStyle/>
          <a:p>
            <a:endParaRPr lang="en-AU"/>
          </a:p>
        </p:txBody>
      </p:sp>
      <p:sp>
        <p:nvSpPr>
          <p:cNvPr id="13" name="Shape 10"/>
          <p:cNvSpPr/>
          <p:nvPr/>
        </p:nvSpPr>
        <p:spPr>
          <a:xfrm>
            <a:off x="411480" y="1508760"/>
            <a:ext cx="8454728" cy="539496"/>
          </a:xfrm>
          <a:prstGeom prst="rect">
            <a:avLst/>
          </a:prstGeom>
          <a:solidFill>
            <a:srgbClr val="1A1A1A"/>
          </a:solidFill>
          <a:ln w="6350">
            <a:solidFill>
              <a:srgbClr val="2A2A2A"/>
            </a:solidFill>
            <a:prstDash val="solid"/>
          </a:ln>
        </p:spPr>
        <p:txBody>
          <a:bodyPr/>
          <a:lstStyle/>
          <a:p>
            <a:endParaRPr lang="en-AU"/>
          </a:p>
        </p:txBody>
      </p:sp>
      <p:sp>
        <p:nvSpPr>
          <p:cNvPr id="14" name="Shape 11"/>
          <p:cNvSpPr/>
          <p:nvPr/>
        </p:nvSpPr>
        <p:spPr>
          <a:xfrm>
            <a:off x="411480" y="1508760"/>
            <a:ext cx="45720" cy="539496"/>
          </a:xfrm>
          <a:prstGeom prst="rect">
            <a:avLst/>
          </a:prstGeom>
          <a:solidFill>
            <a:srgbClr val="C8102E"/>
          </a:solidFill>
          <a:ln w="12700">
            <a:solidFill>
              <a:srgbClr val="C8102E"/>
            </a:solidFill>
            <a:prstDash val="solid"/>
          </a:ln>
        </p:spPr>
        <p:txBody>
          <a:bodyPr/>
          <a:lstStyle/>
          <a:p>
            <a:endParaRPr lang="en-AU"/>
          </a:p>
        </p:txBody>
      </p:sp>
      <p:sp>
        <p:nvSpPr>
          <p:cNvPr id="15" name="Text 12"/>
          <p:cNvSpPr/>
          <p:nvPr/>
        </p:nvSpPr>
        <p:spPr>
          <a:xfrm>
            <a:off x="521208" y="1600200"/>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Revenue Dilution</a:t>
            </a:r>
            <a:endParaRPr lang="en-US" sz="1050" dirty="0"/>
          </a:p>
        </p:txBody>
      </p:sp>
      <p:sp>
        <p:nvSpPr>
          <p:cNvPr id="16" name="Shape 13"/>
          <p:cNvSpPr/>
          <p:nvPr/>
        </p:nvSpPr>
        <p:spPr>
          <a:xfrm>
            <a:off x="2953512" y="1645920"/>
            <a:ext cx="87782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17" name="Text 14"/>
          <p:cNvSpPr/>
          <p:nvPr/>
        </p:nvSpPr>
        <p:spPr>
          <a:xfrm>
            <a:off x="2953512" y="1645920"/>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8" name="Shape 15"/>
          <p:cNvSpPr/>
          <p:nvPr/>
        </p:nvSpPr>
        <p:spPr>
          <a:xfrm>
            <a:off x="4005072" y="1645920"/>
            <a:ext cx="786384" cy="256032"/>
          </a:xfrm>
          <a:prstGeom prst="roundRect">
            <a:avLst>
              <a:gd name="adj" fmla="val 14286"/>
            </a:avLst>
          </a:prstGeom>
          <a:solidFill>
            <a:srgbClr val="C8102E"/>
          </a:solidFill>
          <a:ln w="12700">
            <a:solidFill>
              <a:srgbClr val="C8102E"/>
            </a:solidFill>
            <a:prstDash val="solid"/>
          </a:ln>
        </p:spPr>
        <p:txBody>
          <a:bodyPr/>
          <a:lstStyle/>
          <a:p>
            <a:endParaRPr lang="en-AU"/>
          </a:p>
        </p:txBody>
      </p:sp>
      <p:sp>
        <p:nvSpPr>
          <p:cNvPr id="19" name="Text 16"/>
          <p:cNvSpPr/>
          <p:nvPr/>
        </p:nvSpPr>
        <p:spPr>
          <a:xfrm>
            <a:off x="4005072" y="1645920"/>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0" name="Text 17"/>
          <p:cNvSpPr/>
          <p:nvPr/>
        </p:nvSpPr>
        <p:spPr>
          <a:xfrm>
            <a:off x="4946904" y="1554480"/>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Limit discounts to low-fill sessions only. Protect peak pricing. Monitor revenue per available seat on a weekly basis.</a:t>
            </a:r>
            <a:endParaRPr lang="en-US" sz="850" dirty="0"/>
          </a:p>
        </p:txBody>
      </p:sp>
      <p:sp>
        <p:nvSpPr>
          <p:cNvPr id="21" name="Shape 18"/>
          <p:cNvSpPr/>
          <p:nvPr/>
        </p:nvSpPr>
        <p:spPr>
          <a:xfrm>
            <a:off x="411480" y="2089404"/>
            <a:ext cx="8454728" cy="539496"/>
          </a:xfrm>
          <a:prstGeom prst="rect">
            <a:avLst/>
          </a:prstGeom>
          <a:solidFill>
            <a:srgbClr val="161616"/>
          </a:solidFill>
          <a:ln w="6350">
            <a:solidFill>
              <a:srgbClr val="2A2A2A"/>
            </a:solidFill>
            <a:prstDash val="solid"/>
          </a:ln>
        </p:spPr>
        <p:txBody>
          <a:bodyPr/>
          <a:lstStyle/>
          <a:p>
            <a:endParaRPr lang="en-AU"/>
          </a:p>
        </p:txBody>
      </p:sp>
      <p:sp>
        <p:nvSpPr>
          <p:cNvPr id="22" name="Shape 19"/>
          <p:cNvSpPr/>
          <p:nvPr/>
        </p:nvSpPr>
        <p:spPr>
          <a:xfrm>
            <a:off x="411480" y="2089404"/>
            <a:ext cx="45720" cy="539496"/>
          </a:xfrm>
          <a:prstGeom prst="rect">
            <a:avLst/>
          </a:prstGeom>
          <a:solidFill>
            <a:srgbClr val="C8102E"/>
          </a:solidFill>
          <a:ln w="12700">
            <a:solidFill>
              <a:srgbClr val="C8102E"/>
            </a:solidFill>
            <a:prstDash val="solid"/>
          </a:ln>
        </p:spPr>
        <p:txBody>
          <a:bodyPr/>
          <a:lstStyle/>
          <a:p>
            <a:endParaRPr lang="en-AU"/>
          </a:p>
        </p:txBody>
      </p:sp>
      <p:sp>
        <p:nvSpPr>
          <p:cNvPr id="23" name="Text 20"/>
          <p:cNvSpPr/>
          <p:nvPr/>
        </p:nvSpPr>
        <p:spPr>
          <a:xfrm>
            <a:off x="521208" y="2180844"/>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Brand Perception</a:t>
            </a:r>
            <a:endParaRPr lang="en-US" sz="1050" dirty="0"/>
          </a:p>
        </p:txBody>
      </p:sp>
      <p:sp>
        <p:nvSpPr>
          <p:cNvPr id="24" name="Shape 21"/>
          <p:cNvSpPr/>
          <p:nvPr/>
        </p:nvSpPr>
        <p:spPr>
          <a:xfrm>
            <a:off x="2953512" y="2226564"/>
            <a:ext cx="877824" cy="256032"/>
          </a:xfrm>
          <a:prstGeom prst="roundRect">
            <a:avLst>
              <a:gd name="adj" fmla="val 14286"/>
            </a:avLst>
          </a:prstGeom>
          <a:solidFill>
            <a:srgbClr val="27AE60"/>
          </a:solidFill>
          <a:ln w="12700">
            <a:solidFill>
              <a:srgbClr val="27AE60"/>
            </a:solidFill>
            <a:prstDash val="solid"/>
          </a:ln>
        </p:spPr>
        <p:txBody>
          <a:bodyPr/>
          <a:lstStyle/>
          <a:p>
            <a:endParaRPr lang="en-AU"/>
          </a:p>
        </p:txBody>
      </p:sp>
      <p:sp>
        <p:nvSpPr>
          <p:cNvPr id="25" name="Text 22"/>
          <p:cNvSpPr/>
          <p:nvPr/>
        </p:nvSpPr>
        <p:spPr>
          <a:xfrm>
            <a:off x="2953512" y="2226564"/>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26" name="Shape 23"/>
          <p:cNvSpPr/>
          <p:nvPr/>
        </p:nvSpPr>
        <p:spPr>
          <a:xfrm>
            <a:off x="4005072" y="2226564"/>
            <a:ext cx="786384" cy="256032"/>
          </a:xfrm>
          <a:prstGeom prst="roundRect">
            <a:avLst>
              <a:gd name="adj" fmla="val 14286"/>
            </a:avLst>
          </a:prstGeom>
          <a:solidFill>
            <a:srgbClr val="C8102E"/>
          </a:solidFill>
          <a:ln w="12700">
            <a:solidFill>
              <a:srgbClr val="C8102E"/>
            </a:solidFill>
            <a:prstDash val="solid"/>
          </a:ln>
        </p:spPr>
        <p:txBody>
          <a:bodyPr/>
          <a:lstStyle/>
          <a:p>
            <a:endParaRPr lang="en-AU"/>
          </a:p>
        </p:txBody>
      </p:sp>
      <p:sp>
        <p:nvSpPr>
          <p:cNvPr id="27" name="Text 24"/>
          <p:cNvSpPr/>
          <p:nvPr/>
        </p:nvSpPr>
        <p:spPr>
          <a:xfrm>
            <a:off x="4005072" y="2226564"/>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Text 25"/>
          <p:cNvSpPr/>
          <p:nvPr/>
        </p:nvSpPr>
        <p:spPr>
          <a:xfrm>
            <a:off x="4946904" y="2135124"/>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Frame pricing as value-led access rather than discounting. Pair with visible experience improvements at every customer touchpoint.</a:t>
            </a:r>
            <a:endParaRPr lang="en-US" sz="850" dirty="0"/>
          </a:p>
        </p:txBody>
      </p:sp>
      <p:sp>
        <p:nvSpPr>
          <p:cNvPr id="29" name="Shape 26"/>
          <p:cNvSpPr/>
          <p:nvPr/>
        </p:nvSpPr>
        <p:spPr>
          <a:xfrm>
            <a:off x="411480" y="2670048"/>
            <a:ext cx="8454728" cy="539496"/>
          </a:xfrm>
          <a:prstGeom prst="rect">
            <a:avLst/>
          </a:prstGeom>
          <a:solidFill>
            <a:srgbClr val="1A1A1A"/>
          </a:solidFill>
          <a:ln w="6350">
            <a:solidFill>
              <a:srgbClr val="2A2A2A"/>
            </a:solidFill>
            <a:prstDash val="solid"/>
          </a:ln>
        </p:spPr>
        <p:txBody>
          <a:bodyPr/>
          <a:lstStyle/>
          <a:p>
            <a:endParaRPr lang="en-AU"/>
          </a:p>
        </p:txBody>
      </p:sp>
      <p:sp>
        <p:nvSpPr>
          <p:cNvPr id="30" name="Shape 27"/>
          <p:cNvSpPr/>
          <p:nvPr/>
        </p:nvSpPr>
        <p:spPr>
          <a:xfrm>
            <a:off x="411480" y="2670048"/>
            <a:ext cx="45720" cy="539496"/>
          </a:xfrm>
          <a:prstGeom prst="rect">
            <a:avLst/>
          </a:prstGeom>
          <a:solidFill>
            <a:srgbClr val="F39C12"/>
          </a:solidFill>
          <a:ln w="12700">
            <a:solidFill>
              <a:srgbClr val="F39C12"/>
            </a:solidFill>
            <a:prstDash val="solid"/>
          </a:ln>
        </p:spPr>
        <p:txBody>
          <a:bodyPr/>
          <a:lstStyle/>
          <a:p>
            <a:endParaRPr lang="en-AU"/>
          </a:p>
        </p:txBody>
      </p:sp>
      <p:sp>
        <p:nvSpPr>
          <p:cNvPr id="31" name="Text 28"/>
          <p:cNvSpPr/>
          <p:nvPr/>
        </p:nvSpPr>
        <p:spPr>
          <a:xfrm>
            <a:off x="521208" y="2761488"/>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Operational Complexity</a:t>
            </a:r>
            <a:endParaRPr lang="en-US" sz="1050" dirty="0"/>
          </a:p>
        </p:txBody>
      </p:sp>
      <p:sp>
        <p:nvSpPr>
          <p:cNvPr id="32" name="Shape 29"/>
          <p:cNvSpPr/>
          <p:nvPr/>
        </p:nvSpPr>
        <p:spPr>
          <a:xfrm>
            <a:off x="2953512" y="2807208"/>
            <a:ext cx="87782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33" name="Text 30"/>
          <p:cNvSpPr/>
          <p:nvPr/>
        </p:nvSpPr>
        <p:spPr>
          <a:xfrm>
            <a:off x="2953512" y="2807208"/>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4" name="Shape 31"/>
          <p:cNvSpPr/>
          <p:nvPr/>
        </p:nvSpPr>
        <p:spPr>
          <a:xfrm>
            <a:off x="4005072" y="2807208"/>
            <a:ext cx="78638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35" name="Text 32"/>
          <p:cNvSpPr/>
          <p:nvPr/>
        </p:nvSpPr>
        <p:spPr>
          <a:xfrm>
            <a:off x="4005072" y="2807208"/>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6" name="Text 33"/>
          <p:cNvSpPr/>
          <p:nvPr/>
        </p:nvSpPr>
        <p:spPr>
          <a:xfrm>
            <a:off x="4946904" y="2715768"/>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Use simple pricing rules and defined governance frameworks. Run phased pilots and progressively automate scheduling once pricing rules are proven.</a:t>
            </a:r>
            <a:endParaRPr lang="en-US" sz="850" dirty="0"/>
          </a:p>
        </p:txBody>
      </p:sp>
      <p:sp>
        <p:nvSpPr>
          <p:cNvPr id="37" name="Shape 34"/>
          <p:cNvSpPr/>
          <p:nvPr/>
        </p:nvSpPr>
        <p:spPr>
          <a:xfrm>
            <a:off x="411480" y="3250692"/>
            <a:ext cx="8454728" cy="539496"/>
          </a:xfrm>
          <a:prstGeom prst="rect">
            <a:avLst/>
          </a:prstGeom>
          <a:solidFill>
            <a:srgbClr val="161616"/>
          </a:solidFill>
          <a:ln w="6350">
            <a:solidFill>
              <a:srgbClr val="2A2A2A"/>
            </a:solidFill>
            <a:prstDash val="solid"/>
          </a:ln>
        </p:spPr>
        <p:txBody>
          <a:bodyPr/>
          <a:lstStyle/>
          <a:p>
            <a:endParaRPr lang="en-AU"/>
          </a:p>
        </p:txBody>
      </p:sp>
      <p:sp>
        <p:nvSpPr>
          <p:cNvPr id="38" name="Shape 35"/>
          <p:cNvSpPr/>
          <p:nvPr/>
        </p:nvSpPr>
        <p:spPr>
          <a:xfrm>
            <a:off x="411480" y="3250692"/>
            <a:ext cx="45720" cy="539496"/>
          </a:xfrm>
          <a:prstGeom prst="rect">
            <a:avLst/>
          </a:prstGeom>
          <a:solidFill>
            <a:srgbClr val="C8102E"/>
          </a:solidFill>
          <a:ln w="12700">
            <a:solidFill>
              <a:srgbClr val="C8102E"/>
            </a:solidFill>
            <a:prstDash val="solid"/>
          </a:ln>
        </p:spPr>
        <p:txBody>
          <a:bodyPr/>
          <a:lstStyle/>
          <a:p>
            <a:endParaRPr lang="en-AU"/>
          </a:p>
        </p:txBody>
      </p:sp>
      <p:sp>
        <p:nvSpPr>
          <p:cNvPr id="39" name="Text 36"/>
          <p:cNvSpPr/>
          <p:nvPr/>
        </p:nvSpPr>
        <p:spPr>
          <a:xfrm>
            <a:off x="521208" y="3342132"/>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Technology Delivery</a:t>
            </a:r>
            <a:endParaRPr lang="en-US" sz="1050" dirty="0"/>
          </a:p>
        </p:txBody>
      </p:sp>
      <p:sp>
        <p:nvSpPr>
          <p:cNvPr id="40" name="Shape 37"/>
          <p:cNvSpPr/>
          <p:nvPr/>
        </p:nvSpPr>
        <p:spPr>
          <a:xfrm>
            <a:off x="2953512" y="3387852"/>
            <a:ext cx="87782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41" name="Text 38"/>
          <p:cNvSpPr/>
          <p:nvPr/>
        </p:nvSpPr>
        <p:spPr>
          <a:xfrm>
            <a:off x="2953512" y="3387852"/>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42" name="Shape 39"/>
          <p:cNvSpPr/>
          <p:nvPr/>
        </p:nvSpPr>
        <p:spPr>
          <a:xfrm>
            <a:off x="4005072" y="3387852"/>
            <a:ext cx="786384" cy="256032"/>
          </a:xfrm>
          <a:prstGeom prst="roundRect">
            <a:avLst>
              <a:gd name="adj" fmla="val 14286"/>
            </a:avLst>
          </a:prstGeom>
          <a:solidFill>
            <a:srgbClr val="C8102E"/>
          </a:solidFill>
          <a:ln w="12700">
            <a:solidFill>
              <a:srgbClr val="C8102E"/>
            </a:solidFill>
            <a:prstDash val="solid"/>
          </a:ln>
        </p:spPr>
        <p:txBody>
          <a:bodyPr/>
          <a:lstStyle/>
          <a:p>
            <a:endParaRPr lang="en-AU"/>
          </a:p>
        </p:txBody>
      </p:sp>
      <p:sp>
        <p:nvSpPr>
          <p:cNvPr id="43" name="Text 40"/>
          <p:cNvSpPr/>
          <p:nvPr/>
        </p:nvSpPr>
        <p:spPr>
          <a:xfrm>
            <a:off x="4005072" y="3387852"/>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4" name="Text 41"/>
          <p:cNvSpPr/>
          <p:nvPr/>
        </p:nvSpPr>
        <p:spPr>
          <a:xfrm>
            <a:off x="4946904" y="3296412"/>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Deliver via MVP releases with continuous user testing. Define clear go/no-go criteria per release before committing further investment.</a:t>
            </a:r>
            <a:endParaRPr lang="en-US" sz="850" dirty="0"/>
          </a:p>
        </p:txBody>
      </p:sp>
      <p:sp>
        <p:nvSpPr>
          <p:cNvPr id="45" name="Shape 42"/>
          <p:cNvSpPr/>
          <p:nvPr/>
        </p:nvSpPr>
        <p:spPr>
          <a:xfrm>
            <a:off x="411480" y="3831336"/>
            <a:ext cx="8454728" cy="539496"/>
          </a:xfrm>
          <a:prstGeom prst="rect">
            <a:avLst/>
          </a:prstGeom>
          <a:solidFill>
            <a:srgbClr val="1A1A1A"/>
          </a:solidFill>
          <a:ln w="6350">
            <a:solidFill>
              <a:srgbClr val="2A2A2A"/>
            </a:solidFill>
            <a:prstDash val="solid"/>
          </a:ln>
        </p:spPr>
        <p:txBody>
          <a:bodyPr/>
          <a:lstStyle/>
          <a:p>
            <a:endParaRPr lang="en-AU"/>
          </a:p>
        </p:txBody>
      </p:sp>
      <p:sp>
        <p:nvSpPr>
          <p:cNvPr id="46" name="Shape 43"/>
          <p:cNvSpPr/>
          <p:nvPr/>
        </p:nvSpPr>
        <p:spPr>
          <a:xfrm>
            <a:off x="411480" y="3831336"/>
            <a:ext cx="45720" cy="539496"/>
          </a:xfrm>
          <a:prstGeom prst="rect">
            <a:avLst/>
          </a:prstGeom>
          <a:solidFill>
            <a:srgbClr val="C8102E"/>
          </a:solidFill>
          <a:ln w="12700">
            <a:solidFill>
              <a:srgbClr val="C8102E"/>
            </a:solidFill>
            <a:prstDash val="solid"/>
          </a:ln>
        </p:spPr>
        <p:txBody>
          <a:bodyPr/>
          <a:lstStyle/>
          <a:p>
            <a:endParaRPr lang="en-AU"/>
          </a:p>
        </p:txBody>
      </p:sp>
      <p:sp>
        <p:nvSpPr>
          <p:cNvPr id="47" name="Text 44"/>
          <p:cNvSpPr/>
          <p:nvPr/>
        </p:nvSpPr>
        <p:spPr>
          <a:xfrm>
            <a:off x="521208" y="3922776"/>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Regional Expansion</a:t>
            </a:r>
            <a:endParaRPr lang="en-US" sz="1050" dirty="0"/>
          </a:p>
        </p:txBody>
      </p:sp>
      <p:sp>
        <p:nvSpPr>
          <p:cNvPr id="48" name="Shape 45"/>
          <p:cNvSpPr/>
          <p:nvPr/>
        </p:nvSpPr>
        <p:spPr>
          <a:xfrm>
            <a:off x="2953512" y="3968496"/>
            <a:ext cx="877824" cy="256032"/>
          </a:xfrm>
          <a:prstGeom prst="roundRect">
            <a:avLst>
              <a:gd name="adj" fmla="val 14286"/>
            </a:avLst>
          </a:prstGeom>
          <a:solidFill>
            <a:srgbClr val="27AE60"/>
          </a:solidFill>
          <a:ln w="12700">
            <a:solidFill>
              <a:srgbClr val="27AE60"/>
            </a:solidFill>
            <a:prstDash val="solid"/>
          </a:ln>
        </p:spPr>
        <p:txBody>
          <a:bodyPr/>
          <a:lstStyle/>
          <a:p>
            <a:endParaRPr lang="en-AU"/>
          </a:p>
        </p:txBody>
      </p:sp>
      <p:sp>
        <p:nvSpPr>
          <p:cNvPr id="49" name="Text 46"/>
          <p:cNvSpPr/>
          <p:nvPr/>
        </p:nvSpPr>
        <p:spPr>
          <a:xfrm>
            <a:off x="2953512" y="3968496"/>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50" name="Shape 47"/>
          <p:cNvSpPr/>
          <p:nvPr/>
        </p:nvSpPr>
        <p:spPr>
          <a:xfrm>
            <a:off x="4005072" y="3968496"/>
            <a:ext cx="786384" cy="256032"/>
          </a:xfrm>
          <a:prstGeom prst="roundRect">
            <a:avLst>
              <a:gd name="adj" fmla="val 14286"/>
            </a:avLst>
          </a:prstGeom>
          <a:solidFill>
            <a:srgbClr val="C8102E"/>
          </a:solidFill>
          <a:ln w="12700">
            <a:solidFill>
              <a:srgbClr val="C8102E"/>
            </a:solidFill>
            <a:prstDash val="solid"/>
          </a:ln>
        </p:spPr>
        <p:txBody>
          <a:bodyPr/>
          <a:lstStyle/>
          <a:p>
            <a:endParaRPr lang="en-AU"/>
          </a:p>
        </p:txBody>
      </p:sp>
      <p:sp>
        <p:nvSpPr>
          <p:cNvPr id="51" name="Text 48"/>
          <p:cNvSpPr/>
          <p:nvPr/>
        </p:nvSpPr>
        <p:spPr>
          <a:xfrm>
            <a:off x="4005072" y="3968496"/>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52" name="Text 49"/>
          <p:cNvSpPr/>
          <p:nvPr/>
        </p:nvSpPr>
        <p:spPr>
          <a:xfrm>
            <a:off x="4946904" y="3877056"/>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Data-led feasibility studies with conservative site selection criteria. Use metro pilot benchmarks to guide capital decisions.</a:t>
            </a:r>
            <a:endParaRPr lang="en-US" sz="850" dirty="0"/>
          </a:p>
        </p:txBody>
      </p:sp>
      <p:sp>
        <p:nvSpPr>
          <p:cNvPr id="53" name="Shape 50"/>
          <p:cNvSpPr/>
          <p:nvPr/>
        </p:nvSpPr>
        <p:spPr>
          <a:xfrm>
            <a:off x="411480" y="4411980"/>
            <a:ext cx="8454728" cy="539496"/>
          </a:xfrm>
          <a:prstGeom prst="rect">
            <a:avLst/>
          </a:prstGeom>
          <a:solidFill>
            <a:srgbClr val="161616"/>
          </a:solidFill>
          <a:ln w="6350">
            <a:solidFill>
              <a:srgbClr val="2A2A2A"/>
            </a:solidFill>
            <a:prstDash val="solid"/>
          </a:ln>
        </p:spPr>
        <p:txBody>
          <a:bodyPr/>
          <a:lstStyle/>
          <a:p>
            <a:endParaRPr lang="en-AU"/>
          </a:p>
        </p:txBody>
      </p:sp>
      <p:sp>
        <p:nvSpPr>
          <p:cNvPr id="54" name="Shape 51"/>
          <p:cNvSpPr/>
          <p:nvPr/>
        </p:nvSpPr>
        <p:spPr>
          <a:xfrm>
            <a:off x="411480" y="4411980"/>
            <a:ext cx="45720" cy="539496"/>
          </a:xfrm>
          <a:prstGeom prst="rect">
            <a:avLst/>
          </a:prstGeom>
          <a:solidFill>
            <a:srgbClr val="F39C12"/>
          </a:solidFill>
          <a:ln w="12700">
            <a:solidFill>
              <a:srgbClr val="F39C12"/>
            </a:solidFill>
            <a:prstDash val="solid"/>
          </a:ln>
        </p:spPr>
        <p:txBody>
          <a:bodyPr/>
          <a:lstStyle/>
          <a:p>
            <a:endParaRPr lang="en-AU"/>
          </a:p>
        </p:txBody>
      </p:sp>
      <p:sp>
        <p:nvSpPr>
          <p:cNvPr id="55" name="Text 52"/>
          <p:cNvSpPr/>
          <p:nvPr/>
        </p:nvSpPr>
        <p:spPr>
          <a:xfrm>
            <a:off x="521208" y="4503420"/>
            <a:ext cx="2331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Change Management</a:t>
            </a:r>
            <a:endParaRPr lang="en-US" sz="1050" dirty="0"/>
          </a:p>
        </p:txBody>
      </p:sp>
      <p:sp>
        <p:nvSpPr>
          <p:cNvPr id="56" name="Shape 53"/>
          <p:cNvSpPr/>
          <p:nvPr/>
        </p:nvSpPr>
        <p:spPr>
          <a:xfrm>
            <a:off x="2953512" y="4549140"/>
            <a:ext cx="87782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57" name="Text 54"/>
          <p:cNvSpPr/>
          <p:nvPr/>
        </p:nvSpPr>
        <p:spPr>
          <a:xfrm>
            <a:off x="2953512" y="4549140"/>
            <a:ext cx="87782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58" name="Shape 55"/>
          <p:cNvSpPr/>
          <p:nvPr/>
        </p:nvSpPr>
        <p:spPr>
          <a:xfrm>
            <a:off x="4005072" y="4549140"/>
            <a:ext cx="786384" cy="256032"/>
          </a:xfrm>
          <a:prstGeom prst="roundRect">
            <a:avLst>
              <a:gd name="adj" fmla="val 14286"/>
            </a:avLst>
          </a:prstGeom>
          <a:solidFill>
            <a:srgbClr val="F39C12"/>
          </a:solidFill>
          <a:ln w="12700">
            <a:solidFill>
              <a:srgbClr val="F39C12"/>
            </a:solidFill>
            <a:prstDash val="solid"/>
          </a:ln>
        </p:spPr>
        <p:txBody>
          <a:bodyPr/>
          <a:lstStyle/>
          <a:p>
            <a:endParaRPr lang="en-AU"/>
          </a:p>
        </p:txBody>
      </p:sp>
      <p:sp>
        <p:nvSpPr>
          <p:cNvPr id="59" name="Text 56"/>
          <p:cNvSpPr/>
          <p:nvPr/>
        </p:nvSpPr>
        <p:spPr>
          <a:xfrm>
            <a:off x="4005072" y="4549140"/>
            <a:ext cx="786384"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60" name="Text 57"/>
          <p:cNvSpPr/>
          <p:nvPr/>
        </p:nvSpPr>
        <p:spPr>
          <a:xfrm>
            <a:off x="4946904" y="4457700"/>
            <a:ext cx="3886200" cy="457200"/>
          </a:xfrm>
          <a:prstGeom prst="rect">
            <a:avLst/>
          </a:prstGeom>
          <a:noFill/>
          <a:ln/>
        </p:spPr>
        <p:txBody>
          <a:bodyPr wrap="square" lIns="0" tIns="0" rIns="0" bIns="0" rtlCol="0" anchor="ctr"/>
          <a:lstStyle/>
          <a:p>
            <a:pPr marL="0" indent="0">
              <a:buNone/>
            </a:pPr>
            <a:r>
              <a:rPr lang="en-US" sz="850" dirty="0">
                <a:solidFill>
                  <a:srgbClr val="888888"/>
                </a:solidFill>
                <a:latin typeface="Calibri" pitchFamily="34" charset="0"/>
                <a:ea typeface="Calibri" pitchFamily="34" charset="-122"/>
                <a:cs typeface="Calibri" pitchFamily="34" charset="-120"/>
              </a:rPr>
              <a:t>Clear operational guidelines and targeted training. Involve venue leaders early in pilots to build ownership.</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0000"/>
          </a:solidFill>
          <a:ln w="12700">
            <a:solidFill>
              <a:srgbClr val="000000"/>
            </a:solidFill>
            <a:prstDash val="solid"/>
          </a:ln>
        </p:spPr>
        <p:txBody>
          <a:bodyPr/>
          <a:lstStyle/>
          <a:p>
            <a:endParaRPr lang="en-AU"/>
          </a:p>
        </p:txBody>
      </p:sp>
      <p:sp>
        <p:nvSpPr>
          <p:cNvPr id="3" name="Shape 1"/>
          <p:cNvSpPr/>
          <p:nvPr/>
        </p:nvSpPr>
        <p:spPr>
          <a:xfrm>
            <a:off x="0" y="987552"/>
            <a:ext cx="9144000" cy="45720"/>
          </a:xfrm>
          <a:prstGeom prst="rect">
            <a:avLst/>
          </a:prstGeom>
          <a:solidFill>
            <a:srgbClr val="C8102E"/>
          </a:solidFill>
          <a:ln w="12700">
            <a:solidFill>
              <a:srgbClr val="C8102E"/>
            </a:solidFill>
            <a:prstDash val="solid"/>
          </a:ln>
        </p:spPr>
        <p:txBody>
          <a:bodyPr/>
          <a:lstStyle/>
          <a:p>
            <a:endParaRPr lang="en-AU"/>
          </a:p>
        </p:txBody>
      </p:sp>
      <p:pic>
        <p:nvPicPr>
          <p:cNvPr id="4" name="Image 0" descr="/home/claude/logo_hires.png"/>
          <p:cNvPicPr>
            <a:picLocks noChangeAspect="1"/>
          </p:cNvPicPr>
          <p:nvPr/>
        </p:nvPicPr>
        <p:blipFill>
          <a:blip r:embed="rId3"/>
          <a:stretch>
            <a:fillRect/>
          </a:stretch>
        </p:blipFill>
        <p:spPr>
          <a:xfrm>
            <a:off x="164592" y="73152"/>
            <a:ext cx="841248" cy="841248"/>
          </a:xfrm>
          <a:prstGeom prst="rect">
            <a:avLst/>
          </a:prstGeom>
        </p:spPr>
      </p:pic>
      <p:sp>
        <p:nvSpPr>
          <p:cNvPr id="5" name="Shape 2"/>
          <p:cNvSpPr/>
          <p:nvPr/>
        </p:nvSpPr>
        <p:spPr>
          <a:xfrm>
            <a:off x="1115568" y="164592"/>
            <a:ext cx="27432" cy="658368"/>
          </a:xfrm>
          <a:prstGeom prst="rect">
            <a:avLst/>
          </a:prstGeom>
          <a:solidFill>
            <a:srgbClr val="C8102E"/>
          </a:solidFill>
          <a:ln w="12700">
            <a:solidFill>
              <a:srgbClr val="C8102E"/>
            </a:solidFill>
            <a:prstDash val="solid"/>
          </a:ln>
        </p:spPr>
        <p:txBody>
          <a:bodyPr/>
          <a:lstStyle/>
          <a:p>
            <a:endParaRPr lang="en-AU"/>
          </a:p>
        </p:txBody>
      </p:sp>
      <p:sp>
        <p:nvSpPr>
          <p:cNvPr id="6" name="Text 3"/>
          <p:cNvSpPr/>
          <p:nvPr/>
        </p:nvSpPr>
        <p:spPr>
          <a:xfrm>
            <a:off x="1261872" y="91440"/>
            <a:ext cx="749808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Estimated Commercial Impact</a:t>
            </a:r>
            <a:endParaRPr lang="en-US" sz="2200" dirty="0"/>
          </a:p>
        </p:txBody>
      </p:sp>
      <p:sp>
        <p:nvSpPr>
          <p:cNvPr id="7" name="Text 4"/>
          <p:cNvSpPr/>
          <p:nvPr/>
        </p:nvSpPr>
        <p:spPr>
          <a:xfrm>
            <a:off x="1261872" y="594360"/>
            <a:ext cx="7498080" cy="292608"/>
          </a:xfrm>
          <a:prstGeom prst="rect">
            <a:avLst/>
          </a:prstGeom>
          <a:noFill/>
          <a:ln/>
        </p:spPr>
        <p:txBody>
          <a:bodyPr wrap="square" lIns="0" tIns="0" rIns="0" bIns="0" rtlCol="0" anchor="ctr"/>
          <a:lstStyle/>
          <a:p>
            <a:pPr marL="0" indent="0">
              <a:buNone/>
            </a:pPr>
            <a:r>
              <a:rPr lang="en-US" sz="950" b="1" kern="0" spc="250" dirty="0">
                <a:solidFill>
                  <a:srgbClr val="C8102E"/>
                </a:solidFill>
                <a:latin typeface="Calibri" pitchFamily="34" charset="0"/>
                <a:ea typeface="Calibri" pitchFamily="34" charset="-122"/>
                <a:cs typeface="Calibri" pitchFamily="34" charset="-120"/>
              </a:rPr>
              <a:t>DIRECTIONAL · BASED ON CONSERVATIVE ASSUMPTIONS</a:t>
            </a:r>
            <a:endParaRPr lang="en-US" sz="950" dirty="0"/>
          </a:p>
        </p:txBody>
      </p:sp>
      <p:sp>
        <p:nvSpPr>
          <p:cNvPr id="8" name="Shape 5"/>
          <p:cNvSpPr/>
          <p:nvPr/>
        </p:nvSpPr>
        <p:spPr>
          <a:xfrm>
            <a:off x="411480" y="1115568"/>
            <a:ext cx="1977390" cy="2536582"/>
          </a:xfrm>
          <a:prstGeom prst="rect">
            <a:avLst/>
          </a:prstGeom>
          <a:solidFill>
            <a:srgbClr val="1A1A1A"/>
          </a:solidFill>
          <a:ln w="12700">
            <a:solidFill>
              <a:srgbClr val="C8102E"/>
            </a:solidFill>
            <a:prstDash val="solid"/>
          </a:ln>
          <a:effectLst>
            <a:outerShdw blurRad="127000" dist="38100" dir="8100000" algn="bl" rotWithShape="0">
              <a:srgbClr val="000000">
                <a:alpha val="40000"/>
              </a:srgbClr>
            </a:outerShdw>
          </a:effectLst>
        </p:spPr>
        <p:txBody>
          <a:bodyPr/>
          <a:lstStyle/>
          <a:p>
            <a:endParaRPr lang="en-AU" dirty="0"/>
          </a:p>
        </p:txBody>
      </p:sp>
      <p:sp>
        <p:nvSpPr>
          <p:cNvPr id="9" name="Shape 6"/>
          <p:cNvSpPr/>
          <p:nvPr/>
        </p:nvSpPr>
        <p:spPr>
          <a:xfrm>
            <a:off x="411480" y="1115568"/>
            <a:ext cx="1977390" cy="54864"/>
          </a:xfrm>
          <a:prstGeom prst="rect">
            <a:avLst/>
          </a:prstGeom>
          <a:solidFill>
            <a:srgbClr val="C8102E"/>
          </a:solidFill>
          <a:ln w="12700">
            <a:solidFill>
              <a:srgbClr val="C8102E"/>
            </a:solidFill>
            <a:prstDash val="solid"/>
          </a:ln>
        </p:spPr>
        <p:txBody>
          <a:bodyPr/>
          <a:lstStyle/>
          <a:p>
            <a:endParaRPr lang="en-AU"/>
          </a:p>
        </p:txBody>
      </p:sp>
      <p:sp>
        <p:nvSpPr>
          <p:cNvPr id="10" name="Shape 7"/>
          <p:cNvSpPr/>
          <p:nvPr/>
        </p:nvSpPr>
        <p:spPr>
          <a:xfrm>
            <a:off x="1089279" y="1298448"/>
            <a:ext cx="621792" cy="621792"/>
          </a:xfrm>
          <a:prstGeom prst="ellipse">
            <a:avLst/>
          </a:prstGeom>
          <a:solidFill>
            <a:srgbClr val="C8102E"/>
          </a:solidFill>
          <a:ln w="12700">
            <a:solidFill>
              <a:srgbClr val="C8102E"/>
            </a:solidFill>
            <a:prstDash val="solid"/>
          </a:ln>
        </p:spPr>
        <p:txBody>
          <a:bodyPr/>
          <a:lstStyle/>
          <a:p>
            <a:endParaRPr lang="en-AU" dirty="0"/>
          </a:p>
        </p:txBody>
      </p:sp>
      <p:sp>
        <p:nvSpPr>
          <p:cNvPr id="12" name="Text 8"/>
          <p:cNvSpPr/>
          <p:nvPr/>
        </p:nvSpPr>
        <p:spPr>
          <a:xfrm>
            <a:off x="484632" y="2048256"/>
            <a:ext cx="1831086" cy="658368"/>
          </a:xfrm>
          <a:prstGeom prst="rect">
            <a:avLst/>
          </a:prstGeom>
          <a:noFill/>
          <a:ln/>
        </p:spPr>
        <p:txBody>
          <a:bodyPr wrap="square" lIns="0" tIns="0" rIns="0" bIns="0" rtlCol="0" anchor="ctr"/>
          <a:lstStyle/>
          <a:p>
            <a:pPr marL="0" indent="0" algn="ctr">
              <a:buNone/>
            </a:pPr>
            <a:r>
              <a:rPr lang="en-US" sz="2600" b="1" dirty="0">
                <a:solidFill>
                  <a:srgbClr val="C8102E"/>
                </a:solidFill>
                <a:latin typeface="Calibri" pitchFamily="34" charset="0"/>
                <a:ea typeface="Calibri" pitchFamily="34" charset="-122"/>
                <a:cs typeface="Calibri" pitchFamily="34" charset="-120"/>
              </a:rPr>
              <a:t>+ 10%</a:t>
            </a:r>
            <a:endParaRPr lang="en-US" sz="2600" dirty="0"/>
          </a:p>
        </p:txBody>
      </p:sp>
      <p:sp>
        <p:nvSpPr>
          <p:cNvPr id="13" name="Text 9"/>
          <p:cNvSpPr/>
          <p:nvPr/>
        </p:nvSpPr>
        <p:spPr>
          <a:xfrm>
            <a:off x="484632" y="2841723"/>
            <a:ext cx="1831086" cy="27432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utilisation uplift</a:t>
            </a:r>
            <a:endParaRPr lang="en-US" sz="900" dirty="0"/>
          </a:p>
        </p:txBody>
      </p:sp>
      <p:sp>
        <p:nvSpPr>
          <p:cNvPr id="14" name="Text 10"/>
          <p:cNvSpPr/>
          <p:nvPr/>
        </p:nvSpPr>
        <p:spPr>
          <a:xfrm>
            <a:off x="484632" y="3176662"/>
            <a:ext cx="1831086"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Off-Peak Seats</a:t>
            </a:r>
            <a:endParaRPr lang="en-US" sz="1000" dirty="0"/>
          </a:p>
        </p:txBody>
      </p:sp>
      <p:sp>
        <p:nvSpPr>
          <p:cNvPr id="15" name="Shape 11"/>
          <p:cNvSpPr/>
          <p:nvPr/>
        </p:nvSpPr>
        <p:spPr>
          <a:xfrm>
            <a:off x="2526030" y="1115568"/>
            <a:ext cx="1977390" cy="2536582"/>
          </a:xfrm>
          <a:prstGeom prst="rect">
            <a:avLst/>
          </a:prstGeom>
          <a:solidFill>
            <a:srgbClr val="1A1A1A"/>
          </a:solidFill>
          <a:ln w="12700">
            <a:solidFill>
              <a:srgbClr val="2980B9"/>
            </a:solidFill>
            <a:prstDash val="solid"/>
          </a:ln>
          <a:effectLst>
            <a:outerShdw blurRad="127000" dist="38100" dir="8100000" algn="bl" rotWithShape="0">
              <a:srgbClr val="000000">
                <a:alpha val="40000"/>
              </a:srgbClr>
            </a:outerShdw>
          </a:effectLst>
        </p:spPr>
        <p:txBody>
          <a:bodyPr/>
          <a:lstStyle/>
          <a:p>
            <a:endParaRPr lang="en-AU"/>
          </a:p>
        </p:txBody>
      </p:sp>
      <p:sp>
        <p:nvSpPr>
          <p:cNvPr id="16" name="Shape 12"/>
          <p:cNvSpPr/>
          <p:nvPr/>
        </p:nvSpPr>
        <p:spPr>
          <a:xfrm>
            <a:off x="2526030" y="1115568"/>
            <a:ext cx="1977390" cy="54864"/>
          </a:xfrm>
          <a:prstGeom prst="rect">
            <a:avLst/>
          </a:prstGeom>
          <a:solidFill>
            <a:srgbClr val="2980B9"/>
          </a:solidFill>
          <a:ln w="12700">
            <a:solidFill>
              <a:srgbClr val="2980B9"/>
            </a:solidFill>
            <a:prstDash val="solid"/>
          </a:ln>
        </p:spPr>
        <p:txBody>
          <a:bodyPr/>
          <a:lstStyle/>
          <a:p>
            <a:endParaRPr lang="en-AU"/>
          </a:p>
        </p:txBody>
      </p:sp>
      <p:sp>
        <p:nvSpPr>
          <p:cNvPr id="17" name="Shape 13"/>
          <p:cNvSpPr/>
          <p:nvPr/>
        </p:nvSpPr>
        <p:spPr>
          <a:xfrm>
            <a:off x="3203829" y="1298448"/>
            <a:ext cx="621792" cy="621792"/>
          </a:xfrm>
          <a:prstGeom prst="ellipse">
            <a:avLst/>
          </a:prstGeom>
          <a:solidFill>
            <a:srgbClr val="2980B9"/>
          </a:solidFill>
          <a:ln w="12700">
            <a:solidFill>
              <a:srgbClr val="2980B9"/>
            </a:solidFill>
            <a:prstDash val="solid"/>
          </a:ln>
        </p:spPr>
        <p:txBody>
          <a:bodyPr/>
          <a:lstStyle/>
          <a:p>
            <a:endParaRPr lang="en-AU"/>
          </a:p>
        </p:txBody>
      </p:sp>
      <p:pic>
        <p:nvPicPr>
          <p:cNvPr id="18" name="Image 2" descr="preencoded.png"/>
          <p:cNvPicPr>
            <a:picLocks noChangeAspect="1"/>
          </p:cNvPicPr>
          <p:nvPr/>
        </p:nvPicPr>
        <p:blipFill>
          <a:blip r:embed="rId4"/>
          <a:stretch>
            <a:fillRect/>
          </a:stretch>
        </p:blipFill>
        <p:spPr>
          <a:xfrm>
            <a:off x="3276981" y="1371600"/>
            <a:ext cx="475488" cy="475488"/>
          </a:xfrm>
          <a:prstGeom prst="rect">
            <a:avLst/>
          </a:prstGeom>
        </p:spPr>
      </p:pic>
      <p:sp>
        <p:nvSpPr>
          <p:cNvPr id="19" name="Text 14"/>
          <p:cNvSpPr/>
          <p:nvPr/>
        </p:nvSpPr>
        <p:spPr>
          <a:xfrm>
            <a:off x="2599182" y="2048256"/>
            <a:ext cx="1831086" cy="658368"/>
          </a:xfrm>
          <a:prstGeom prst="rect">
            <a:avLst/>
          </a:prstGeom>
          <a:noFill/>
          <a:ln/>
        </p:spPr>
        <p:txBody>
          <a:bodyPr wrap="square" lIns="0" tIns="0" rIns="0" bIns="0" rtlCol="0" anchor="ctr"/>
          <a:lstStyle/>
          <a:p>
            <a:pPr marL="0" indent="0" algn="ctr">
              <a:buNone/>
            </a:pPr>
            <a:r>
              <a:rPr lang="en-US" sz="2600" b="1" dirty="0">
                <a:solidFill>
                  <a:srgbClr val="2980B9"/>
                </a:solidFill>
                <a:latin typeface="Calibri" pitchFamily="34" charset="0"/>
                <a:ea typeface="Calibri" pitchFamily="34" charset="-122"/>
                <a:cs typeface="Calibri" pitchFamily="34" charset="-120"/>
              </a:rPr>
              <a:t>+ 15–20%</a:t>
            </a:r>
            <a:endParaRPr lang="en-US" sz="2600" dirty="0"/>
          </a:p>
        </p:txBody>
      </p:sp>
      <p:sp>
        <p:nvSpPr>
          <p:cNvPr id="20" name="Text 15"/>
          <p:cNvSpPr/>
          <p:nvPr/>
        </p:nvSpPr>
        <p:spPr>
          <a:xfrm>
            <a:off x="2599182" y="2843784"/>
            <a:ext cx="1831086" cy="27432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Monday to Thursday attendance</a:t>
            </a:r>
            <a:endParaRPr lang="en-US" sz="900" dirty="0"/>
          </a:p>
        </p:txBody>
      </p:sp>
      <p:sp>
        <p:nvSpPr>
          <p:cNvPr id="21" name="Text 16"/>
          <p:cNvSpPr/>
          <p:nvPr/>
        </p:nvSpPr>
        <p:spPr>
          <a:xfrm>
            <a:off x="2599182" y="3178100"/>
            <a:ext cx="1831086"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Weekday Demand</a:t>
            </a:r>
            <a:endParaRPr lang="en-US" sz="1000" dirty="0"/>
          </a:p>
        </p:txBody>
      </p:sp>
      <p:sp>
        <p:nvSpPr>
          <p:cNvPr id="22" name="Shape 17"/>
          <p:cNvSpPr/>
          <p:nvPr/>
        </p:nvSpPr>
        <p:spPr>
          <a:xfrm>
            <a:off x="4640580" y="1115567"/>
            <a:ext cx="1977390" cy="2536581"/>
          </a:xfrm>
          <a:prstGeom prst="rect">
            <a:avLst/>
          </a:prstGeom>
          <a:solidFill>
            <a:srgbClr val="1A1A1A"/>
          </a:solidFill>
          <a:ln w="12700">
            <a:solidFill>
              <a:srgbClr val="F39C12"/>
            </a:solidFill>
            <a:prstDash val="solid"/>
          </a:ln>
          <a:effectLst>
            <a:outerShdw blurRad="127000" dist="38100" dir="8100000" algn="bl" rotWithShape="0">
              <a:srgbClr val="000000">
                <a:alpha val="40000"/>
              </a:srgbClr>
            </a:outerShdw>
          </a:effectLst>
        </p:spPr>
        <p:txBody>
          <a:bodyPr/>
          <a:lstStyle/>
          <a:p>
            <a:endParaRPr lang="en-AU" dirty="0"/>
          </a:p>
        </p:txBody>
      </p:sp>
      <p:sp>
        <p:nvSpPr>
          <p:cNvPr id="23" name="Shape 18"/>
          <p:cNvSpPr/>
          <p:nvPr/>
        </p:nvSpPr>
        <p:spPr>
          <a:xfrm>
            <a:off x="4640580" y="1115568"/>
            <a:ext cx="1977390" cy="54864"/>
          </a:xfrm>
          <a:prstGeom prst="rect">
            <a:avLst/>
          </a:prstGeom>
          <a:solidFill>
            <a:srgbClr val="F39C12"/>
          </a:solidFill>
          <a:ln w="12700">
            <a:solidFill>
              <a:srgbClr val="F39C12"/>
            </a:solidFill>
            <a:prstDash val="solid"/>
          </a:ln>
        </p:spPr>
        <p:txBody>
          <a:bodyPr/>
          <a:lstStyle/>
          <a:p>
            <a:endParaRPr lang="en-AU"/>
          </a:p>
        </p:txBody>
      </p:sp>
      <p:sp>
        <p:nvSpPr>
          <p:cNvPr id="24" name="Shape 19"/>
          <p:cNvSpPr/>
          <p:nvPr/>
        </p:nvSpPr>
        <p:spPr>
          <a:xfrm>
            <a:off x="5318379" y="1298448"/>
            <a:ext cx="621792" cy="621792"/>
          </a:xfrm>
          <a:prstGeom prst="ellipse">
            <a:avLst/>
          </a:prstGeom>
          <a:solidFill>
            <a:srgbClr val="F39C12"/>
          </a:solidFill>
          <a:ln w="12700">
            <a:solidFill>
              <a:srgbClr val="F39C12"/>
            </a:solidFill>
            <a:prstDash val="solid"/>
          </a:ln>
        </p:spPr>
        <p:txBody>
          <a:bodyPr/>
          <a:lstStyle/>
          <a:p>
            <a:endParaRPr lang="en-AU"/>
          </a:p>
        </p:txBody>
      </p:sp>
      <p:pic>
        <p:nvPicPr>
          <p:cNvPr id="25" name="Image 3" descr="preencoded.png"/>
          <p:cNvPicPr>
            <a:picLocks noChangeAspect="1"/>
          </p:cNvPicPr>
          <p:nvPr/>
        </p:nvPicPr>
        <p:blipFill>
          <a:blip r:embed="rId5"/>
          <a:stretch>
            <a:fillRect/>
          </a:stretch>
        </p:blipFill>
        <p:spPr>
          <a:xfrm>
            <a:off x="5391531" y="1371600"/>
            <a:ext cx="475488" cy="475488"/>
          </a:xfrm>
          <a:prstGeom prst="rect">
            <a:avLst/>
          </a:prstGeom>
        </p:spPr>
      </p:pic>
      <p:sp>
        <p:nvSpPr>
          <p:cNvPr id="26" name="Text 20"/>
          <p:cNvSpPr/>
          <p:nvPr/>
        </p:nvSpPr>
        <p:spPr>
          <a:xfrm>
            <a:off x="4713732" y="2048256"/>
            <a:ext cx="1831086" cy="658368"/>
          </a:xfrm>
          <a:prstGeom prst="rect">
            <a:avLst/>
          </a:prstGeom>
          <a:noFill/>
          <a:ln/>
        </p:spPr>
        <p:txBody>
          <a:bodyPr wrap="square" lIns="0" tIns="0" rIns="0" bIns="0" rtlCol="0" anchor="ctr"/>
          <a:lstStyle/>
          <a:p>
            <a:pPr marL="0" indent="0" algn="ctr">
              <a:buNone/>
            </a:pPr>
            <a:r>
              <a:rPr lang="en-US" sz="2600" b="1" dirty="0">
                <a:solidFill>
                  <a:srgbClr val="F39C12"/>
                </a:solidFill>
                <a:latin typeface="Calibri" pitchFamily="34" charset="0"/>
                <a:ea typeface="Calibri" pitchFamily="34" charset="-122"/>
                <a:cs typeface="Calibri" pitchFamily="34" charset="-120"/>
              </a:rPr>
              <a:t>+ $1.50–$2.00</a:t>
            </a:r>
            <a:endParaRPr lang="en-US" sz="2600" dirty="0"/>
          </a:p>
        </p:txBody>
      </p:sp>
      <p:sp>
        <p:nvSpPr>
          <p:cNvPr id="27" name="Text 21"/>
          <p:cNvSpPr/>
          <p:nvPr/>
        </p:nvSpPr>
        <p:spPr>
          <a:xfrm>
            <a:off x="4713732" y="2843784"/>
            <a:ext cx="1831086" cy="27432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additional spend per visit</a:t>
            </a:r>
            <a:endParaRPr lang="en-US" sz="900" dirty="0"/>
          </a:p>
        </p:txBody>
      </p:sp>
      <p:sp>
        <p:nvSpPr>
          <p:cNvPr id="28" name="Text 22"/>
          <p:cNvSpPr/>
          <p:nvPr/>
        </p:nvSpPr>
        <p:spPr>
          <a:xfrm>
            <a:off x="4713732" y="3176662"/>
            <a:ext cx="1831086"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F&amp;B Per Visit</a:t>
            </a:r>
            <a:endParaRPr lang="en-US" sz="1000" dirty="0"/>
          </a:p>
        </p:txBody>
      </p:sp>
      <p:sp>
        <p:nvSpPr>
          <p:cNvPr id="29" name="Shape 23"/>
          <p:cNvSpPr/>
          <p:nvPr/>
        </p:nvSpPr>
        <p:spPr>
          <a:xfrm>
            <a:off x="6755130" y="1115568"/>
            <a:ext cx="1977390" cy="2536582"/>
          </a:xfrm>
          <a:prstGeom prst="rect">
            <a:avLst/>
          </a:prstGeom>
          <a:solidFill>
            <a:srgbClr val="1A1A1A"/>
          </a:solidFill>
          <a:ln w="12700">
            <a:solidFill>
              <a:srgbClr val="27AE60"/>
            </a:solidFill>
            <a:prstDash val="solid"/>
          </a:ln>
          <a:effectLst>
            <a:outerShdw blurRad="127000" dist="38100" dir="8100000" algn="bl" rotWithShape="0">
              <a:srgbClr val="000000">
                <a:alpha val="40000"/>
              </a:srgbClr>
            </a:outerShdw>
          </a:effectLst>
        </p:spPr>
        <p:txBody>
          <a:bodyPr/>
          <a:lstStyle/>
          <a:p>
            <a:endParaRPr lang="en-AU"/>
          </a:p>
        </p:txBody>
      </p:sp>
      <p:sp>
        <p:nvSpPr>
          <p:cNvPr id="30" name="Shape 24"/>
          <p:cNvSpPr/>
          <p:nvPr/>
        </p:nvSpPr>
        <p:spPr>
          <a:xfrm>
            <a:off x="6755130" y="1115568"/>
            <a:ext cx="1977390" cy="54864"/>
          </a:xfrm>
          <a:prstGeom prst="rect">
            <a:avLst/>
          </a:prstGeom>
          <a:solidFill>
            <a:srgbClr val="27AE60"/>
          </a:solidFill>
          <a:ln w="12700">
            <a:solidFill>
              <a:srgbClr val="27AE60"/>
            </a:solidFill>
            <a:prstDash val="solid"/>
          </a:ln>
        </p:spPr>
        <p:txBody>
          <a:bodyPr/>
          <a:lstStyle/>
          <a:p>
            <a:endParaRPr lang="en-AU"/>
          </a:p>
        </p:txBody>
      </p:sp>
      <p:sp>
        <p:nvSpPr>
          <p:cNvPr id="31" name="Shape 25"/>
          <p:cNvSpPr/>
          <p:nvPr/>
        </p:nvSpPr>
        <p:spPr>
          <a:xfrm>
            <a:off x="7432929" y="1298448"/>
            <a:ext cx="621792" cy="621792"/>
          </a:xfrm>
          <a:prstGeom prst="ellipse">
            <a:avLst/>
          </a:prstGeom>
          <a:solidFill>
            <a:srgbClr val="27AE60"/>
          </a:solidFill>
          <a:ln w="12700">
            <a:solidFill>
              <a:srgbClr val="27AE60"/>
            </a:solidFill>
            <a:prstDash val="solid"/>
          </a:ln>
        </p:spPr>
        <p:txBody>
          <a:bodyPr/>
          <a:lstStyle/>
          <a:p>
            <a:endParaRPr lang="en-AU"/>
          </a:p>
        </p:txBody>
      </p:sp>
      <p:pic>
        <p:nvPicPr>
          <p:cNvPr id="32" name="Image 4" descr="preencoded.png"/>
          <p:cNvPicPr>
            <a:picLocks noChangeAspect="1"/>
          </p:cNvPicPr>
          <p:nvPr/>
        </p:nvPicPr>
        <p:blipFill>
          <a:blip r:embed="rId6"/>
          <a:stretch>
            <a:fillRect/>
          </a:stretch>
        </p:blipFill>
        <p:spPr>
          <a:xfrm>
            <a:off x="7506081" y="1371600"/>
            <a:ext cx="475488" cy="475488"/>
          </a:xfrm>
          <a:prstGeom prst="rect">
            <a:avLst/>
          </a:prstGeom>
        </p:spPr>
      </p:pic>
      <p:sp>
        <p:nvSpPr>
          <p:cNvPr id="33" name="Text 26"/>
          <p:cNvSpPr/>
          <p:nvPr/>
        </p:nvSpPr>
        <p:spPr>
          <a:xfrm>
            <a:off x="6828282" y="2048256"/>
            <a:ext cx="1831086" cy="658368"/>
          </a:xfrm>
          <a:prstGeom prst="rect">
            <a:avLst/>
          </a:prstGeom>
          <a:noFill/>
          <a:ln/>
        </p:spPr>
        <p:txBody>
          <a:bodyPr wrap="square" lIns="0" tIns="0" rIns="0" bIns="0" rtlCol="0" anchor="ctr"/>
          <a:lstStyle/>
          <a:p>
            <a:pPr marL="0" indent="0" algn="ctr">
              <a:buNone/>
            </a:pPr>
            <a:r>
              <a:rPr lang="en-US" sz="2600" b="1" dirty="0">
                <a:solidFill>
                  <a:srgbClr val="27AE60"/>
                </a:solidFill>
                <a:latin typeface="Calibri" pitchFamily="34" charset="0"/>
                <a:ea typeface="Calibri" pitchFamily="34" charset="-122"/>
                <a:cs typeface="Calibri" pitchFamily="34" charset="-120"/>
              </a:rPr>
              <a:t>+ 3–5%</a:t>
            </a:r>
            <a:endParaRPr lang="en-US" sz="2600" dirty="0"/>
          </a:p>
        </p:txBody>
      </p:sp>
      <p:sp>
        <p:nvSpPr>
          <p:cNvPr id="34" name="Text 27"/>
          <p:cNvSpPr/>
          <p:nvPr/>
        </p:nvSpPr>
        <p:spPr>
          <a:xfrm>
            <a:off x="6828282" y="2843784"/>
            <a:ext cx="1831086" cy="27432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online conversion uplift</a:t>
            </a:r>
            <a:endParaRPr lang="en-US" sz="900" dirty="0"/>
          </a:p>
        </p:txBody>
      </p:sp>
      <p:sp>
        <p:nvSpPr>
          <p:cNvPr id="35" name="Text 28"/>
          <p:cNvSpPr/>
          <p:nvPr/>
        </p:nvSpPr>
        <p:spPr>
          <a:xfrm>
            <a:off x="6836420" y="3176662"/>
            <a:ext cx="1831086"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Online Conversion</a:t>
            </a:r>
            <a:endParaRPr lang="en-US" sz="1000" dirty="0"/>
          </a:p>
        </p:txBody>
      </p:sp>
      <p:sp>
        <p:nvSpPr>
          <p:cNvPr id="36" name="Shape 29"/>
          <p:cNvSpPr/>
          <p:nvPr/>
        </p:nvSpPr>
        <p:spPr>
          <a:xfrm>
            <a:off x="411480" y="3862462"/>
            <a:ext cx="8321040" cy="54864"/>
          </a:xfrm>
          <a:prstGeom prst="rect">
            <a:avLst/>
          </a:prstGeom>
          <a:solidFill>
            <a:srgbClr val="27AE60"/>
          </a:solidFill>
          <a:ln w="12700">
            <a:solidFill>
              <a:srgbClr val="27AE60"/>
            </a:solidFill>
            <a:prstDash val="solid"/>
          </a:ln>
        </p:spPr>
        <p:txBody>
          <a:bodyPr/>
          <a:lstStyle/>
          <a:p>
            <a:endParaRPr lang="en-AU" dirty="0"/>
          </a:p>
        </p:txBody>
      </p:sp>
      <p:sp>
        <p:nvSpPr>
          <p:cNvPr id="37" name="Shape 30"/>
          <p:cNvSpPr/>
          <p:nvPr/>
        </p:nvSpPr>
        <p:spPr>
          <a:xfrm>
            <a:off x="411480" y="3917326"/>
            <a:ext cx="8321040" cy="1075298"/>
          </a:xfrm>
          <a:prstGeom prst="rect">
            <a:avLst/>
          </a:prstGeom>
          <a:solidFill>
            <a:srgbClr val="1A1A1A"/>
          </a:solidFill>
          <a:ln w="9525">
            <a:solidFill>
              <a:srgbClr val="2A2A2A"/>
            </a:solidFill>
            <a:prstDash val="solid"/>
          </a:ln>
          <a:effectLst>
            <a:outerShdw blurRad="127000" dist="38100" dir="8100000" algn="bl" rotWithShape="0">
              <a:srgbClr val="000000">
                <a:alpha val="40000"/>
              </a:srgbClr>
            </a:outerShdw>
          </a:effectLst>
        </p:spPr>
        <p:txBody>
          <a:bodyPr/>
          <a:lstStyle/>
          <a:p>
            <a:endParaRPr lang="en-AU"/>
          </a:p>
        </p:txBody>
      </p:sp>
      <p:sp>
        <p:nvSpPr>
          <p:cNvPr id="38" name="Shape 31"/>
          <p:cNvSpPr/>
          <p:nvPr/>
        </p:nvSpPr>
        <p:spPr>
          <a:xfrm>
            <a:off x="411480" y="3862462"/>
            <a:ext cx="45719" cy="1130162"/>
          </a:xfrm>
          <a:prstGeom prst="rect">
            <a:avLst/>
          </a:prstGeom>
          <a:solidFill>
            <a:srgbClr val="27AE60"/>
          </a:solidFill>
          <a:ln w="12700">
            <a:solidFill>
              <a:srgbClr val="27AE60"/>
            </a:solidFill>
            <a:prstDash val="solid"/>
          </a:ln>
        </p:spPr>
        <p:txBody>
          <a:bodyPr/>
          <a:lstStyle/>
          <a:p>
            <a:endParaRPr lang="en-AU"/>
          </a:p>
        </p:txBody>
      </p:sp>
      <p:sp>
        <p:nvSpPr>
          <p:cNvPr id="39" name="Text 32"/>
          <p:cNvSpPr/>
          <p:nvPr/>
        </p:nvSpPr>
        <p:spPr>
          <a:xfrm>
            <a:off x="594360" y="4027932"/>
            <a:ext cx="2286000" cy="274320"/>
          </a:xfrm>
          <a:prstGeom prst="rect">
            <a:avLst/>
          </a:prstGeom>
          <a:noFill/>
          <a:ln/>
        </p:spPr>
        <p:txBody>
          <a:bodyPr wrap="square" lIns="0" tIns="0" rIns="0" bIns="0" rtlCol="0" anchor="ctr"/>
          <a:lstStyle/>
          <a:p>
            <a:pPr marL="0" indent="0">
              <a:buNone/>
            </a:pPr>
            <a:r>
              <a:rPr lang="en-US" sz="900" b="1" kern="0" spc="150" dirty="0">
                <a:solidFill>
                  <a:srgbClr val="27AE60"/>
                </a:solidFill>
                <a:latin typeface="Calibri" pitchFamily="34" charset="0"/>
                <a:ea typeface="Calibri" pitchFamily="34" charset="-122"/>
                <a:cs typeface="Calibri" pitchFamily="34" charset="-120"/>
              </a:rPr>
              <a:t>COLLECTIVE IMPACT</a:t>
            </a:r>
            <a:endParaRPr lang="en-US" sz="900" dirty="0"/>
          </a:p>
        </p:txBody>
      </p:sp>
      <p:sp>
        <p:nvSpPr>
          <p:cNvPr id="40" name="Text 33"/>
          <p:cNvSpPr/>
          <p:nvPr/>
        </p:nvSpPr>
        <p:spPr>
          <a:xfrm>
            <a:off x="594360" y="4372180"/>
            <a:ext cx="8001000" cy="565579"/>
          </a:xfrm>
          <a:prstGeom prst="rect">
            <a:avLst/>
          </a:prstGeom>
          <a:noFill/>
          <a:ln/>
        </p:spPr>
        <p:txBody>
          <a:bodyPr wrap="square" lIns="0" tIns="0" rIns="0" bIns="0" rtlCol="0" anchor="t"/>
          <a:lstStyle/>
          <a:p>
            <a:pPr marL="0" indent="0">
              <a:buNone/>
            </a:pPr>
            <a:r>
              <a:rPr lang="en-US" sz="1100" dirty="0">
                <a:solidFill>
                  <a:srgbClr val="E8E8E8"/>
                </a:solidFill>
                <a:latin typeface="Calibri" pitchFamily="34" charset="0"/>
                <a:ea typeface="Calibri" pitchFamily="34" charset="-122"/>
                <a:cs typeface="Calibri" pitchFamily="34" charset="-120"/>
              </a:rPr>
              <a:t>These initiatives could support a meaningful uplift in total venue revenue across the Melbourne network.. The impact is not dependent on one large bet, but on multiple targeted improvements validated through pilots before scaling. </a:t>
            </a:r>
            <a:endParaRPr lang="en-US" sz="1100" dirty="0"/>
          </a:p>
        </p:txBody>
      </p:sp>
      <p:pic>
        <p:nvPicPr>
          <p:cNvPr id="42" name="Graphic 41" descr="Ticket with solid fill">
            <a:extLst>
              <a:ext uri="{FF2B5EF4-FFF2-40B4-BE49-F238E27FC236}">
                <a16:creationId xmlns:a16="http://schemas.microsoft.com/office/drawing/2014/main" id="{98477920-802D-1C09-CB88-5A4ADD163F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1464" y="1298448"/>
            <a:ext cx="577421" cy="5774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C8102E"/>
          </a:solidFill>
          <a:ln w="12700">
            <a:solidFill>
              <a:srgbClr val="C8102E"/>
            </a:solidFill>
            <a:prstDash val="solid"/>
          </a:ln>
        </p:spPr>
        <p:txBody>
          <a:bodyPr/>
          <a:lstStyle/>
          <a:p>
            <a:endParaRPr lang="en-AU"/>
          </a:p>
        </p:txBody>
      </p:sp>
      <p:sp>
        <p:nvSpPr>
          <p:cNvPr id="3" name="Shape 1"/>
          <p:cNvSpPr/>
          <p:nvPr/>
        </p:nvSpPr>
        <p:spPr>
          <a:xfrm>
            <a:off x="0" y="0"/>
            <a:ext cx="347472" cy="5143500"/>
          </a:xfrm>
          <a:prstGeom prst="rect">
            <a:avLst/>
          </a:prstGeom>
          <a:solidFill>
            <a:srgbClr val="8B0B1E"/>
          </a:solidFill>
          <a:ln w="12700">
            <a:solidFill>
              <a:srgbClr val="8B0B1E"/>
            </a:solidFill>
            <a:prstDash val="solid"/>
          </a:ln>
        </p:spPr>
        <p:txBody>
          <a:bodyPr/>
          <a:lstStyle/>
          <a:p>
            <a:endParaRPr lang="en-AU"/>
          </a:p>
        </p:txBody>
      </p:sp>
      <p:sp>
        <p:nvSpPr>
          <p:cNvPr id="4" name="Shape 2"/>
          <p:cNvSpPr/>
          <p:nvPr/>
        </p:nvSpPr>
        <p:spPr>
          <a:xfrm>
            <a:off x="45720" y="91440"/>
            <a:ext cx="109728" cy="155448"/>
          </a:xfrm>
          <a:prstGeom prst="rect">
            <a:avLst/>
          </a:prstGeom>
          <a:solidFill>
            <a:srgbClr val="C8102E"/>
          </a:solidFill>
          <a:ln w="12700">
            <a:solidFill>
              <a:srgbClr val="C8102E"/>
            </a:solidFill>
            <a:prstDash val="solid"/>
          </a:ln>
        </p:spPr>
        <p:txBody>
          <a:bodyPr/>
          <a:lstStyle/>
          <a:p>
            <a:endParaRPr lang="en-AU"/>
          </a:p>
        </p:txBody>
      </p:sp>
      <p:sp>
        <p:nvSpPr>
          <p:cNvPr id="5" name="Shape 3"/>
          <p:cNvSpPr/>
          <p:nvPr/>
        </p:nvSpPr>
        <p:spPr>
          <a:xfrm>
            <a:off x="192024" y="91440"/>
            <a:ext cx="109728" cy="155448"/>
          </a:xfrm>
          <a:prstGeom prst="rect">
            <a:avLst/>
          </a:prstGeom>
          <a:solidFill>
            <a:srgbClr val="C8102E"/>
          </a:solidFill>
          <a:ln w="12700">
            <a:solidFill>
              <a:srgbClr val="C8102E"/>
            </a:solidFill>
            <a:prstDash val="solid"/>
          </a:ln>
        </p:spPr>
        <p:txBody>
          <a:bodyPr/>
          <a:lstStyle/>
          <a:p>
            <a:endParaRPr lang="en-AU"/>
          </a:p>
        </p:txBody>
      </p:sp>
      <p:sp>
        <p:nvSpPr>
          <p:cNvPr id="6" name="Shape 4"/>
          <p:cNvSpPr/>
          <p:nvPr/>
        </p:nvSpPr>
        <p:spPr>
          <a:xfrm>
            <a:off x="45720" y="365760"/>
            <a:ext cx="109728" cy="155448"/>
          </a:xfrm>
          <a:prstGeom prst="rect">
            <a:avLst/>
          </a:prstGeom>
          <a:solidFill>
            <a:srgbClr val="C8102E"/>
          </a:solidFill>
          <a:ln w="12700">
            <a:solidFill>
              <a:srgbClr val="C8102E"/>
            </a:solidFill>
            <a:prstDash val="solid"/>
          </a:ln>
        </p:spPr>
        <p:txBody>
          <a:bodyPr/>
          <a:lstStyle/>
          <a:p>
            <a:endParaRPr lang="en-AU"/>
          </a:p>
        </p:txBody>
      </p:sp>
      <p:sp>
        <p:nvSpPr>
          <p:cNvPr id="7" name="Shape 5"/>
          <p:cNvSpPr/>
          <p:nvPr/>
        </p:nvSpPr>
        <p:spPr>
          <a:xfrm>
            <a:off x="192024" y="365760"/>
            <a:ext cx="109728" cy="155448"/>
          </a:xfrm>
          <a:prstGeom prst="rect">
            <a:avLst/>
          </a:prstGeom>
          <a:solidFill>
            <a:srgbClr val="C8102E"/>
          </a:solidFill>
          <a:ln w="12700">
            <a:solidFill>
              <a:srgbClr val="C8102E"/>
            </a:solidFill>
            <a:prstDash val="solid"/>
          </a:ln>
        </p:spPr>
        <p:txBody>
          <a:bodyPr/>
          <a:lstStyle/>
          <a:p>
            <a:endParaRPr lang="en-AU"/>
          </a:p>
        </p:txBody>
      </p:sp>
      <p:sp>
        <p:nvSpPr>
          <p:cNvPr id="8" name="Shape 6"/>
          <p:cNvSpPr/>
          <p:nvPr/>
        </p:nvSpPr>
        <p:spPr>
          <a:xfrm>
            <a:off x="45720" y="640080"/>
            <a:ext cx="109728" cy="155448"/>
          </a:xfrm>
          <a:prstGeom prst="rect">
            <a:avLst/>
          </a:prstGeom>
          <a:solidFill>
            <a:srgbClr val="C8102E"/>
          </a:solidFill>
          <a:ln w="12700">
            <a:solidFill>
              <a:srgbClr val="C8102E"/>
            </a:solidFill>
            <a:prstDash val="solid"/>
          </a:ln>
        </p:spPr>
        <p:txBody>
          <a:bodyPr/>
          <a:lstStyle/>
          <a:p>
            <a:endParaRPr lang="en-AU"/>
          </a:p>
        </p:txBody>
      </p:sp>
      <p:sp>
        <p:nvSpPr>
          <p:cNvPr id="9" name="Shape 7"/>
          <p:cNvSpPr/>
          <p:nvPr/>
        </p:nvSpPr>
        <p:spPr>
          <a:xfrm>
            <a:off x="192024" y="640080"/>
            <a:ext cx="109728" cy="155448"/>
          </a:xfrm>
          <a:prstGeom prst="rect">
            <a:avLst/>
          </a:prstGeom>
          <a:solidFill>
            <a:srgbClr val="C8102E"/>
          </a:solidFill>
          <a:ln w="12700">
            <a:solidFill>
              <a:srgbClr val="C8102E"/>
            </a:solidFill>
            <a:prstDash val="solid"/>
          </a:ln>
        </p:spPr>
        <p:txBody>
          <a:bodyPr/>
          <a:lstStyle/>
          <a:p>
            <a:endParaRPr lang="en-AU"/>
          </a:p>
        </p:txBody>
      </p:sp>
      <p:sp>
        <p:nvSpPr>
          <p:cNvPr id="10" name="Shape 8"/>
          <p:cNvSpPr/>
          <p:nvPr/>
        </p:nvSpPr>
        <p:spPr>
          <a:xfrm>
            <a:off x="45720" y="914400"/>
            <a:ext cx="109728" cy="155448"/>
          </a:xfrm>
          <a:prstGeom prst="rect">
            <a:avLst/>
          </a:prstGeom>
          <a:solidFill>
            <a:srgbClr val="C8102E"/>
          </a:solidFill>
          <a:ln w="12700">
            <a:solidFill>
              <a:srgbClr val="C8102E"/>
            </a:solidFill>
            <a:prstDash val="solid"/>
          </a:ln>
        </p:spPr>
        <p:txBody>
          <a:bodyPr/>
          <a:lstStyle/>
          <a:p>
            <a:endParaRPr lang="en-AU"/>
          </a:p>
        </p:txBody>
      </p:sp>
      <p:sp>
        <p:nvSpPr>
          <p:cNvPr id="11" name="Shape 9"/>
          <p:cNvSpPr/>
          <p:nvPr/>
        </p:nvSpPr>
        <p:spPr>
          <a:xfrm>
            <a:off x="192024" y="914400"/>
            <a:ext cx="109728" cy="155448"/>
          </a:xfrm>
          <a:prstGeom prst="rect">
            <a:avLst/>
          </a:prstGeom>
          <a:solidFill>
            <a:srgbClr val="C8102E"/>
          </a:solidFill>
          <a:ln w="12700">
            <a:solidFill>
              <a:srgbClr val="C8102E"/>
            </a:solidFill>
            <a:prstDash val="solid"/>
          </a:ln>
        </p:spPr>
        <p:txBody>
          <a:bodyPr/>
          <a:lstStyle/>
          <a:p>
            <a:endParaRPr lang="en-AU"/>
          </a:p>
        </p:txBody>
      </p:sp>
      <p:sp>
        <p:nvSpPr>
          <p:cNvPr id="12" name="Shape 10"/>
          <p:cNvSpPr/>
          <p:nvPr/>
        </p:nvSpPr>
        <p:spPr>
          <a:xfrm>
            <a:off x="45720" y="1188720"/>
            <a:ext cx="109728" cy="155448"/>
          </a:xfrm>
          <a:prstGeom prst="rect">
            <a:avLst/>
          </a:prstGeom>
          <a:solidFill>
            <a:srgbClr val="C8102E"/>
          </a:solidFill>
          <a:ln w="12700">
            <a:solidFill>
              <a:srgbClr val="C8102E"/>
            </a:solidFill>
            <a:prstDash val="solid"/>
          </a:ln>
        </p:spPr>
        <p:txBody>
          <a:bodyPr/>
          <a:lstStyle/>
          <a:p>
            <a:endParaRPr lang="en-AU"/>
          </a:p>
        </p:txBody>
      </p:sp>
      <p:sp>
        <p:nvSpPr>
          <p:cNvPr id="13" name="Shape 11"/>
          <p:cNvSpPr/>
          <p:nvPr/>
        </p:nvSpPr>
        <p:spPr>
          <a:xfrm>
            <a:off x="192024" y="1188720"/>
            <a:ext cx="109728" cy="155448"/>
          </a:xfrm>
          <a:prstGeom prst="rect">
            <a:avLst/>
          </a:prstGeom>
          <a:solidFill>
            <a:srgbClr val="C8102E"/>
          </a:solidFill>
          <a:ln w="12700">
            <a:solidFill>
              <a:srgbClr val="C8102E"/>
            </a:solidFill>
            <a:prstDash val="solid"/>
          </a:ln>
        </p:spPr>
        <p:txBody>
          <a:bodyPr/>
          <a:lstStyle/>
          <a:p>
            <a:endParaRPr lang="en-AU"/>
          </a:p>
        </p:txBody>
      </p:sp>
      <p:sp>
        <p:nvSpPr>
          <p:cNvPr id="14" name="Shape 12"/>
          <p:cNvSpPr/>
          <p:nvPr/>
        </p:nvSpPr>
        <p:spPr>
          <a:xfrm>
            <a:off x="45720" y="1463040"/>
            <a:ext cx="109728" cy="155448"/>
          </a:xfrm>
          <a:prstGeom prst="rect">
            <a:avLst/>
          </a:prstGeom>
          <a:solidFill>
            <a:srgbClr val="C8102E"/>
          </a:solidFill>
          <a:ln w="12700">
            <a:solidFill>
              <a:srgbClr val="C8102E"/>
            </a:solidFill>
            <a:prstDash val="solid"/>
          </a:ln>
        </p:spPr>
        <p:txBody>
          <a:bodyPr/>
          <a:lstStyle/>
          <a:p>
            <a:endParaRPr lang="en-AU"/>
          </a:p>
        </p:txBody>
      </p:sp>
      <p:sp>
        <p:nvSpPr>
          <p:cNvPr id="15" name="Shape 13"/>
          <p:cNvSpPr/>
          <p:nvPr/>
        </p:nvSpPr>
        <p:spPr>
          <a:xfrm>
            <a:off x="192024" y="1463040"/>
            <a:ext cx="109728" cy="155448"/>
          </a:xfrm>
          <a:prstGeom prst="rect">
            <a:avLst/>
          </a:prstGeom>
          <a:solidFill>
            <a:srgbClr val="C8102E"/>
          </a:solidFill>
          <a:ln w="12700">
            <a:solidFill>
              <a:srgbClr val="C8102E"/>
            </a:solidFill>
            <a:prstDash val="solid"/>
          </a:ln>
        </p:spPr>
        <p:txBody>
          <a:bodyPr/>
          <a:lstStyle/>
          <a:p>
            <a:endParaRPr lang="en-AU"/>
          </a:p>
        </p:txBody>
      </p:sp>
      <p:sp>
        <p:nvSpPr>
          <p:cNvPr id="16" name="Shape 14"/>
          <p:cNvSpPr/>
          <p:nvPr/>
        </p:nvSpPr>
        <p:spPr>
          <a:xfrm>
            <a:off x="45720" y="1737360"/>
            <a:ext cx="109728" cy="155448"/>
          </a:xfrm>
          <a:prstGeom prst="rect">
            <a:avLst/>
          </a:prstGeom>
          <a:solidFill>
            <a:srgbClr val="C8102E"/>
          </a:solidFill>
          <a:ln w="12700">
            <a:solidFill>
              <a:srgbClr val="C8102E"/>
            </a:solidFill>
            <a:prstDash val="solid"/>
          </a:ln>
        </p:spPr>
        <p:txBody>
          <a:bodyPr/>
          <a:lstStyle/>
          <a:p>
            <a:endParaRPr lang="en-AU"/>
          </a:p>
        </p:txBody>
      </p:sp>
      <p:sp>
        <p:nvSpPr>
          <p:cNvPr id="17" name="Shape 15"/>
          <p:cNvSpPr/>
          <p:nvPr/>
        </p:nvSpPr>
        <p:spPr>
          <a:xfrm>
            <a:off x="192024" y="1737360"/>
            <a:ext cx="109728" cy="155448"/>
          </a:xfrm>
          <a:prstGeom prst="rect">
            <a:avLst/>
          </a:prstGeom>
          <a:solidFill>
            <a:srgbClr val="C8102E"/>
          </a:solidFill>
          <a:ln w="12700">
            <a:solidFill>
              <a:srgbClr val="C8102E"/>
            </a:solidFill>
            <a:prstDash val="solid"/>
          </a:ln>
        </p:spPr>
        <p:txBody>
          <a:bodyPr/>
          <a:lstStyle/>
          <a:p>
            <a:endParaRPr lang="en-AU"/>
          </a:p>
        </p:txBody>
      </p:sp>
      <p:sp>
        <p:nvSpPr>
          <p:cNvPr id="18" name="Shape 16"/>
          <p:cNvSpPr/>
          <p:nvPr/>
        </p:nvSpPr>
        <p:spPr>
          <a:xfrm>
            <a:off x="45720" y="2011680"/>
            <a:ext cx="109728" cy="155448"/>
          </a:xfrm>
          <a:prstGeom prst="rect">
            <a:avLst/>
          </a:prstGeom>
          <a:solidFill>
            <a:srgbClr val="C8102E"/>
          </a:solidFill>
          <a:ln w="12700">
            <a:solidFill>
              <a:srgbClr val="C8102E"/>
            </a:solidFill>
            <a:prstDash val="solid"/>
          </a:ln>
        </p:spPr>
        <p:txBody>
          <a:bodyPr/>
          <a:lstStyle/>
          <a:p>
            <a:endParaRPr lang="en-AU"/>
          </a:p>
        </p:txBody>
      </p:sp>
      <p:sp>
        <p:nvSpPr>
          <p:cNvPr id="19" name="Shape 17"/>
          <p:cNvSpPr/>
          <p:nvPr/>
        </p:nvSpPr>
        <p:spPr>
          <a:xfrm>
            <a:off x="192024" y="2011680"/>
            <a:ext cx="109728" cy="155448"/>
          </a:xfrm>
          <a:prstGeom prst="rect">
            <a:avLst/>
          </a:prstGeom>
          <a:solidFill>
            <a:srgbClr val="C8102E"/>
          </a:solidFill>
          <a:ln w="12700">
            <a:solidFill>
              <a:srgbClr val="C8102E"/>
            </a:solidFill>
            <a:prstDash val="solid"/>
          </a:ln>
        </p:spPr>
        <p:txBody>
          <a:bodyPr/>
          <a:lstStyle/>
          <a:p>
            <a:endParaRPr lang="en-AU"/>
          </a:p>
        </p:txBody>
      </p:sp>
      <p:sp>
        <p:nvSpPr>
          <p:cNvPr id="20" name="Shape 18"/>
          <p:cNvSpPr/>
          <p:nvPr/>
        </p:nvSpPr>
        <p:spPr>
          <a:xfrm>
            <a:off x="45720" y="2286000"/>
            <a:ext cx="109728" cy="155448"/>
          </a:xfrm>
          <a:prstGeom prst="rect">
            <a:avLst/>
          </a:prstGeom>
          <a:solidFill>
            <a:srgbClr val="C8102E"/>
          </a:solidFill>
          <a:ln w="12700">
            <a:solidFill>
              <a:srgbClr val="C8102E"/>
            </a:solidFill>
            <a:prstDash val="solid"/>
          </a:ln>
        </p:spPr>
        <p:txBody>
          <a:bodyPr/>
          <a:lstStyle/>
          <a:p>
            <a:endParaRPr lang="en-AU"/>
          </a:p>
        </p:txBody>
      </p:sp>
      <p:sp>
        <p:nvSpPr>
          <p:cNvPr id="21" name="Shape 19"/>
          <p:cNvSpPr/>
          <p:nvPr/>
        </p:nvSpPr>
        <p:spPr>
          <a:xfrm>
            <a:off x="192024" y="2286000"/>
            <a:ext cx="109728" cy="155448"/>
          </a:xfrm>
          <a:prstGeom prst="rect">
            <a:avLst/>
          </a:prstGeom>
          <a:solidFill>
            <a:srgbClr val="C8102E"/>
          </a:solidFill>
          <a:ln w="12700">
            <a:solidFill>
              <a:srgbClr val="C8102E"/>
            </a:solidFill>
            <a:prstDash val="solid"/>
          </a:ln>
        </p:spPr>
        <p:txBody>
          <a:bodyPr/>
          <a:lstStyle/>
          <a:p>
            <a:endParaRPr lang="en-AU"/>
          </a:p>
        </p:txBody>
      </p:sp>
      <p:sp>
        <p:nvSpPr>
          <p:cNvPr id="22" name="Shape 20"/>
          <p:cNvSpPr/>
          <p:nvPr/>
        </p:nvSpPr>
        <p:spPr>
          <a:xfrm>
            <a:off x="45720" y="2560320"/>
            <a:ext cx="109728" cy="155448"/>
          </a:xfrm>
          <a:prstGeom prst="rect">
            <a:avLst/>
          </a:prstGeom>
          <a:solidFill>
            <a:srgbClr val="C8102E"/>
          </a:solidFill>
          <a:ln w="12700">
            <a:solidFill>
              <a:srgbClr val="C8102E"/>
            </a:solidFill>
            <a:prstDash val="solid"/>
          </a:ln>
        </p:spPr>
        <p:txBody>
          <a:bodyPr/>
          <a:lstStyle/>
          <a:p>
            <a:endParaRPr lang="en-AU"/>
          </a:p>
        </p:txBody>
      </p:sp>
      <p:sp>
        <p:nvSpPr>
          <p:cNvPr id="23" name="Shape 21"/>
          <p:cNvSpPr/>
          <p:nvPr/>
        </p:nvSpPr>
        <p:spPr>
          <a:xfrm>
            <a:off x="192024" y="2560320"/>
            <a:ext cx="109728" cy="155448"/>
          </a:xfrm>
          <a:prstGeom prst="rect">
            <a:avLst/>
          </a:prstGeom>
          <a:solidFill>
            <a:srgbClr val="C8102E"/>
          </a:solidFill>
          <a:ln w="12700">
            <a:solidFill>
              <a:srgbClr val="C8102E"/>
            </a:solidFill>
            <a:prstDash val="solid"/>
          </a:ln>
        </p:spPr>
        <p:txBody>
          <a:bodyPr/>
          <a:lstStyle/>
          <a:p>
            <a:endParaRPr lang="en-AU"/>
          </a:p>
        </p:txBody>
      </p:sp>
      <p:sp>
        <p:nvSpPr>
          <p:cNvPr id="24" name="Shape 22"/>
          <p:cNvSpPr/>
          <p:nvPr/>
        </p:nvSpPr>
        <p:spPr>
          <a:xfrm>
            <a:off x="45720" y="2834640"/>
            <a:ext cx="109728" cy="155448"/>
          </a:xfrm>
          <a:prstGeom prst="rect">
            <a:avLst/>
          </a:prstGeom>
          <a:solidFill>
            <a:srgbClr val="C8102E"/>
          </a:solidFill>
          <a:ln w="12700">
            <a:solidFill>
              <a:srgbClr val="C8102E"/>
            </a:solidFill>
            <a:prstDash val="solid"/>
          </a:ln>
        </p:spPr>
        <p:txBody>
          <a:bodyPr/>
          <a:lstStyle/>
          <a:p>
            <a:endParaRPr lang="en-AU"/>
          </a:p>
        </p:txBody>
      </p:sp>
      <p:sp>
        <p:nvSpPr>
          <p:cNvPr id="25" name="Shape 23"/>
          <p:cNvSpPr/>
          <p:nvPr/>
        </p:nvSpPr>
        <p:spPr>
          <a:xfrm>
            <a:off x="192024" y="2834640"/>
            <a:ext cx="109728" cy="155448"/>
          </a:xfrm>
          <a:prstGeom prst="rect">
            <a:avLst/>
          </a:prstGeom>
          <a:solidFill>
            <a:srgbClr val="C8102E"/>
          </a:solidFill>
          <a:ln w="12700">
            <a:solidFill>
              <a:srgbClr val="C8102E"/>
            </a:solidFill>
            <a:prstDash val="solid"/>
          </a:ln>
        </p:spPr>
        <p:txBody>
          <a:bodyPr/>
          <a:lstStyle/>
          <a:p>
            <a:endParaRPr lang="en-AU"/>
          </a:p>
        </p:txBody>
      </p:sp>
      <p:sp>
        <p:nvSpPr>
          <p:cNvPr id="26" name="Shape 24"/>
          <p:cNvSpPr/>
          <p:nvPr/>
        </p:nvSpPr>
        <p:spPr>
          <a:xfrm>
            <a:off x="45720" y="3108960"/>
            <a:ext cx="109728" cy="155448"/>
          </a:xfrm>
          <a:prstGeom prst="rect">
            <a:avLst/>
          </a:prstGeom>
          <a:solidFill>
            <a:srgbClr val="C8102E"/>
          </a:solidFill>
          <a:ln w="12700">
            <a:solidFill>
              <a:srgbClr val="C8102E"/>
            </a:solidFill>
            <a:prstDash val="solid"/>
          </a:ln>
        </p:spPr>
        <p:txBody>
          <a:bodyPr/>
          <a:lstStyle/>
          <a:p>
            <a:endParaRPr lang="en-AU"/>
          </a:p>
        </p:txBody>
      </p:sp>
      <p:sp>
        <p:nvSpPr>
          <p:cNvPr id="27" name="Shape 25"/>
          <p:cNvSpPr/>
          <p:nvPr/>
        </p:nvSpPr>
        <p:spPr>
          <a:xfrm>
            <a:off x="192024" y="3108960"/>
            <a:ext cx="109728" cy="155448"/>
          </a:xfrm>
          <a:prstGeom prst="rect">
            <a:avLst/>
          </a:prstGeom>
          <a:solidFill>
            <a:srgbClr val="C8102E"/>
          </a:solidFill>
          <a:ln w="12700">
            <a:solidFill>
              <a:srgbClr val="C8102E"/>
            </a:solidFill>
            <a:prstDash val="solid"/>
          </a:ln>
        </p:spPr>
        <p:txBody>
          <a:bodyPr/>
          <a:lstStyle/>
          <a:p>
            <a:endParaRPr lang="en-AU"/>
          </a:p>
        </p:txBody>
      </p:sp>
      <p:sp>
        <p:nvSpPr>
          <p:cNvPr id="28" name="Shape 26"/>
          <p:cNvSpPr/>
          <p:nvPr/>
        </p:nvSpPr>
        <p:spPr>
          <a:xfrm>
            <a:off x="45720" y="3383280"/>
            <a:ext cx="109728" cy="155448"/>
          </a:xfrm>
          <a:prstGeom prst="rect">
            <a:avLst/>
          </a:prstGeom>
          <a:solidFill>
            <a:srgbClr val="C8102E"/>
          </a:solidFill>
          <a:ln w="12700">
            <a:solidFill>
              <a:srgbClr val="C8102E"/>
            </a:solidFill>
            <a:prstDash val="solid"/>
          </a:ln>
        </p:spPr>
        <p:txBody>
          <a:bodyPr/>
          <a:lstStyle/>
          <a:p>
            <a:endParaRPr lang="en-AU"/>
          </a:p>
        </p:txBody>
      </p:sp>
      <p:sp>
        <p:nvSpPr>
          <p:cNvPr id="29" name="Shape 27"/>
          <p:cNvSpPr/>
          <p:nvPr/>
        </p:nvSpPr>
        <p:spPr>
          <a:xfrm>
            <a:off x="192024" y="3383280"/>
            <a:ext cx="109728" cy="155448"/>
          </a:xfrm>
          <a:prstGeom prst="rect">
            <a:avLst/>
          </a:prstGeom>
          <a:solidFill>
            <a:srgbClr val="C8102E"/>
          </a:solidFill>
          <a:ln w="12700">
            <a:solidFill>
              <a:srgbClr val="C8102E"/>
            </a:solidFill>
            <a:prstDash val="solid"/>
          </a:ln>
        </p:spPr>
        <p:txBody>
          <a:bodyPr/>
          <a:lstStyle/>
          <a:p>
            <a:endParaRPr lang="en-AU"/>
          </a:p>
        </p:txBody>
      </p:sp>
      <p:sp>
        <p:nvSpPr>
          <p:cNvPr id="30" name="Shape 28"/>
          <p:cNvSpPr/>
          <p:nvPr/>
        </p:nvSpPr>
        <p:spPr>
          <a:xfrm>
            <a:off x="45720" y="3657600"/>
            <a:ext cx="109728" cy="155448"/>
          </a:xfrm>
          <a:prstGeom prst="rect">
            <a:avLst/>
          </a:prstGeom>
          <a:solidFill>
            <a:srgbClr val="C8102E"/>
          </a:solidFill>
          <a:ln w="12700">
            <a:solidFill>
              <a:srgbClr val="C8102E"/>
            </a:solidFill>
            <a:prstDash val="solid"/>
          </a:ln>
        </p:spPr>
        <p:txBody>
          <a:bodyPr/>
          <a:lstStyle/>
          <a:p>
            <a:endParaRPr lang="en-AU"/>
          </a:p>
        </p:txBody>
      </p:sp>
      <p:sp>
        <p:nvSpPr>
          <p:cNvPr id="31" name="Shape 29"/>
          <p:cNvSpPr/>
          <p:nvPr/>
        </p:nvSpPr>
        <p:spPr>
          <a:xfrm>
            <a:off x="192024" y="3657600"/>
            <a:ext cx="109728" cy="155448"/>
          </a:xfrm>
          <a:prstGeom prst="rect">
            <a:avLst/>
          </a:prstGeom>
          <a:solidFill>
            <a:srgbClr val="C8102E"/>
          </a:solidFill>
          <a:ln w="12700">
            <a:solidFill>
              <a:srgbClr val="C8102E"/>
            </a:solidFill>
            <a:prstDash val="solid"/>
          </a:ln>
        </p:spPr>
        <p:txBody>
          <a:bodyPr/>
          <a:lstStyle/>
          <a:p>
            <a:endParaRPr lang="en-AU"/>
          </a:p>
        </p:txBody>
      </p:sp>
      <p:sp>
        <p:nvSpPr>
          <p:cNvPr id="32" name="Shape 30"/>
          <p:cNvSpPr/>
          <p:nvPr/>
        </p:nvSpPr>
        <p:spPr>
          <a:xfrm>
            <a:off x="45720" y="3931920"/>
            <a:ext cx="109728" cy="155448"/>
          </a:xfrm>
          <a:prstGeom prst="rect">
            <a:avLst/>
          </a:prstGeom>
          <a:solidFill>
            <a:srgbClr val="C8102E"/>
          </a:solidFill>
          <a:ln w="12700">
            <a:solidFill>
              <a:srgbClr val="C8102E"/>
            </a:solidFill>
            <a:prstDash val="solid"/>
          </a:ln>
        </p:spPr>
        <p:txBody>
          <a:bodyPr/>
          <a:lstStyle/>
          <a:p>
            <a:endParaRPr lang="en-AU"/>
          </a:p>
        </p:txBody>
      </p:sp>
      <p:sp>
        <p:nvSpPr>
          <p:cNvPr id="33" name="Shape 31"/>
          <p:cNvSpPr/>
          <p:nvPr/>
        </p:nvSpPr>
        <p:spPr>
          <a:xfrm>
            <a:off x="192024" y="3931920"/>
            <a:ext cx="109728" cy="155448"/>
          </a:xfrm>
          <a:prstGeom prst="rect">
            <a:avLst/>
          </a:prstGeom>
          <a:solidFill>
            <a:srgbClr val="C8102E"/>
          </a:solidFill>
          <a:ln w="12700">
            <a:solidFill>
              <a:srgbClr val="C8102E"/>
            </a:solidFill>
            <a:prstDash val="solid"/>
          </a:ln>
        </p:spPr>
        <p:txBody>
          <a:bodyPr/>
          <a:lstStyle/>
          <a:p>
            <a:endParaRPr lang="en-AU"/>
          </a:p>
        </p:txBody>
      </p:sp>
      <p:sp>
        <p:nvSpPr>
          <p:cNvPr id="34" name="Shape 32"/>
          <p:cNvSpPr/>
          <p:nvPr/>
        </p:nvSpPr>
        <p:spPr>
          <a:xfrm>
            <a:off x="45720" y="4206240"/>
            <a:ext cx="109728" cy="155448"/>
          </a:xfrm>
          <a:prstGeom prst="rect">
            <a:avLst/>
          </a:prstGeom>
          <a:solidFill>
            <a:srgbClr val="C8102E"/>
          </a:solidFill>
          <a:ln w="12700">
            <a:solidFill>
              <a:srgbClr val="C8102E"/>
            </a:solidFill>
            <a:prstDash val="solid"/>
          </a:ln>
        </p:spPr>
        <p:txBody>
          <a:bodyPr/>
          <a:lstStyle/>
          <a:p>
            <a:endParaRPr lang="en-AU"/>
          </a:p>
        </p:txBody>
      </p:sp>
      <p:sp>
        <p:nvSpPr>
          <p:cNvPr id="35" name="Shape 33"/>
          <p:cNvSpPr/>
          <p:nvPr/>
        </p:nvSpPr>
        <p:spPr>
          <a:xfrm>
            <a:off x="192024" y="4206240"/>
            <a:ext cx="109728" cy="155448"/>
          </a:xfrm>
          <a:prstGeom prst="rect">
            <a:avLst/>
          </a:prstGeom>
          <a:solidFill>
            <a:srgbClr val="C8102E"/>
          </a:solidFill>
          <a:ln w="12700">
            <a:solidFill>
              <a:srgbClr val="C8102E"/>
            </a:solidFill>
            <a:prstDash val="solid"/>
          </a:ln>
        </p:spPr>
        <p:txBody>
          <a:bodyPr/>
          <a:lstStyle/>
          <a:p>
            <a:endParaRPr lang="en-AU"/>
          </a:p>
        </p:txBody>
      </p:sp>
      <p:sp>
        <p:nvSpPr>
          <p:cNvPr id="36" name="Shape 34"/>
          <p:cNvSpPr/>
          <p:nvPr/>
        </p:nvSpPr>
        <p:spPr>
          <a:xfrm>
            <a:off x="45720" y="4480560"/>
            <a:ext cx="109728" cy="155448"/>
          </a:xfrm>
          <a:prstGeom prst="rect">
            <a:avLst/>
          </a:prstGeom>
          <a:solidFill>
            <a:srgbClr val="C8102E"/>
          </a:solidFill>
          <a:ln w="12700">
            <a:solidFill>
              <a:srgbClr val="C8102E"/>
            </a:solidFill>
            <a:prstDash val="solid"/>
          </a:ln>
        </p:spPr>
        <p:txBody>
          <a:bodyPr/>
          <a:lstStyle/>
          <a:p>
            <a:endParaRPr lang="en-AU"/>
          </a:p>
        </p:txBody>
      </p:sp>
      <p:sp>
        <p:nvSpPr>
          <p:cNvPr id="37" name="Shape 35"/>
          <p:cNvSpPr/>
          <p:nvPr/>
        </p:nvSpPr>
        <p:spPr>
          <a:xfrm>
            <a:off x="192024" y="4480560"/>
            <a:ext cx="109728" cy="155448"/>
          </a:xfrm>
          <a:prstGeom prst="rect">
            <a:avLst/>
          </a:prstGeom>
          <a:solidFill>
            <a:srgbClr val="C8102E"/>
          </a:solidFill>
          <a:ln w="12700">
            <a:solidFill>
              <a:srgbClr val="C8102E"/>
            </a:solidFill>
            <a:prstDash val="solid"/>
          </a:ln>
        </p:spPr>
        <p:txBody>
          <a:bodyPr/>
          <a:lstStyle/>
          <a:p>
            <a:endParaRPr lang="en-AU"/>
          </a:p>
        </p:txBody>
      </p:sp>
      <p:sp>
        <p:nvSpPr>
          <p:cNvPr id="38" name="Shape 36"/>
          <p:cNvSpPr/>
          <p:nvPr/>
        </p:nvSpPr>
        <p:spPr>
          <a:xfrm>
            <a:off x="45720" y="4754880"/>
            <a:ext cx="109728" cy="155448"/>
          </a:xfrm>
          <a:prstGeom prst="rect">
            <a:avLst/>
          </a:prstGeom>
          <a:solidFill>
            <a:srgbClr val="C8102E"/>
          </a:solidFill>
          <a:ln w="12700">
            <a:solidFill>
              <a:srgbClr val="C8102E"/>
            </a:solidFill>
            <a:prstDash val="solid"/>
          </a:ln>
        </p:spPr>
        <p:txBody>
          <a:bodyPr/>
          <a:lstStyle/>
          <a:p>
            <a:endParaRPr lang="en-AU"/>
          </a:p>
        </p:txBody>
      </p:sp>
      <p:sp>
        <p:nvSpPr>
          <p:cNvPr id="39" name="Shape 37"/>
          <p:cNvSpPr/>
          <p:nvPr/>
        </p:nvSpPr>
        <p:spPr>
          <a:xfrm>
            <a:off x="192024" y="4754880"/>
            <a:ext cx="109728" cy="155448"/>
          </a:xfrm>
          <a:prstGeom prst="rect">
            <a:avLst/>
          </a:prstGeom>
          <a:solidFill>
            <a:srgbClr val="C8102E"/>
          </a:solidFill>
          <a:ln w="12700">
            <a:solidFill>
              <a:srgbClr val="C8102E"/>
            </a:solidFill>
            <a:prstDash val="solid"/>
          </a:ln>
        </p:spPr>
        <p:txBody>
          <a:bodyPr/>
          <a:lstStyle/>
          <a:p>
            <a:endParaRPr lang="en-AU"/>
          </a:p>
        </p:txBody>
      </p:sp>
      <p:pic>
        <p:nvPicPr>
          <p:cNvPr id="40" name="Image 0" descr="/home/claude/logo_hires.png"/>
          <p:cNvPicPr>
            <a:picLocks noChangeAspect="1"/>
          </p:cNvPicPr>
          <p:nvPr/>
        </p:nvPicPr>
        <p:blipFill>
          <a:blip r:embed="rId3"/>
          <a:stretch>
            <a:fillRect/>
          </a:stretch>
        </p:blipFill>
        <p:spPr>
          <a:xfrm>
            <a:off x="548640" y="274320"/>
            <a:ext cx="2633472" cy="2633472"/>
          </a:xfrm>
          <a:prstGeom prst="rect">
            <a:avLst/>
          </a:prstGeom>
        </p:spPr>
      </p:pic>
      <p:sp>
        <p:nvSpPr>
          <p:cNvPr id="41" name="Text 38"/>
          <p:cNvSpPr/>
          <p:nvPr/>
        </p:nvSpPr>
        <p:spPr>
          <a:xfrm>
            <a:off x="457200" y="3017520"/>
            <a:ext cx="3154680" cy="10058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demand</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exists.</a:t>
            </a:r>
            <a:endParaRPr lang="en-US" sz="3000" dirty="0"/>
          </a:p>
        </p:txBody>
      </p:sp>
      <p:sp>
        <p:nvSpPr>
          <p:cNvPr id="42" name="Text 39"/>
          <p:cNvSpPr/>
          <p:nvPr/>
        </p:nvSpPr>
        <p:spPr>
          <a:xfrm>
            <a:off x="457200" y="4041648"/>
            <a:ext cx="3154680" cy="502920"/>
          </a:xfrm>
          <a:prstGeom prst="rect">
            <a:avLst/>
          </a:prstGeom>
          <a:noFill/>
          <a:ln/>
        </p:spPr>
        <p:txBody>
          <a:bodyPr wrap="square" lIns="0" tIns="0" rIns="0" bIns="0" rtlCol="0" anchor="ctr"/>
          <a:lstStyle/>
          <a:p>
            <a:pPr marL="0" indent="0">
              <a:buNone/>
            </a:pPr>
            <a:r>
              <a:rPr lang="en-US" sz="1700" i="1" dirty="0">
                <a:solidFill>
                  <a:srgbClr val="FFCCCC"/>
                </a:solidFill>
                <a:latin typeface="Calibri" pitchFamily="34" charset="0"/>
                <a:ea typeface="Calibri" pitchFamily="34" charset="-122"/>
                <a:cs typeface="Calibri" pitchFamily="34" charset="-120"/>
              </a:rPr>
              <a:t>The opportunity is in execution.</a:t>
            </a:r>
            <a:endParaRPr lang="en-US" sz="1700" dirty="0"/>
          </a:p>
        </p:txBody>
      </p:sp>
      <p:sp>
        <p:nvSpPr>
          <p:cNvPr id="43" name="Shape 40"/>
          <p:cNvSpPr/>
          <p:nvPr/>
        </p:nvSpPr>
        <p:spPr>
          <a:xfrm>
            <a:off x="3977640" y="0"/>
            <a:ext cx="5166360" cy="45720"/>
          </a:xfrm>
          <a:prstGeom prst="rect">
            <a:avLst/>
          </a:prstGeom>
          <a:solidFill>
            <a:srgbClr val="C8102E"/>
          </a:solidFill>
          <a:ln w="12700">
            <a:solidFill>
              <a:srgbClr val="C8102E"/>
            </a:solidFill>
            <a:prstDash val="solid"/>
          </a:ln>
        </p:spPr>
        <p:txBody>
          <a:bodyPr/>
          <a:lstStyle/>
          <a:p>
            <a:endParaRPr lang="en-AU"/>
          </a:p>
        </p:txBody>
      </p:sp>
      <p:sp>
        <p:nvSpPr>
          <p:cNvPr id="44" name="Text 41"/>
          <p:cNvSpPr/>
          <p:nvPr/>
        </p:nvSpPr>
        <p:spPr>
          <a:xfrm>
            <a:off x="3977640" y="164592"/>
            <a:ext cx="4754880" cy="256032"/>
          </a:xfrm>
          <a:prstGeom prst="rect">
            <a:avLst/>
          </a:prstGeom>
          <a:noFill/>
          <a:ln/>
        </p:spPr>
        <p:txBody>
          <a:bodyPr wrap="square" lIns="0" tIns="0" rIns="0" bIns="0" rtlCol="0" anchor="ctr"/>
          <a:lstStyle/>
          <a:p>
            <a:pPr marL="0" indent="0">
              <a:buNone/>
            </a:pPr>
            <a:r>
              <a:rPr lang="en-US" sz="900" b="1" kern="0" spc="200" dirty="0">
                <a:solidFill>
                  <a:srgbClr val="C8102E"/>
                </a:solidFill>
                <a:latin typeface="Calibri" pitchFamily="34" charset="0"/>
                <a:ea typeface="Calibri" pitchFamily="34" charset="-122"/>
                <a:cs typeface="Calibri" pitchFamily="34" charset="-120"/>
              </a:rPr>
              <a:t>STRATEGIC RECOMMENDATION</a:t>
            </a:r>
            <a:endParaRPr lang="en-US" sz="900" dirty="0"/>
          </a:p>
        </p:txBody>
      </p:sp>
      <p:sp>
        <p:nvSpPr>
          <p:cNvPr id="45" name="Text 42"/>
          <p:cNvSpPr/>
          <p:nvPr/>
        </p:nvSpPr>
        <p:spPr>
          <a:xfrm>
            <a:off x="3977640" y="402336"/>
            <a:ext cx="4754880" cy="8686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 Disciplined Path to</a:t>
            </a:r>
            <a:endParaRPr lang="en-US" sz="2200" dirty="0"/>
          </a:p>
          <a:p>
            <a:pPr marL="0" indent="0">
              <a:buNone/>
            </a:pPr>
            <a:r>
              <a:rPr lang="en-US" sz="2200" b="1" dirty="0">
                <a:solidFill>
                  <a:srgbClr val="FFFFFF"/>
                </a:solidFill>
                <a:latin typeface="Calibri" pitchFamily="34" charset="0"/>
                <a:ea typeface="Calibri" pitchFamily="34" charset="-122"/>
                <a:cs typeface="Calibri" pitchFamily="34" charset="-120"/>
              </a:rPr>
              <a:t>Category Leadership</a:t>
            </a:r>
            <a:endParaRPr lang="en-US" sz="2200" dirty="0"/>
          </a:p>
        </p:txBody>
      </p:sp>
      <p:sp>
        <p:nvSpPr>
          <p:cNvPr id="46" name="Shape 43"/>
          <p:cNvSpPr/>
          <p:nvPr/>
        </p:nvSpPr>
        <p:spPr>
          <a:xfrm>
            <a:off x="3977640" y="1316736"/>
            <a:ext cx="4754880" cy="45720"/>
          </a:xfrm>
          <a:prstGeom prst="rect">
            <a:avLst/>
          </a:prstGeom>
          <a:solidFill>
            <a:srgbClr val="2A2A2A"/>
          </a:solidFill>
          <a:ln w="12700">
            <a:solidFill>
              <a:srgbClr val="2A2A2A"/>
            </a:solidFill>
            <a:prstDash val="solid"/>
          </a:ln>
        </p:spPr>
        <p:txBody>
          <a:bodyPr/>
          <a:lstStyle/>
          <a:p>
            <a:endParaRPr lang="en-AU"/>
          </a:p>
        </p:txBody>
      </p:sp>
      <p:sp>
        <p:nvSpPr>
          <p:cNvPr id="47" name="Shape 44"/>
          <p:cNvSpPr/>
          <p:nvPr/>
        </p:nvSpPr>
        <p:spPr>
          <a:xfrm>
            <a:off x="3977640" y="1481328"/>
            <a:ext cx="438912" cy="438912"/>
          </a:xfrm>
          <a:prstGeom prst="ellipse">
            <a:avLst/>
          </a:prstGeom>
          <a:solidFill>
            <a:srgbClr val="C8102E"/>
          </a:solidFill>
          <a:ln w="12700">
            <a:solidFill>
              <a:srgbClr val="C8102E"/>
            </a:solidFill>
            <a:prstDash val="solid"/>
          </a:ln>
        </p:spPr>
        <p:txBody>
          <a:bodyPr/>
          <a:lstStyle/>
          <a:p>
            <a:endParaRPr lang="en-AU"/>
          </a:p>
        </p:txBody>
      </p:sp>
      <p:pic>
        <p:nvPicPr>
          <p:cNvPr id="48" name="Image 1" descr="preencoded.png"/>
          <p:cNvPicPr>
            <a:picLocks noChangeAspect="1"/>
          </p:cNvPicPr>
          <p:nvPr/>
        </p:nvPicPr>
        <p:blipFill>
          <a:blip r:embed="rId4"/>
          <a:stretch>
            <a:fillRect/>
          </a:stretch>
        </p:blipFill>
        <p:spPr>
          <a:xfrm>
            <a:off x="4041648" y="1545336"/>
            <a:ext cx="310896" cy="310896"/>
          </a:xfrm>
          <a:prstGeom prst="rect">
            <a:avLst/>
          </a:prstGeom>
        </p:spPr>
      </p:pic>
      <p:sp>
        <p:nvSpPr>
          <p:cNvPr id="49" name="Text 45"/>
          <p:cNvSpPr/>
          <p:nvPr/>
        </p:nvSpPr>
        <p:spPr>
          <a:xfrm>
            <a:off x="4544568" y="1481328"/>
            <a:ext cx="4133088" cy="502920"/>
          </a:xfrm>
          <a:prstGeom prst="rect">
            <a:avLst/>
          </a:prstGeom>
          <a:noFill/>
          <a:ln/>
        </p:spPr>
        <p:txBody>
          <a:bodyPr wrap="square" lIns="0" tIns="0" rIns="0" bIns="0" rtlCol="0" anchor="ctr"/>
          <a:lstStyle/>
          <a:p>
            <a:pPr marL="0" indent="0">
              <a:buNone/>
            </a:pPr>
            <a:r>
              <a:rPr lang="en-US" sz="1050" dirty="0">
                <a:solidFill>
                  <a:srgbClr val="E8E8E8"/>
                </a:solidFill>
                <a:latin typeface="Calibri" pitchFamily="34" charset="0"/>
                <a:ea typeface="Calibri" pitchFamily="34" charset="-122"/>
                <a:cs typeface="Calibri" pitchFamily="34" charset="-120"/>
              </a:rPr>
              <a:t>Near-term pricing and experience initiatives generate incremental revenue from existing assets with minimal capital.</a:t>
            </a:r>
            <a:endParaRPr lang="en-US" sz="1050" dirty="0"/>
          </a:p>
        </p:txBody>
      </p:sp>
      <p:sp>
        <p:nvSpPr>
          <p:cNvPr id="50" name="Shape 46"/>
          <p:cNvSpPr/>
          <p:nvPr/>
        </p:nvSpPr>
        <p:spPr>
          <a:xfrm>
            <a:off x="3977640" y="2258568"/>
            <a:ext cx="438912" cy="438912"/>
          </a:xfrm>
          <a:prstGeom prst="ellipse">
            <a:avLst/>
          </a:prstGeom>
          <a:solidFill>
            <a:srgbClr val="2980B9"/>
          </a:solidFill>
          <a:ln w="12700">
            <a:solidFill>
              <a:srgbClr val="2980B9"/>
            </a:solidFill>
            <a:prstDash val="solid"/>
          </a:ln>
        </p:spPr>
        <p:txBody>
          <a:bodyPr/>
          <a:lstStyle/>
          <a:p>
            <a:endParaRPr lang="en-AU"/>
          </a:p>
        </p:txBody>
      </p:sp>
      <p:pic>
        <p:nvPicPr>
          <p:cNvPr id="51" name="Image 2" descr="preencoded.png"/>
          <p:cNvPicPr>
            <a:picLocks noChangeAspect="1"/>
          </p:cNvPicPr>
          <p:nvPr/>
        </p:nvPicPr>
        <p:blipFill>
          <a:blip r:embed="rId5"/>
          <a:stretch>
            <a:fillRect/>
          </a:stretch>
        </p:blipFill>
        <p:spPr>
          <a:xfrm>
            <a:off x="4041648" y="2322576"/>
            <a:ext cx="310896" cy="310896"/>
          </a:xfrm>
          <a:prstGeom prst="rect">
            <a:avLst/>
          </a:prstGeom>
        </p:spPr>
      </p:pic>
      <p:sp>
        <p:nvSpPr>
          <p:cNvPr id="52" name="Text 47"/>
          <p:cNvSpPr/>
          <p:nvPr/>
        </p:nvSpPr>
        <p:spPr>
          <a:xfrm>
            <a:off x="4544568" y="2258568"/>
            <a:ext cx="4133088" cy="502920"/>
          </a:xfrm>
          <a:prstGeom prst="rect">
            <a:avLst/>
          </a:prstGeom>
          <a:noFill/>
          <a:ln/>
        </p:spPr>
        <p:txBody>
          <a:bodyPr wrap="square" lIns="0" tIns="0" rIns="0" bIns="0" rtlCol="0" anchor="ctr"/>
          <a:lstStyle/>
          <a:p>
            <a:pPr marL="0" indent="0">
              <a:buNone/>
            </a:pPr>
            <a:r>
              <a:rPr lang="en-US" sz="1050" dirty="0">
                <a:solidFill>
                  <a:srgbClr val="E8E8E8"/>
                </a:solidFill>
                <a:latin typeface="Calibri" pitchFamily="34" charset="0"/>
                <a:ea typeface="Calibri" pitchFamily="34" charset="-122"/>
                <a:cs typeface="Calibri" pitchFamily="34" charset="-120"/>
              </a:rPr>
              <a:t>Phase 2 digital investment builds the data and conversion foundation, making all later initiatives more precise.</a:t>
            </a:r>
            <a:endParaRPr lang="en-US" sz="1050" dirty="0"/>
          </a:p>
        </p:txBody>
      </p:sp>
      <p:sp>
        <p:nvSpPr>
          <p:cNvPr id="53" name="Shape 48"/>
          <p:cNvSpPr/>
          <p:nvPr/>
        </p:nvSpPr>
        <p:spPr>
          <a:xfrm>
            <a:off x="3977640" y="3035808"/>
            <a:ext cx="438912" cy="438912"/>
          </a:xfrm>
          <a:prstGeom prst="ellipse">
            <a:avLst/>
          </a:prstGeom>
          <a:solidFill>
            <a:srgbClr val="27AE60"/>
          </a:solidFill>
          <a:ln w="12700">
            <a:solidFill>
              <a:srgbClr val="27AE60"/>
            </a:solidFill>
            <a:prstDash val="solid"/>
          </a:ln>
        </p:spPr>
        <p:txBody>
          <a:bodyPr/>
          <a:lstStyle/>
          <a:p>
            <a:endParaRPr lang="en-AU"/>
          </a:p>
        </p:txBody>
      </p:sp>
      <p:pic>
        <p:nvPicPr>
          <p:cNvPr id="54" name="Image 3" descr="preencoded.png"/>
          <p:cNvPicPr>
            <a:picLocks noChangeAspect="1"/>
          </p:cNvPicPr>
          <p:nvPr/>
        </p:nvPicPr>
        <p:blipFill>
          <a:blip r:embed="rId6"/>
          <a:stretch>
            <a:fillRect/>
          </a:stretch>
        </p:blipFill>
        <p:spPr>
          <a:xfrm>
            <a:off x="4041648" y="3099816"/>
            <a:ext cx="310896" cy="310896"/>
          </a:xfrm>
          <a:prstGeom prst="rect">
            <a:avLst/>
          </a:prstGeom>
        </p:spPr>
      </p:pic>
      <p:sp>
        <p:nvSpPr>
          <p:cNvPr id="55" name="Text 49"/>
          <p:cNvSpPr/>
          <p:nvPr/>
        </p:nvSpPr>
        <p:spPr>
          <a:xfrm>
            <a:off x="4544568" y="3035808"/>
            <a:ext cx="4133088" cy="502920"/>
          </a:xfrm>
          <a:prstGeom prst="rect">
            <a:avLst/>
          </a:prstGeom>
          <a:noFill/>
          <a:ln/>
        </p:spPr>
        <p:txBody>
          <a:bodyPr wrap="square" lIns="0" tIns="0" rIns="0" bIns="0" rtlCol="0" anchor="ctr"/>
          <a:lstStyle/>
          <a:p>
            <a:pPr marL="0" indent="0">
              <a:buNone/>
            </a:pPr>
            <a:r>
              <a:rPr lang="en-US" sz="1050" dirty="0">
                <a:solidFill>
                  <a:srgbClr val="E8E8E8"/>
                </a:solidFill>
                <a:latin typeface="Calibri" pitchFamily="34" charset="0"/>
                <a:ea typeface="Calibri" pitchFamily="34" charset="-122"/>
                <a:cs typeface="Calibri" pitchFamily="34" charset="-120"/>
              </a:rPr>
              <a:t>Regional expansion follows only once the metropolitan model is proven, ensuring disciplined capital rather than speculative growth.</a:t>
            </a:r>
            <a:endParaRPr lang="en-US" sz="1050" dirty="0"/>
          </a:p>
        </p:txBody>
      </p:sp>
      <p:sp>
        <p:nvSpPr>
          <p:cNvPr id="56" name="Shape 50"/>
          <p:cNvSpPr/>
          <p:nvPr/>
        </p:nvSpPr>
        <p:spPr>
          <a:xfrm>
            <a:off x="3977640" y="3813048"/>
            <a:ext cx="438912" cy="438912"/>
          </a:xfrm>
          <a:prstGeom prst="ellipse">
            <a:avLst/>
          </a:prstGeom>
          <a:solidFill>
            <a:srgbClr val="F39C12"/>
          </a:solidFill>
          <a:ln w="12700">
            <a:solidFill>
              <a:srgbClr val="F39C12"/>
            </a:solidFill>
            <a:prstDash val="solid"/>
          </a:ln>
        </p:spPr>
        <p:txBody>
          <a:bodyPr/>
          <a:lstStyle/>
          <a:p>
            <a:endParaRPr lang="en-AU"/>
          </a:p>
        </p:txBody>
      </p:sp>
      <p:pic>
        <p:nvPicPr>
          <p:cNvPr id="57" name="Image 4" descr="preencoded.png"/>
          <p:cNvPicPr>
            <a:picLocks noChangeAspect="1"/>
          </p:cNvPicPr>
          <p:nvPr/>
        </p:nvPicPr>
        <p:blipFill>
          <a:blip r:embed="rId7"/>
          <a:stretch>
            <a:fillRect/>
          </a:stretch>
        </p:blipFill>
        <p:spPr>
          <a:xfrm>
            <a:off x="4041648" y="3877056"/>
            <a:ext cx="310896" cy="310896"/>
          </a:xfrm>
          <a:prstGeom prst="rect">
            <a:avLst/>
          </a:prstGeom>
        </p:spPr>
      </p:pic>
      <p:sp>
        <p:nvSpPr>
          <p:cNvPr id="58" name="Text 51"/>
          <p:cNvSpPr/>
          <p:nvPr/>
        </p:nvSpPr>
        <p:spPr>
          <a:xfrm>
            <a:off x="4544568" y="3813048"/>
            <a:ext cx="4133088" cy="502920"/>
          </a:xfrm>
          <a:prstGeom prst="rect">
            <a:avLst/>
          </a:prstGeom>
          <a:noFill/>
          <a:ln/>
        </p:spPr>
        <p:txBody>
          <a:bodyPr wrap="square" lIns="0" tIns="0" rIns="0" bIns="0" rtlCol="0" anchor="ctr"/>
          <a:lstStyle/>
          <a:p>
            <a:pPr marL="0" indent="0">
              <a:buNone/>
            </a:pPr>
            <a:r>
              <a:rPr lang="en-US" sz="1050" dirty="0">
                <a:solidFill>
                  <a:srgbClr val="E8E8E8"/>
                </a:solidFill>
                <a:latin typeface="Calibri" pitchFamily="34" charset="0"/>
                <a:ea typeface="Calibri" pitchFamily="34" charset="-122"/>
                <a:cs typeface="Calibri" pitchFamily="34" charset="-120"/>
              </a:rPr>
              <a:t>The broader ambition is to grow the overall market by making cinema more accessible, more repeatable, and more locally relevant.</a:t>
            </a:r>
            <a:endParaRPr lang="en-US" sz="1050" dirty="0"/>
          </a:p>
        </p:txBody>
      </p:sp>
      <p:sp>
        <p:nvSpPr>
          <p:cNvPr id="59" name="Shape 52"/>
          <p:cNvSpPr/>
          <p:nvPr/>
        </p:nvSpPr>
        <p:spPr>
          <a:xfrm>
            <a:off x="3977640" y="4504903"/>
            <a:ext cx="4754880" cy="502920"/>
          </a:xfrm>
          <a:prstGeom prst="rect">
            <a:avLst/>
          </a:prstGeom>
          <a:solidFill>
            <a:srgbClr val="111111"/>
          </a:solidFill>
          <a:ln w="6350">
            <a:solidFill>
              <a:srgbClr val="2A2A2A"/>
            </a:solidFill>
            <a:prstDash val="solid"/>
          </a:ln>
        </p:spPr>
        <p:txBody>
          <a:bodyPr/>
          <a:lstStyle/>
          <a:p>
            <a:endParaRPr lang="en-AU"/>
          </a:p>
        </p:txBody>
      </p:sp>
      <p:pic>
        <p:nvPicPr>
          <p:cNvPr id="60" name="Image 5" descr="/home/claude/logo_hires.png"/>
          <p:cNvPicPr>
            <a:picLocks noChangeAspect="1"/>
          </p:cNvPicPr>
          <p:nvPr/>
        </p:nvPicPr>
        <p:blipFill>
          <a:blip r:embed="rId3"/>
          <a:stretch>
            <a:fillRect/>
          </a:stretch>
        </p:blipFill>
        <p:spPr>
          <a:xfrm>
            <a:off x="4005072" y="4562856"/>
            <a:ext cx="384048" cy="384048"/>
          </a:xfrm>
          <a:prstGeom prst="rect">
            <a:avLst/>
          </a:prstGeom>
        </p:spPr>
      </p:pic>
      <p:sp>
        <p:nvSpPr>
          <p:cNvPr id="61" name="Text 53"/>
          <p:cNvSpPr/>
          <p:nvPr/>
        </p:nvSpPr>
        <p:spPr>
          <a:xfrm>
            <a:off x="4544568" y="4526280"/>
            <a:ext cx="4096512" cy="457200"/>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akashjoeldavid@gmail.com  ·  +61 493 785 745  ·  Melbourne, VIC</a:t>
            </a:r>
            <a:endParaRPr lang="en-US" sz="950" dirty="0"/>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2069</TotalTime>
  <Words>1279</Words>
  <Application>Microsoft Office PowerPoint</Application>
  <PresentationFormat>On-screen Show (16:9)</PresentationFormat>
  <Paragraphs>228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Cinemas — Commercial Strategy</dc:title>
  <dc:subject>PptxGenJS Presentation</dc:subject>
  <dc:creator>PptxGenJS</dc:creator>
  <cp:lastModifiedBy>AKASH JOEL DAVID</cp:lastModifiedBy>
  <cp:revision>144</cp:revision>
  <dcterms:created xsi:type="dcterms:W3CDTF">2026-03-25T06:11:21Z</dcterms:created>
  <dcterms:modified xsi:type="dcterms:W3CDTF">2026-06-24T16:34:18Z</dcterms:modified>
</cp:coreProperties>
</file>